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1" r:id="rId7"/>
    <p:sldMasterId id="2147483666" r:id="rId8"/>
    <p:sldMasterId id="2147483659" r:id="rId9"/>
    <p:sldMasterId id="2147483668" r:id="rId10"/>
  </p:sldMasterIdLst>
  <p:notesMasterIdLst>
    <p:notesMasterId r:id="rId32"/>
  </p:notesMasterIdLst>
  <p:handoutMasterIdLst>
    <p:handoutMasterId r:id="rId33"/>
  </p:handoutMasterIdLst>
  <p:sldIdLst>
    <p:sldId id="457" r:id="rId11"/>
    <p:sldId id="478" r:id="rId12"/>
    <p:sldId id="479" r:id="rId13"/>
    <p:sldId id="480" r:id="rId14"/>
    <p:sldId id="520" r:id="rId15"/>
    <p:sldId id="509" r:id="rId16"/>
    <p:sldId id="514" r:id="rId17"/>
    <p:sldId id="498" r:id="rId18"/>
    <p:sldId id="521" r:id="rId19"/>
    <p:sldId id="515" r:id="rId20"/>
    <p:sldId id="484" r:id="rId21"/>
    <p:sldId id="522" r:id="rId22"/>
    <p:sldId id="517" r:id="rId23"/>
    <p:sldId id="500" r:id="rId24"/>
    <p:sldId id="501" r:id="rId25"/>
    <p:sldId id="490" r:id="rId26"/>
    <p:sldId id="518" r:id="rId27"/>
    <p:sldId id="492" r:id="rId28"/>
    <p:sldId id="493" r:id="rId29"/>
    <p:sldId id="523" r:id="rId30"/>
    <p:sldId id="458" r:id="rId31"/>
  </p:sldIdLst>
  <p:sldSz cx="12192000" cy="6858000"/>
  <p:notesSz cx="10007600" cy="14363700"/>
  <p:defaultTextStyle>
    <a:defPPr>
      <a:defRPr lang="ja-JP"/>
    </a:defPPr>
    <a:lvl1pPr algn="l" rtl="0" fontAlgn="base">
      <a:spcBef>
        <a:spcPct val="0"/>
      </a:spcBef>
      <a:spcAft>
        <a:spcPct val="0"/>
      </a:spcAft>
      <a:defRPr kumimoji="1" sz="2000" kern="1200">
        <a:solidFill>
          <a:schemeClr val="tx1"/>
        </a:solidFill>
        <a:latin typeface="Arial" charset="0"/>
        <a:ea typeface="ＭＳ Ｐゴシック" charset="-128"/>
        <a:cs typeface="+mn-cs"/>
      </a:defRPr>
    </a:lvl1pPr>
    <a:lvl2pPr marL="457200" algn="l" rtl="0" fontAlgn="base">
      <a:spcBef>
        <a:spcPct val="0"/>
      </a:spcBef>
      <a:spcAft>
        <a:spcPct val="0"/>
      </a:spcAft>
      <a:defRPr kumimoji="1" sz="2000" kern="1200">
        <a:solidFill>
          <a:schemeClr val="tx1"/>
        </a:solidFill>
        <a:latin typeface="Arial" charset="0"/>
        <a:ea typeface="ＭＳ Ｐゴシック" charset="-128"/>
        <a:cs typeface="+mn-cs"/>
      </a:defRPr>
    </a:lvl2pPr>
    <a:lvl3pPr marL="914400" algn="l" rtl="0" fontAlgn="base">
      <a:spcBef>
        <a:spcPct val="0"/>
      </a:spcBef>
      <a:spcAft>
        <a:spcPct val="0"/>
      </a:spcAft>
      <a:defRPr kumimoji="1" sz="2000" kern="1200">
        <a:solidFill>
          <a:schemeClr val="tx1"/>
        </a:solidFill>
        <a:latin typeface="Arial" charset="0"/>
        <a:ea typeface="ＭＳ Ｐゴシック" charset="-128"/>
        <a:cs typeface="+mn-cs"/>
      </a:defRPr>
    </a:lvl3pPr>
    <a:lvl4pPr marL="1371600" algn="l" rtl="0" fontAlgn="base">
      <a:spcBef>
        <a:spcPct val="0"/>
      </a:spcBef>
      <a:spcAft>
        <a:spcPct val="0"/>
      </a:spcAft>
      <a:defRPr kumimoji="1" sz="2000" kern="1200">
        <a:solidFill>
          <a:schemeClr val="tx1"/>
        </a:solidFill>
        <a:latin typeface="Arial" charset="0"/>
        <a:ea typeface="ＭＳ Ｐゴシック" charset="-128"/>
        <a:cs typeface="+mn-cs"/>
      </a:defRPr>
    </a:lvl4pPr>
    <a:lvl5pPr marL="1828800" algn="l" rtl="0" fontAlgn="base">
      <a:spcBef>
        <a:spcPct val="0"/>
      </a:spcBef>
      <a:spcAft>
        <a:spcPct val="0"/>
      </a:spcAft>
      <a:defRPr kumimoji="1" sz="2000" kern="1200">
        <a:solidFill>
          <a:schemeClr val="tx1"/>
        </a:solidFill>
        <a:latin typeface="Arial" charset="0"/>
        <a:ea typeface="ＭＳ Ｐゴシック" charset="-128"/>
        <a:cs typeface="+mn-cs"/>
      </a:defRPr>
    </a:lvl5pPr>
    <a:lvl6pPr marL="2286000" algn="l" defTabSz="914400" rtl="0" eaLnBrk="1" latinLnBrk="0" hangingPunct="1">
      <a:defRPr kumimoji="1" sz="2000" kern="1200">
        <a:solidFill>
          <a:schemeClr val="tx1"/>
        </a:solidFill>
        <a:latin typeface="Arial" charset="0"/>
        <a:ea typeface="ＭＳ Ｐゴシック" charset="-128"/>
        <a:cs typeface="+mn-cs"/>
      </a:defRPr>
    </a:lvl6pPr>
    <a:lvl7pPr marL="2743200" algn="l" defTabSz="914400" rtl="0" eaLnBrk="1" latinLnBrk="0" hangingPunct="1">
      <a:defRPr kumimoji="1" sz="2000" kern="1200">
        <a:solidFill>
          <a:schemeClr val="tx1"/>
        </a:solidFill>
        <a:latin typeface="Arial" charset="0"/>
        <a:ea typeface="ＭＳ Ｐゴシック" charset="-128"/>
        <a:cs typeface="+mn-cs"/>
      </a:defRPr>
    </a:lvl7pPr>
    <a:lvl8pPr marL="3200400" algn="l" defTabSz="914400" rtl="0" eaLnBrk="1" latinLnBrk="0" hangingPunct="1">
      <a:defRPr kumimoji="1" sz="2000" kern="1200">
        <a:solidFill>
          <a:schemeClr val="tx1"/>
        </a:solidFill>
        <a:latin typeface="Arial" charset="0"/>
        <a:ea typeface="ＭＳ Ｐゴシック" charset="-128"/>
        <a:cs typeface="+mn-cs"/>
      </a:defRPr>
    </a:lvl8pPr>
    <a:lvl9pPr marL="3657600" algn="l" defTabSz="914400" rtl="0" eaLnBrk="1" latinLnBrk="0" hangingPunct="1">
      <a:defRPr kumimoji="1" sz="2000" kern="1200">
        <a:solidFill>
          <a:schemeClr val="tx1"/>
        </a:solidFill>
        <a:latin typeface="Arial" charset="0"/>
        <a:ea typeface="ＭＳ Ｐゴシック" charset="-128"/>
        <a:cs typeface="+mn-cs"/>
      </a:defRPr>
    </a:lvl9pPr>
  </p:defaultTextStyle>
  <p:extLst>
    <p:ext uri="{EFAFB233-063F-42B5-8137-9DF3F51BA10A}">
      <p15:sldGuideLst xmlns:p15="http://schemas.microsoft.com/office/powerpoint/2012/main">
        <p15:guide id="6" pos="166" userDrawn="1">
          <p15:clr>
            <a:srgbClr val="A4A3A4"/>
          </p15:clr>
        </p15:guide>
        <p15:guide id="7" orient="horz" pos="119" userDrawn="1">
          <p15:clr>
            <a:srgbClr val="A4A3A4"/>
          </p15:clr>
        </p15:guide>
        <p15:guide id="9" orient="horz" pos="2160" userDrawn="1">
          <p15:clr>
            <a:srgbClr val="A4A3A4"/>
          </p15:clr>
        </p15:guide>
        <p15:guide id="10" pos="3840" userDrawn="1">
          <p15:clr>
            <a:srgbClr val="A4A3A4"/>
          </p15:clr>
        </p15:guide>
        <p15:guide id="16" orient="horz" pos="4178" userDrawn="1">
          <p15:clr>
            <a:srgbClr val="A4A3A4"/>
          </p15:clr>
        </p15:guide>
        <p15:guide id="17" pos="7514" userDrawn="1">
          <p15:clr>
            <a:srgbClr val="A4A3A4"/>
          </p15:clr>
        </p15:guide>
        <p15:guide id="19" orient="horz" pos="618"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 ARUN" initials="SA" lastIdx="1" clrIdx="0">
    <p:extLst>
      <p:ext uri="{19B8F6BF-5375-455C-9EA6-DF929625EA0E}">
        <p15:presenceInfo xmlns:p15="http://schemas.microsoft.com/office/powerpoint/2012/main" userId="S-1-5-21-575922271-569720141-4272231626-103942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0501C"/>
    <a:srgbClr val="F4EF2C"/>
    <a:srgbClr val="E60012"/>
    <a:srgbClr val="DDDDDD"/>
    <a:srgbClr val="5795BB"/>
    <a:srgbClr val="808080"/>
    <a:srgbClr val="003F66"/>
    <a:srgbClr val="002A66"/>
    <a:srgbClr val="CF1818"/>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D083AE6-46FA-4A59-8FB0-9F97EB10719F}" styleName="淡色スタイル 3 - アクセント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7292A2E-F333-43FB-9621-5CBBE7FDCDCB}" styleName="淡色スタイル 2 - アクセント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E269D01E-BC32-4049-B463-5C60D7B0CCD2}" styleName="テーマ スタイル 2 - アクセント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テーマ スタイル 1 - アクセント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83" autoAdjust="0"/>
  </p:normalViewPr>
  <p:slideViewPr>
    <p:cSldViewPr snapToGrid="0" showGuides="1">
      <p:cViewPr varScale="1">
        <p:scale>
          <a:sx n="78" d="100"/>
          <a:sy n="78" d="100"/>
        </p:scale>
        <p:origin x="216" y="48"/>
      </p:cViewPr>
      <p:guideLst>
        <p:guide pos="166"/>
        <p:guide orient="horz" pos="119"/>
        <p:guide orient="horz" pos="2160"/>
        <p:guide pos="3840"/>
        <p:guide orient="horz" pos="4178"/>
        <p:guide pos="7514"/>
        <p:guide orient="horz" pos="618"/>
      </p:guideLst>
    </p:cSldViewPr>
  </p:slideViewPr>
  <p:outlineViewPr>
    <p:cViewPr>
      <p:scale>
        <a:sx n="33" d="100"/>
        <a:sy n="33" d="100"/>
      </p:scale>
      <p:origin x="0" y="0"/>
    </p:cViewPr>
  </p:outlineViewPr>
  <p:notesTextViewPr>
    <p:cViewPr>
      <p:scale>
        <a:sx n="400" d="100"/>
        <a:sy n="400" d="100"/>
      </p:scale>
      <p:origin x="0" y="0"/>
    </p:cViewPr>
  </p:notesTextViewPr>
  <p:sorterViewPr>
    <p:cViewPr>
      <p:scale>
        <a:sx n="66" d="100"/>
        <a:sy n="66" d="100"/>
      </p:scale>
      <p:origin x="0" y="0"/>
    </p:cViewPr>
  </p:sorterViewPr>
  <p:notesViewPr>
    <p:cSldViewPr snapToGrid="0">
      <p:cViewPr varScale="1">
        <p:scale>
          <a:sx n="57" d="100"/>
          <a:sy n="57" d="100"/>
        </p:scale>
        <p:origin x="20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2.xml"/><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 Type="http://schemas.openxmlformats.org/officeDocument/2006/relationships/customXml" Target="../customXml/item3.xml"/><Relationship Id="rId21" Type="http://schemas.openxmlformats.org/officeDocument/2006/relationships/slide" Target="slides/slide11.xml"/><Relationship Id="rId34" Type="http://schemas.openxmlformats.org/officeDocument/2006/relationships/commentAuthors" Target="commentAuthors.xml"/><Relationship Id="rId7" Type="http://schemas.openxmlformats.org/officeDocument/2006/relationships/slideMaster" Target="slideMasters/slideMaster1.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viewProps" Target="viewProps.xml"/><Relationship Id="rId10" Type="http://schemas.openxmlformats.org/officeDocument/2006/relationships/slideMaster" Target="slideMasters/slideMaster4.xml"/><Relationship Id="rId19" Type="http://schemas.openxmlformats.org/officeDocument/2006/relationships/slide" Target="slides/slide9.xml"/><Relationship Id="rId31" Type="http://schemas.openxmlformats.org/officeDocument/2006/relationships/slide" Target="slides/slide21.xml"/><Relationship Id="rId4" Type="http://schemas.openxmlformats.org/officeDocument/2006/relationships/customXml" Target="../customXml/item4.xml"/><Relationship Id="rId9" Type="http://schemas.openxmlformats.org/officeDocument/2006/relationships/slideMaster" Target="slideMasters/slideMaster3.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4336627" cy="720679"/>
          </a:xfrm>
          <a:prstGeom prst="rect">
            <a:avLst/>
          </a:prstGeom>
        </p:spPr>
        <p:txBody>
          <a:bodyPr vert="horz" lIns="139263" tIns="69632" rIns="139263" bIns="69632" rtlCol="0"/>
          <a:lstStyle>
            <a:lvl1pPr algn="l">
              <a:defRPr sz="1800"/>
            </a:lvl1pPr>
          </a:lstStyle>
          <a:p>
            <a:endParaRPr kumimoji="1" lang="ja-JP" altLang="en-US"/>
          </a:p>
        </p:txBody>
      </p:sp>
      <p:sp>
        <p:nvSpPr>
          <p:cNvPr id="3" name="日付プレースホルダー 2"/>
          <p:cNvSpPr>
            <a:spLocks noGrp="1"/>
          </p:cNvSpPr>
          <p:nvPr>
            <p:ph type="dt" sz="quarter" idx="1"/>
          </p:nvPr>
        </p:nvSpPr>
        <p:spPr>
          <a:xfrm>
            <a:off x="5668657" y="0"/>
            <a:ext cx="4336627" cy="720679"/>
          </a:xfrm>
          <a:prstGeom prst="rect">
            <a:avLst/>
          </a:prstGeom>
        </p:spPr>
        <p:txBody>
          <a:bodyPr vert="horz" lIns="139263" tIns="69632" rIns="139263" bIns="69632" rtlCol="0"/>
          <a:lstStyle>
            <a:lvl1pPr algn="r">
              <a:defRPr sz="1800"/>
            </a:lvl1pPr>
          </a:lstStyle>
          <a:p>
            <a:fld id="{2EAA5521-74A0-4497-BD3C-B34596D79315}" type="datetimeFigureOut">
              <a:rPr kumimoji="1" lang="ja-JP" altLang="en-US" smtClean="0"/>
              <a:t>2021/9/22</a:t>
            </a:fld>
            <a:endParaRPr kumimoji="1" lang="ja-JP" altLang="en-US"/>
          </a:p>
        </p:txBody>
      </p:sp>
      <p:sp>
        <p:nvSpPr>
          <p:cNvPr id="4" name="フッター プレースホルダー 3"/>
          <p:cNvSpPr>
            <a:spLocks noGrp="1"/>
          </p:cNvSpPr>
          <p:nvPr>
            <p:ph type="ftr" sz="quarter" idx="2"/>
          </p:nvPr>
        </p:nvSpPr>
        <p:spPr>
          <a:xfrm>
            <a:off x="0" y="13643023"/>
            <a:ext cx="4336627" cy="720678"/>
          </a:xfrm>
          <a:prstGeom prst="rect">
            <a:avLst/>
          </a:prstGeom>
        </p:spPr>
        <p:txBody>
          <a:bodyPr vert="horz" lIns="139263" tIns="69632" rIns="139263" bIns="69632" rtlCol="0" anchor="b"/>
          <a:lstStyle>
            <a:lvl1pPr algn="l">
              <a:defRPr sz="1800"/>
            </a:lvl1pPr>
          </a:lstStyle>
          <a:p>
            <a:endParaRPr kumimoji="1" lang="ja-JP" altLang="en-US"/>
          </a:p>
        </p:txBody>
      </p:sp>
      <p:sp>
        <p:nvSpPr>
          <p:cNvPr id="5" name="スライド番号プレースホルダー 4"/>
          <p:cNvSpPr>
            <a:spLocks noGrp="1"/>
          </p:cNvSpPr>
          <p:nvPr>
            <p:ph type="sldNum" sz="quarter" idx="3"/>
          </p:nvPr>
        </p:nvSpPr>
        <p:spPr>
          <a:xfrm>
            <a:off x="5668657" y="13643023"/>
            <a:ext cx="4336627" cy="720678"/>
          </a:xfrm>
          <a:prstGeom prst="rect">
            <a:avLst/>
          </a:prstGeom>
        </p:spPr>
        <p:txBody>
          <a:bodyPr vert="horz" lIns="139263" tIns="69632" rIns="139263" bIns="69632" rtlCol="0" anchor="b"/>
          <a:lstStyle>
            <a:lvl1pPr algn="r">
              <a:defRPr sz="1800"/>
            </a:lvl1pPr>
          </a:lstStyle>
          <a:p>
            <a:fld id="{DA3E434F-EFAF-4CC8-962E-737203C16E92}" type="slidenum">
              <a:rPr kumimoji="1" lang="ja-JP" altLang="en-US" smtClean="0"/>
              <a:t>‹#›</a:t>
            </a:fld>
            <a:endParaRPr kumimoji="1" lang="ja-JP" altLang="en-US"/>
          </a:p>
        </p:txBody>
      </p:sp>
    </p:spTree>
    <p:extLst>
      <p:ext uri="{BB962C8B-B14F-4D97-AF65-F5344CB8AC3E}">
        <p14:creationId xmlns:p14="http://schemas.microsoft.com/office/powerpoint/2010/main" val="42073599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lvl1pPr>
              <a:defRPr sz="1800"/>
            </a:lvl1pPr>
          </a:lstStyle>
          <a:p>
            <a:pPr>
              <a:defRPr/>
            </a:pPr>
            <a:endParaRPr lang="en-US" altLang="ja-JP"/>
          </a:p>
        </p:txBody>
      </p:sp>
      <p:sp>
        <p:nvSpPr>
          <p:cNvPr id="39939" name="Rectangle 3"/>
          <p:cNvSpPr>
            <a:spLocks noGrp="1" noChangeArrowheads="1"/>
          </p:cNvSpPr>
          <p:nvPr>
            <p:ph type="dt" idx="1"/>
          </p:nvPr>
        </p:nvSpPr>
        <p:spPr bwMode="auto">
          <a:xfrm>
            <a:off x="5668657" y="0"/>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lvl1pPr algn="r">
              <a:defRPr sz="1800"/>
            </a:lvl1pPr>
          </a:lstStyle>
          <a:p>
            <a:pPr>
              <a:defRPr/>
            </a:pPr>
            <a:endParaRPr lang="en-US" altLang="ja-JP"/>
          </a:p>
        </p:txBody>
      </p:sp>
      <p:sp>
        <p:nvSpPr>
          <p:cNvPr id="7172" name="Rectangle 4"/>
          <p:cNvSpPr>
            <a:spLocks noGrp="1" noRot="1" noChangeAspect="1" noChangeArrowheads="1" noTextEdit="1"/>
          </p:cNvSpPr>
          <p:nvPr>
            <p:ph type="sldImg" idx="2"/>
          </p:nvPr>
        </p:nvSpPr>
        <p:spPr bwMode="auto">
          <a:xfrm>
            <a:off x="215900" y="1077913"/>
            <a:ext cx="9575800" cy="5386387"/>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9941" name="Rectangle 5"/>
          <p:cNvSpPr>
            <a:spLocks noGrp="1" noChangeArrowheads="1"/>
          </p:cNvSpPr>
          <p:nvPr>
            <p:ph type="body" sz="quarter" idx="3"/>
          </p:nvPr>
        </p:nvSpPr>
        <p:spPr bwMode="auto">
          <a:xfrm>
            <a:off x="1000760" y="6822758"/>
            <a:ext cx="8006080" cy="6463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39942" name="Rectangle 6"/>
          <p:cNvSpPr>
            <a:spLocks noGrp="1" noChangeArrowheads="1"/>
          </p:cNvSpPr>
          <p:nvPr>
            <p:ph type="ftr" sz="quarter" idx="4"/>
          </p:nvPr>
        </p:nvSpPr>
        <p:spPr bwMode="auto">
          <a:xfrm>
            <a:off x="0" y="13643022"/>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b" anchorCtr="0" compatLnSpc="1">
            <a:prstTxWarp prst="textNoShape">
              <a:avLst/>
            </a:prstTxWarp>
          </a:bodyPr>
          <a:lstStyle>
            <a:lvl1pPr>
              <a:defRPr sz="1800"/>
            </a:lvl1pPr>
          </a:lstStyle>
          <a:p>
            <a:pPr>
              <a:defRPr/>
            </a:pPr>
            <a:endParaRPr lang="en-US" altLang="ja-JP"/>
          </a:p>
        </p:txBody>
      </p:sp>
      <p:sp>
        <p:nvSpPr>
          <p:cNvPr id="39943" name="Rectangle 7"/>
          <p:cNvSpPr>
            <a:spLocks noGrp="1" noChangeArrowheads="1"/>
          </p:cNvSpPr>
          <p:nvPr>
            <p:ph type="sldNum" sz="quarter" idx="5"/>
          </p:nvPr>
        </p:nvSpPr>
        <p:spPr bwMode="auto">
          <a:xfrm>
            <a:off x="5668657" y="13643022"/>
            <a:ext cx="4336627" cy="7181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39263" tIns="69632" rIns="139263" bIns="69632" numCol="1" anchor="b" anchorCtr="0" compatLnSpc="1">
            <a:prstTxWarp prst="textNoShape">
              <a:avLst/>
            </a:prstTxWarp>
          </a:bodyPr>
          <a:lstStyle>
            <a:lvl1pPr algn="r">
              <a:defRPr sz="1800"/>
            </a:lvl1pPr>
          </a:lstStyle>
          <a:p>
            <a:pPr>
              <a:defRPr/>
            </a:pPr>
            <a:fld id="{87A636EC-557D-4F00-BFDF-6F57ED432879}" type="slidenum">
              <a:rPr lang="en-US" altLang="ja-JP"/>
              <a:pPr>
                <a:defRPr/>
              </a:pPr>
              <a:t>‹#›</a:t>
            </a:fld>
            <a:endParaRPr lang="en-US" altLang="ja-JP"/>
          </a:p>
        </p:txBody>
      </p:sp>
    </p:spTree>
    <p:extLst>
      <p:ext uri="{BB962C8B-B14F-4D97-AF65-F5344CB8AC3E}">
        <p14:creationId xmlns:p14="http://schemas.microsoft.com/office/powerpoint/2010/main" val="2081863765"/>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87A636EC-557D-4F00-BFDF-6F57ED432879}" type="slidenum">
              <a:rPr lang="en-US" altLang="ja-JP" smtClean="0"/>
              <a:pPr>
                <a:defRPr/>
              </a:pPr>
              <a:t>1</a:t>
            </a:fld>
            <a:endParaRPr lang="en-US" altLang="ja-JP"/>
          </a:p>
        </p:txBody>
      </p:sp>
    </p:spTree>
    <p:extLst>
      <p:ext uri="{BB962C8B-B14F-4D97-AF65-F5344CB8AC3E}">
        <p14:creationId xmlns:p14="http://schemas.microsoft.com/office/powerpoint/2010/main" val="2711349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p:spTree>
      <p:nvGrpSpPr>
        <p:cNvPr id="1" name=""/>
        <p:cNvGrpSpPr/>
        <p:nvPr/>
      </p:nvGrpSpPr>
      <p:grpSpPr>
        <a:xfrm>
          <a:off x="0" y="0"/>
          <a:ext cx="0" cy="0"/>
          <a:chOff x="0" y="0"/>
          <a:chExt cx="0" cy="0"/>
        </a:xfrm>
      </p:grpSpPr>
      <p:sp>
        <p:nvSpPr>
          <p:cNvPr id="6" name="テキスト プレースホルダー 2"/>
          <p:cNvSpPr>
            <a:spLocks noGrp="1"/>
          </p:cNvSpPr>
          <p:nvPr>
            <p:ph type="body" sz="quarter" idx="12" hasCustomPrompt="1"/>
          </p:nvPr>
        </p:nvSpPr>
        <p:spPr>
          <a:xfrm>
            <a:off x="515939" y="3788390"/>
            <a:ext cx="11160124" cy="970241"/>
          </a:xfrm>
          <a:prstGeom prst="rect">
            <a:avLst/>
          </a:prstGeom>
        </p:spPr>
        <p:txBody>
          <a:bodyPr/>
          <a:lstStyle>
            <a:lvl1pPr marL="0" indent="0" algn="ctr">
              <a:buNone/>
              <a:defRPr sz="3200" baseline="0">
                <a:solidFill>
                  <a:schemeClr val="tx1"/>
                </a:solidFill>
                <a:latin typeface="Nissan Pro Regular" panose="02000503030000020003" pitchFamily="50" charset="0"/>
              </a:defRPr>
            </a:lvl1pPr>
          </a:lstStyle>
          <a:p>
            <a:pPr lvl="0"/>
            <a:r>
              <a:rPr kumimoji="1" lang="en-US" altLang="ja-JP" dirty="0"/>
              <a:t>Presentation Title</a:t>
            </a:r>
          </a:p>
        </p:txBody>
      </p:sp>
      <p:sp>
        <p:nvSpPr>
          <p:cNvPr id="7" name="テキスト プレースホルダー 2"/>
          <p:cNvSpPr>
            <a:spLocks noGrp="1"/>
          </p:cNvSpPr>
          <p:nvPr>
            <p:ph type="body" sz="quarter" idx="13" hasCustomPrompt="1"/>
          </p:nvPr>
        </p:nvSpPr>
        <p:spPr>
          <a:xfrm>
            <a:off x="515939" y="4836920"/>
            <a:ext cx="11160124" cy="1270498"/>
          </a:xfrm>
          <a:prstGeom prst="rect">
            <a:avLst/>
          </a:prstGeom>
        </p:spPr>
        <p:txBody>
          <a:bodyPr/>
          <a:lstStyle>
            <a:lvl1pPr marL="0" indent="0" algn="ctr">
              <a:lnSpc>
                <a:spcPct val="100000"/>
              </a:lnSpc>
              <a:spcBef>
                <a:spcPts val="0"/>
              </a:spcBef>
              <a:buNone/>
              <a:defRPr sz="2300" baseline="0">
                <a:solidFill>
                  <a:schemeClr val="tx1"/>
                </a:solidFill>
                <a:latin typeface="Nissan Pro Regular" panose="02000503030000020003" pitchFamily="50" charset="0"/>
              </a:defRPr>
            </a:lvl1pPr>
          </a:lstStyle>
          <a:p>
            <a:pPr lvl="0"/>
            <a:r>
              <a:rPr kumimoji="1" lang="en-US" altLang="ja-JP" dirty="0"/>
              <a:t>Presenter Name, Title</a:t>
            </a:r>
          </a:p>
          <a:p>
            <a:pPr lvl="0"/>
            <a:r>
              <a:rPr kumimoji="1" lang="en-US" altLang="ja-JP" dirty="0"/>
              <a:t>Department/Division</a:t>
            </a:r>
          </a:p>
          <a:p>
            <a:pPr lvl="0"/>
            <a:r>
              <a:rPr kumimoji="1" lang="en-US" altLang="ja-JP" dirty="0"/>
              <a:t>Date</a:t>
            </a:r>
          </a:p>
        </p:txBody>
      </p:sp>
    </p:spTree>
    <p:extLst>
      <p:ext uri="{BB962C8B-B14F-4D97-AF65-F5344CB8AC3E}">
        <p14:creationId xmlns:p14="http://schemas.microsoft.com/office/powerpoint/2010/main" val="3393861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xpectation">
    <p:spTree>
      <p:nvGrpSpPr>
        <p:cNvPr id="1" name=""/>
        <p:cNvGrpSpPr/>
        <p:nvPr/>
      </p:nvGrpSpPr>
      <p:grpSpPr>
        <a:xfrm>
          <a:off x="0" y="0"/>
          <a:ext cx="0" cy="0"/>
          <a:chOff x="0" y="0"/>
          <a:chExt cx="0" cy="0"/>
        </a:xfrm>
      </p:grpSpPr>
      <p:sp>
        <p:nvSpPr>
          <p:cNvPr id="7" name="Line 29"/>
          <p:cNvSpPr>
            <a:spLocks noChangeShapeType="1"/>
          </p:cNvSpPr>
          <p:nvPr userDrawn="1"/>
        </p:nvSpPr>
        <p:spPr bwMode="auto">
          <a:xfrm>
            <a:off x="407989" y="1614578"/>
            <a:ext cx="11376024" cy="0"/>
          </a:xfrm>
          <a:prstGeom prst="line">
            <a:avLst/>
          </a:prstGeom>
          <a:noFill/>
          <a:ln w="31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8" name="タイトル 1"/>
          <p:cNvSpPr txBox="1">
            <a:spLocks/>
          </p:cNvSpPr>
          <p:nvPr userDrawn="1"/>
        </p:nvSpPr>
        <p:spPr>
          <a:xfrm>
            <a:off x="263525" y="188914"/>
            <a:ext cx="4142481" cy="584775"/>
          </a:xfrm>
          <a:prstGeom prst="rect">
            <a:avLst/>
          </a:prstGeom>
        </p:spPr>
        <p:txBody>
          <a:bodyPr wrap="none">
            <a:spAutoFit/>
          </a:bodyPr>
          <a:lstStyle>
            <a:lvl1pPr algn="l" rtl="0" eaLnBrk="0" fontAlgn="base" hangingPunct="0">
              <a:spcBef>
                <a:spcPct val="0"/>
              </a:spcBef>
              <a:spcAft>
                <a:spcPct val="0"/>
              </a:spcAft>
              <a:defRPr kumimoji="1" sz="3200" b="1">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16" algn="ctr" rtl="0" fontAlgn="base">
              <a:spcBef>
                <a:spcPct val="0"/>
              </a:spcBef>
              <a:spcAft>
                <a:spcPct val="0"/>
              </a:spcAft>
              <a:defRPr kumimoji="1" sz="4400">
                <a:solidFill>
                  <a:schemeClr val="tx2"/>
                </a:solidFill>
                <a:latin typeface="Arial" charset="0"/>
                <a:ea typeface="ＭＳ Ｐゴシック" charset="-128"/>
              </a:defRPr>
            </a:lvl6pPr>
            <a:lvl7pPr marL="914430" algn="ctr" rtl="0" fontAlgn="base">
              <a:spcBef>
                <a:spcPct val="0"/>
              </a:spcBef>
              <a:spcAft>
                <a:spcPct val="0"/>
              </a:spcAft>
              <a:defRPr kumimoji="1" sz="4400">
                <a:solidFill>
                  <a:schemeClr val="tx2"/>
                </a:solidFill>
                <a:latin typeface="Arial" charset="0"/>
                <a:ea typeface="ＭＳ Ｐゴシック" charset="-128"/>
              </a:defRPr>
            </a:lvl7pPr>
            <a:lvl8pPr marL="1371645" algn="ctr" rtl="0" fontAlgn="base">
              <a:spcBef>
                <a:spcPct val="0"/>
              </a:spcBef>
              <a:spcAft>
                <a:spcPct val="0"/>
              </a:spcAft>
              <a:defRPr kumimoji="1" sz="4400">
                <a:solidFill>
                  <a:schemeClr val="tx2"/>
                </a:solidFill>
                <a:latin typeface="Arial" charset="0"/>
                <a:ea typeface="ＭＳ Ｐゴシック" charset="-128"/>
              </a:defRPr>
            </a:lvl8pPr>
            <a:lvl9pPr marL="1828861" algn="ctr" rtl="0" fontAlgn="base">
              <a:spcBef>
                <a:spcPct val="0"/>
              </a:spcBef>
              <a:spcAft>
                <a:spcPct val="0"/>
              </a:spcAft>
              <a:defRPr kumimoji="1" sz="4400">
                <a:solidFill>
                  <a:schemeClr val="tx2"/>
                </a:solidFill>
                <a:latin typeface="Arial" charset="0"/>
                <a:ea typeface="ＭＳ Ｐゴシック" charset="-128"/>
              </a:defRPr>
            </a:lvl9pPr>
          </a:lstStyle>
          <a:p>
            <a:r>
              <a:rPr lang="en-US" b="0" kern="0" dirty="0">
                <a:solidFill>
                  <a:schemeClr val="tx1"/>
                </a:solidFill>
                <a:latin typeface="Nissan Pro Bold" panose="02000803050000020004" pitchFamily="50" charset="0"/>
              </a:rPr>
              <a:t>Today’s Expectation</a:t>
            </a:r>
          </a:p>
        </p:txBody>
      </p:sp>
      <p:pic>
        <p:nvPicPr>
          <p:cNvPr id="9" name="図 8"/>
          <p:cNvPicPr>
            <a:picLocks noChangeAspect="1"/>
          </p:cNvPicPr>
          <p:nvPr userDrawn="1"/>
        </p:nvPicPr>
        <p:blipFill>
          <a:blip r:embed="rId2"/>
          <a:stretch>
            <a:fillRect/>
          </a:stretch>
        </p:blipFill>
        <p:spPr>
          <a:xfrm>
            <a:off x="5633011" y="6563989"/>
            <a:ext cx="925983" cy="209354"/>
          </a:xfrm>
          <a:prstGeom prst="rect">
            <a:avLst/>
          </a:prstGeom>
        </p:spPr>
      </p:pic>
      <p:sp>
        <p:nvSpPr>
          <p:cNvPr id="10" name="Text Box 25"/>
          <p:cNvSpPr txBox="1">
            <a:spLocks noChangeArrowheads="1"/>
          </p:cNvSpPr>
          <p:nvPr userDrawn="1"/>
        </p:nvSpPr>
        <p:spPr bwMode="gray">
          <a:xfrm>
            <a:off x="339642" y="6538771"/>
            <a:ext cx="647026" cy="276999"/>
          </a:xfrm>
          <a:prstGeom prst="rect">
            <a:avLst/>
          </a:prstGeom>
          <a:noFill/>
          <a:ln>
            <a:noFill/>
          </a:ln>
          <a:effectLst/>
          <a:extLst>
            <a:ext uri="{909E8E84-426E-40DD-AFC4-6F175D3DCCD1}">
              <a14:hiddenFill xmlns:a14="http://schemas.microsoft.com/office/drawing/2010/main">
                <a:solidFill>
                  <a:srgbClr val="33CC33">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algn="ctr" rotWithShape="0">
                    <a:schemeClr val="tx2"/>
                  </a:outerShdw>
                </a:effectLst>
              </a14:hiddenEffects>
            </a:ext>
          </a:extLst>
        </p:spPr>
        <p:txBody>
          <a:bodyPr wrap="square">
            <a:spAutoFit/>
          </a:bodyPr>
          <a:lstStyle>
            <a:lvl1pPr eaLnBrk="0" hangingPunct="0">
              <a:defRPr kumimoji="1" sz="2000">
                <a:solidFill>
                  <a:schemeClr val="tx1"/>
                </a:solidFill>
                <a:latin typeface="Arial" charset="0"/>
                <a:ea typeface="ＭＳ Ｐゴシック" pitchFamily="50" charset="-128"/>
              </a:defRPr>
            </a:lvl1pPr>
            <a:lvl2pPr marL="742950" indent="-285750" eaLnBrk="0" hangingPunct="0">
              <a:defRPr kumimoji="1" sz="2000">
                <a:solidFill>
                  <a:schemeClr val="tx1"/>
                </a:solidFill>
                <a:latin typeface="Arial" charset="0"/>
                <a:ea typeface="ＭＳ Ｐゴシック" pitchFamily="50" charset="-128"/>
              </a:defRPr>
            </a:lvl2pPr>
            <a:lvl3pPr marL="1143000" indent="-228600" eaLnBrk="0" hangingPunct="0">
              <a:defRPr kumimoji="1" sz="2000">
                <a:solidFill>
                  <a:schemeClr val="tx1"/>
                </a:solidFill>
                <a:latin typeface="Arial" charset="0"/>
                <a:ea typeface="ＭＳ Ｐゴシック" pitchFamily="50" charset="-128"/>
              </a:defRPr>
            </a:lvl3pPr>
            <a:lvl4pPr marL="1600200" indent="-228600" eaLnBrk="0" hangingPunct="0">
              <a:defRPr kumimoji="1" sz="2000">
                <a:solidFill>
                  <a:schemeClr val="tx1"/>
                </a:solidFill>
                <a:latin typeface="Arial" charset="0"/>
                <a:ea typeface="ＭＳ Ｐゴシック" pitchFamily="50" charset="-128"/>
              </a:defRPr>
            </a:lvl4pPr>
            <a:lvl5pPr marL="2057400" indent="-228600" eaLnBrk="0" hangingPunct="0">
              <a:defRPr kumimoji="1" sz="20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0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0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0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000">
                <a:solidFill>
                  <a:schemeClr val="tx1"/>
                </a:solidFill>
                <a:latin typeface="Arial" charset="0"/>
                <a:ea typeface="ＭＳ Ｐゴシック" pitchFamily="50" charset="-128"/>
              </a:defRPr>
            </a:lvl9pPr>
          </a:lstStyle>
          <a:p>
            <a:pPr>
              <a:defRPr/>
            </a:pPr>
            <a:fld id="{BE0D9DC2-A27A-4EFB-883B-E13F148AC0E4}" type="slidenum">
              <a:rPr kumimoji="0" lang="en-US" altLang="ja-JP" sz="1200">
                <a:solidFill>
                  <a:srgbClr val="808080"/>
                </a:solidFill>
                <a:latin typeface="Nissan Pro Regular" panose="02000503030000020003" pitchFamily="50" charset="0"/>
                <a:ea typeface="Verdana" panose="020B0604030504040204" pitchFamily="34" charset="0"/>
                <a:cs typeface="Verdana" panose="020B0604030504040204" pitchFamily="34" charset="0"/>
              </a:rPr>
              <a:pPr>
                <a:defRPr/>
              </a:pPr>
              <a:t>‹#›</a:t>
            </a:fld>
            <a:endParaRPr kumimoji="0" lang="en-US" altLang="ja-JP" sz="1200" dirty="0">
              <a:solidFill>
                <a:srgbClr val="808080"/>
              </a:solidFill>
              <a:latin typeface="Nissan Pro Regular" panose="02000503030000020003" pitchFamily="50"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6776850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263524" y="208032"/>
            <a:ext cx="11664951" cy="563524"/>
          </a:xfrm>
          <a:prstGeom prst="rect">
            <a:avLst/>
          </a:prstGeom>
        </p:spPr>
        <p:txBody>
          <a:bodyPr/>
          <a:lstStyle>
            <a:lvl1pPr marL="0" indent="0">
              <a:buNone/>
              <a:defRPr sz="3200" b="1">
                <a:latin typeface="Nissan Pro Bold" panose="02000803050000020004" pitchFamily="50" charset="0"/>
              </a:defRPr>
            </a:lvl1pPr>
          </a:lstStyle>
          <a:p>
            <a:pPr lvl="0"/>
            <a:r>
              <a:rPr kumimoji="1" lang="en-US" altLang="ja-JP" dirty="0"/>
              <a:t>Title, Nissan Pro Bold 32pt</a:t>
            </a:r>
            <a:endParaRPr kumimoji="1" lang="ja-JP" altLang="en-US" dirty="0"/>
          </a:p>
        </p:txBody>
      </p:sp>
      <p:sp>
        <p:nvSpPr>
          <p:cNvPr id="8" name="テキスト プレースホルダー 7"/>
          <p:cNvSpPr>
            <a:spLocks noGrp="1"/>
          </p:cNvSpPr>
          <p:nvPr>
            <p:ph type="body" sz="quarter" idx="11" hasCustomPrompt="1"/>
          </p:nvPr>
        </p:nvSpPr>
        <p:spPr>
          <a:xfrm>
            <a:off x="270415" y="976343"/>
            <a:ext cx="11658059" cy="446057"/>
          </a:xfrm>
          <a:prstGeom prst="rect">
            <a:avLst/>
          </a:prstGeom>
        </p:spPr>
        <p:txBody>
          <a:bodyPr/>
          <a:lstStyle>
            <a:lvl1pPr marL="228600" indent="-228600">
              <a:buFont typeface="Wingdings" panose="05000000000000000000" pitchFamily="2" charset="2"/>
              <a:buChar char="n"/>
              <a:defRPr sz="2400" baseline="0">
                <a:latin typeface="Nissan Pro Regular" panose="02000503030000020003" pitchFamily="50" charset="0"/>
              </a:defRPr>
            </a:lvl1pPr>
          </a:lstStyle>
          <a:p>
            <a:pPr lvl="0"/>
            <a:r>
              <a:rPr kumimoji="1" lang="en-US" altLang="ja-JP" dirty="0"/>
              <a:t>Body Title, Nissan Pro Regular 24pt</a:t>
            </a:r>
            <a:endParaRPr kumimoji="1" lang="ja-JP" altLang="en-US" dirty="0"/>
          </a:p>
        </p:txBody>
      </p:sp>
      <p:sp>
        <p:nvSpPr>
          <p:cNvPr id="9" name="テキスト プレースホルダー 7"/>
          <p:cNvSpPr>
            <a:spLocks noGrp="1"/>
          </p:cNvSpPr>
          <p:nvPr>
            <p:ph type="body" sz="quarter" idx="12" hasCustomPrompt="1"/>
          </p:nvPr>
        </p:nvSpPr>
        <p:spPr>
          <a:xfrm>
            <a:off x="270415" y="1422400"/>
            <a:ext cx="11658059" cy="4622800"/>
          </a:xfrm>
          <a:prstGeom prst="rect">
            <a:avLst/>
          </a:prstGeom>
        </p:spPr>
        <p:txBody>
          <a:bodyPr/>
          <a:lstStyle>
            <a:lvl1pPr marL="0" indent="0">
              <a:buFontTx/>
              <a:buNone/>
              <a:defRPr sz="1800" baseline="0">
                <a:latin typeface="Nissan Pro Regular" panose="02000503030000020003" pitchFamily="50" charset="0"/>
              </a:defRPr>
            </a:lvl1pPr>
          </a:lstStyle>
          <a:p>
            <a:pPr lvl="0"/>
            <a:r>
              <a:rPr kumimoji="1" lang="en-US" altLang="ja-JP" dirty="0"/>
              <a:t>Body Text, Nissan Pro Regular 18pt</a:t>
            </a:r>
            <a:endParaRPr kumimoji="1" lang="ja-JP" altLang="en-US" dirty="0"/>
          </a:p>
        </p:txBody>
      </p:sp>
    </p:spTree>
    <p:extLst>
      <p:ext uri="{BB962C8B-B14F-4D97-AF65-F5344CB8AC3E}">
        <p14:creationId xmlns:p14="http://schemas.microsoft.com/office/powerpoint/2010/main" val="399879416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119" userDrawn="1">
          <p15:clr>
            <a:srgbClr val="FBAE40"/>
          </p15:clr>
        </p15:guide>
        <p15:guide id="5" orient="horz" pos="61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sp>
        <p:nvSpPr>
          <p:cNvPr id="5" name="ArrowPanelWhite"/>
          <p:cNvSpPr/>
          <p:nvPr userDrawn="1"/>
        </p:nvSpPr>
        <p:spPr bwMode="ltGray">
          <a:xfrm>
            <a:off x="1" y="0"/>
            <a:ext cx="4137067" cy="6859310"/>
          </a:xfrm>
          <a:custGeom>
            <a:avLst/>
            <a:gdLst>
              <a:gd name="connsiteX0" fmla="*/ 0 w 3258479"/>
              <a:gd name="connsiteY0" fmla="*/ 0 h 6859310"/>
              <a:gd name="connsiteX1" fmla="*/ 156629 w 3258479"/>
              <a:gd name="connsiteY1" fmla="*/ 0 h 6859310"/>
              <a:gd name="connsiteX2" fmla="*/ 156629 w 3258479"/>
              <a:gd name="connsiteY2" fmla="*/ 1310 h 6859310"/>
              <a:gd name="connsiteX3" fmla="*/ 2435100 w 3258479"/>
              <a:gd name="connsiteY3" fmla="*/ 1310 h 6859310"/>
              <a:gd name="connsiteX4" fmla="*/ 3258479 w 3258479"/>
              <a:gd name="connsiteY4" fmla="*/ 3430310 h 6859310"/>
              <a:gd name="connsiteX5" fmla="*/ 2435100 w 3258479"/>
              <a:gd name="connsiteY5" fmla="*/ 6859310 h 6859310"/>
              <a:gd name="connsiteX6" fmla="*/ 0 w 3258479"/>
              <a:gd name="connsiteY6" fmla="*/ 6859310 h 685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8479" h="6859310">
                <a:moveTo>
                  <a:pt x="0" y="0"/>
                </a:moveTo>
                <a:lnTo>
                  <a:pt x="156629" y="0"/>
                </a:lnTo>
                <a:lnTo>
                  <a:pt x="156629" y="1310"/>
                </a:lnTo>
                <a:lnTo>
                  <a:pt x="2435100" y="1310"/>
                </a:lnTo>
                <a:lnTo>
                  <a:pt x="3258479" y="3430310"/>
                </a:lnTo>
                <a:lnTo>
                  <a:pt x="2435100" y="6859310"/>
                </a:lnTo>
                <a:lnTo>
                  <a:pt x="0" y="6859310"/>
                </a:lnTo>
                <a:close/>
              </a:path>
            </a:pathLst>
          </a:custGeom>
          <a:gradFill flip="none" rotWithShape="1">
            <a:gsLst>
              <a:gs pos="0">
                <a:schemeClr val="accent1">
                  <a:lumMod val="5000"/>
                  <a:lumOff val="95000"/>
                </a:schemeClr>
              </a:gs>
              <a:gs pos="0">
                <a:schemeClr val="accent1">
                  <a:lumMod val="45000"/>
                  <a:lumOff val="55000"/>
                </a:schemeClr>
              </a:gs>
              <a:gs pos="0">
                <a:schemeClr val="accent4">
                  <a:lumMod val="60000"/>
                  <a:lumOff val="40000"/>
                </a:schemeClr>
              </a:gs>
              <a:gs pos="100000">
                <a:schemeClr val="accent4">
                  <a:lumMod val="20000"/>
                  <a:lumOff val="80000"/>
                </a:schemeClr>
              </a:gs>
            </a:gsLst>
            <a:lin ang="0" scaled="1"/>
            <a:tileRect/>
          </a:gradFill>
          <a:ln>
            <a:noFill/>
          </a:ln>
        </p:spPr>
        <p:style>
          <a:lnRef idx="3">
            <a:schemeClr val="lt1"/>
          </a:lnRef>
          <a:fillRef idx="1">
            <a:schemeClr val="accent4"/>
          </a:fillRef>
          <a:effectRef idx="1">
            <a:schemeClr val="accent4"/>
          </a:effectRef>
          <a:fontRef idx="minor">
            <a:schemeClr val="lt1"/>
          </a:fontRef>
        </p:style>
        <p:txBody>
          <a:bodyPr wrap="square" rtlCol="0" anchor="t">
            <a:noAutofit/>
          </a:bodyPr>
          <a:lstStyle/>
          <a:p>
            <a:pPr lvl="0">
              <a:lnSpc>
                <a:spcPct val="90000"/>
              </a:lnSpc>
              <a:spcAft>
                <a:spcPts val="1000"/>
              </a:spcAft>
            </a:pPr>
            <a:endParaRPr lang="en-US" sz="1200" dirty="0">
              <a:solidFill>
                <a:prstClr val="white"/>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テキスト プレースホルダー 5"/>
          <p:cNvSpPr>
            <a:spLocks noGrp="1"/>
          </p:cNvSpPr>
          <p:nvPr>
            <p:ph type="body" sz="quarter" idx="10" hasCustomPrompt="1"/>
          </p:nvPr>
        </p:nvSpPr>
        <p:spPr>
          <a:xfrm>
            <a:off x="380991" y="2870583"/>
            <a:ext cx="3222821" cy="1360757"/>
          </a:xfrm>
          <a:prstGeom prst="rect">
            <a:avLst/>
          </a:prstGeom>
        </p:spPr>
        <p:txBody>
          <a:bodyPr/>
          <a:lstStyle>
            <a:lvl1pPr marL="0" indent="0">
              <a:buNone/>
              <a:defRPr sz="3200" b="1">
                <a:latin typeface="Nissan Pro Bold" panose="02000803050000020004" pitchFamily="50" charset="0"/>
              </a:defRPr>
            </a:lvl1pPr>
          </a:lstStyle>
          <a:p>
            <a:pPr lvl="0"/>
            <a:r>
              <a:rPr kumimoji="1" lang="en-US" altLang="ja-JP" dirty="0"/>
              <a:t>Title, Nissan Pro Bold 32pt</a:t>
            </a:r>
            <a:endParaRPr kumimoji="1" lang="ja-JP" altLang="en-US" dirty="0"/>
          </a:p>
        </p:txBody>
      </p:sp>
      <p:sp>
        <p:nvSpPr>
          <p:cNvPr id="8" name="テキスト プレースホルダー 7"/>
          <p:cNvSpPr>
            <a:spLocks noGrp="1"/>
          </p:cNvSpPr>
          <p:nvPr>
            <p:ph type="body" sz="quarter" idx="11" hasCustomPrompt="1"/>
          </p:nvPr>
        </p:nvSpPr>
        <p:spPr>
          <a:xfrm>
            <a:off x="4329953" y="976343"/>
            <a:ext cx="7598521" cy="446057"/>
          </a:xfrm>
          <a:prstGeom prst="rect">
            <a:avLst/>
          </a:prstGeom>
        </p:spPr>
        <p:txBody>
          <a:bodyPr/>
          <a:lstStyle>
            <a:lvl1pPr marL="228600" indent="-228600">
              <a:buFont typeface="Wingdings" panose="05000000000000000000" pitchFamily="2" charset="2"/>
              <a:buChar char="n"/>
              <a:defRPr sz="2400" baseline="0">
                <a:latin typeface="Nissan Pro Regular" panose="02000503030000020003" pitchFamily="50" charset="0"/>
              </a:defRPr>
            </a:lvl1pPr>
          </a:lstStyle>
          <a:p>
            <a:pPr lvl="0"/>
            <a:r>
              <a:rPr kumimoji="1" lang="en-US" altLang="ja-JP" dirty="0"/>
              <a:t>Body Title, Nissan Pro Regular 24pt</a:t>
            </a:r>
            <a:endParaRPr kumimoji="1" lang="ja-JP" altLang="en-US" dirty="0"/>
          </a:p>
        </p:txBody>
      </p:sp>
      <p:sp>
        <p:nvSpPr>
          <p:cNvPr id="9" name="テキスト プレースホルダー 7"/>
          <p:cNvSpPr>
            <a:spLocks noGrp="1"/>
          </p:cNvSpPr>
          <p:nvPr>
            <p:ph type="body" sz="quarter" idx="12" hasCustomPrompt="1"/>
          </p:nvPr>
        </p:nvSpPr>
        <p:spPr>
          <a:xfrm>
            <a:off x="4329953" y="1422400"/>
            <a:ext cx="7598521" cy="4622800"/>
          </a:xfrm>
          <a:prstGeom prst="rect">
            <a:avLst/>
          </a:prstGeom>
        </p:spPr>
        <p:txBody>
          <a:bodyPr/>
          <a:lstStyle>
            <a:lvl1pPr marL="0" indent="0">
              <a:buFontTx/>
              <a:buNone/>
              <a:defRPr sz="1800" baseline="0">
                <a:latin typeface="Nissan Pro Regular" panose="02000503030000020003" pitchFamily="50" charset="0"/>
              </a:defRPr>
            </a:lvl1pPr>
          </a:lstStyle>
          <a:p>
            <a:pPr lvl="0"/>
            <a:r>
              <a:rPr kumimoji="1" lang="en-US" altLang="ja-JP" dirty="0"/>
              <a:t>Body Text, Nissan Pro Regular 18pt</a:t>
            </a:r>
            <a:endParaRPr kumimoji="1" lang="ja-JP" altLang="en-US" dirty="0"/>
          </a:p>
        </p:txBody>
      </p:sp>
    </p:spTree>
    <p:extLst>
      <p:ext uri="{BB962C8B-B14F-4D97-AF65-F5344CB8AC3E}">
        <p14:creationId xmlns:p14="http://schemas.microsoft.com/office/powerpoint/2010/main" val="34892751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9">
          <p15:clr>
            <a:srgbClr val="FBAE40"/>
          </p15:clr>
        </p15:guide>
        <p15:guide id="5" orient="horz" pos="618">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Blank Slide">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 name="ArrowPanelWhite"/>
          <p:cNvSpPr/>
          <p:nvPr userDrawn="1"/>
        </p:nvSpPr>
        <p:spPr bwMode="ltGray">
          <a:xfrm>
            <a:off x="1" y="0"/>
            <a:ext cx="4137067" cy="6859310"/>
          </a:xfrm>
          <a:custGeom>
            <a:avLst/>
            <a:gdLst>
              <a:gd name="connsiteX0" fmla="*/ 0 w 3258479"/>
              <a:gd name="connsiteY0" fmla="*/ 0 h 6859310"/>
              <a:gd name="connsiteX1" fmla="*/ 156629 w 3258479"/>
              <a:gd name="connsiteY1" fmla="*/ 0 h 6859310"/>
              <a:gd name="connsiteX2" fmla="*/ 156629 w 3258479"/>
              <a:gd name="connsiteY2" fmla="*/ 1310 h 6859310"/>
              <a:gd name="connsiteX3" fmla="*/ 2435100 w 3258479"/>
              <a:gd name="connsiteY3" fmla="*/ 1310 h 6859310"/>
              <a:gd name="connsiteX4" fmla="*/ 3258479 w 3258479"/>
              <a:gd name="connsiteY4" fmla="*/ 3430310 h 6859310"/>
              <a:gd name="connsiteX5" fmla="*/ 2435100 w 3258479"/>
              <a:gd name="connsiteY5" fmla="*/ 6859310 h 6859310"/>
              <a:gd name="connsiteX6" fmla="*/ 0 w 3258479"/>
              <a:gd name="connsiteY6" fmla="*/ 6859310 h 6859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58479" h="6859310">
                <a:moveTo>
                  <a:pt x="0" y="0"/>
                </a:moveTo>
                <a:lnTo>
                  <a:pt x="156629" y="0"/>
                </a:lnTo>
                <a:lnTo>
                  <a:pt x="156629" y="1310"/>
                </a:lnTo>
                <a:lnTo>
                  <a:pt x="2435100" y="1310"/>
                </a:lnTo>
                <a:lnTo>
                  <a:pt x="3258479" y="3430310"/>
                </a:lnTo>
                <a:lnTo>
                  <a:pt x="2435100" y="6859310"/>
                </a:lnTo>
                <a:lnTo>
                  <a:pt x="0" y="6859310"/>
                </a:lnTo>
                <a:close/>
              </a:path>
            </a:pathLst>
          </a:custGeom>
          <a:solidFill>
            <a:schemeClr val="bg1"/>
          </a:solidFill>
          <a:ln>
            <a:noFill/>
          </a:ln>
        </p:spPr>
        <p:style>
          <a:lnRef idx="3">
            <a:schemeClr val="lt1"/>
          </a:lnRef>
          <a:fillRef idx="1">
            <a:schemeClr val="accent4"/>
          </a:fillRef>
          <a:effectRef idx="1">
            <a:schemeClr val="accent4"/>
          </a:effectRef>
          <a:fontRef idx="minor">
            <a:schemeClr val="lt1"/>
          </a:fontRef>
        </p:style>
        <p:txBody>
          <a:bodyPr wrap="square" rtlCol="0" anchor="t">
            <a:noAutofit/>
          </a:bodyPr>
          <a:lstStyle/>
          <a:p>
            <a:pPr lvl="0">
              <a:lnSpc>
                <a:spcPct val="90000"/>
              </a:lnSpc>
              <a:spcAft>
                <a:spcPts val="1000"/>
              </a:spcAft>
            </a:pPr>
            <a:endParaRPr lang="en-US" sz="1200" dirty="0">
              <a:solidFill>
                <a:prstClr val="white"/>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6" name="テキスト プレースホルダー 5"/>
          <p:cNvSpPr>
            <a:spLocks noGrp="1"/>
          </p:cNvSpPr>
          <p:nvPr>
            <p:ph type="body" sz="quarter" idx="10" hasCustomPrompt="1"/>
          </p:nvPr>
        </p:nvSpPr>
        <p:spPr>
          <a:xfrm>
            <a:off x="380991" y="2870583"/>
            <a:ext cx="3222821" cy="1360757"/>
          </a:xfrm>
          <a:prstGeom prst="rect">
            <a:avLst/>
          </a:prstGeom>
        </p:spPr>
        <p:txBody>
          <a:bodyPr/>
          <a:lstStyle>
            <a:lvl1pPr marL="0" indent="0">
              <a:buNone/>
              <a:defRPr sz="3200" b="1">
                <a:latin typeface="Nissan Pro Bold" panose="02000803050000020004" pitchFamily="50" charset="0"/>
              </a:defRPr>
            </a:lvl1pPr>
          </a:lstStyle>
          <a:p>
            <a:pPr lvl="0"/>
            <a:r>
              <a:rPr kumimoji="1" lang="en-US" altLang="ja-JP" dirty="0"/>
              <a:t>Title, Nissan Pro Bold 32pt</a:t>
            </a:r>
            <a:endParaRPr kumimoji="1" lang="ja-JP" altLang="en-US" dirty="0"/>
          </a:p>
        </p:txBody>
      </p:sp>
      <p:sp>
        <p:nvSpPr>
          <p:cNvPr id="8" name="テキスト プレースホルダー 7"/>
          <p:cNvSpPr>
            <a:spLocks noGrp="1"/>
          </p:cNvSpPr>
          <p:nvPr>
            <p:ph type="body" sz="quarter" idx="11" hasCustomPrompt="1"/>
          </p:nvPr>
        </p:nvSpPr>
        <p:spPr>
          <a:xfrm>
            <a:off x="4329953" y="976343"/>
            <a:ext cx="7598521" cy="446057"/>
          </a:xfrm>
          <a:prstGeom prst="rect">
            <a:avLst/>
          </a:prstGeom>
        </p:spPr>
        <p:txBody>
          <a:bodyPr/>
          <a:lstStyle>
            <a:lvl1pPr marL="228600" indent="-228600">
              <a:buFont typeface="Wingdings" panose="05000000000000000000" pitchFamily="2" charset="2"/>
              <a:buChar char="n"/>
              <a:defRPr sz="2400" baseline="0">
                <a:latin typeface="Nissan Pro Regular" panose="02000503030000020003" pitchFamily="50" charset="0"/>
              </a:defRPr>
            </a:lvl1pPr>
          </a:lstStyle>
          <a:p>
            <a:pPr lvl="0"/>
            <a:r>
              <a:rPr kumimoji="1" lang="en-US" altLang="ja-JP" dirty="0"/>
              <a:t>Body Title, Nissan Pro Regular 24pt</a:t>
            </a:r>
            <a:endParaRPr kumimoji="1" lang="ja-JP" altLang="en-US" dirty="0"/>
          </a:p>
        </p:txBody>
      </p:sp>
      <p:sp>
        <p:nvSpPr>
          <p:cNvPr id="9" name="テキスト プレースホルダー 7"/>
          <p:cNvSpPr>
            <a:spLocks noGrp="1"/>
          </p:cNvSpPr>
          <p:nvPr>
            <p:ph type="body" sz="quarter" idx="12" hasCustomPrompt="1"/>
          </p:nvPr>
        </p:nvSpPr>
        <p:spPr>
          <a:xfrm>
            <a:off x="4329953" y="1422400"/>
            <a:ext cx="7598521" cy="4622800"/>
          </a:xfrm>
          <a:prstGeom prst="rect">
            <a:avLst/>
          </a:prstGeom>
        </p:spPr>
        <p:txBody>
          <a:bodyPr/>
          <a:lstStyle>
            <a:lvl1pPr marL="0" indent="0">
              <a:buFontTx/>
              <a:buNone/>
              <a:defRPr sz="1800" baseline="0">
                <a:latin typeface="Nissan Pro Regular" panose="02000503030000020003" pitchFamily="50" charset="0"/>
              </a:defRPr>
            </a:lvl1pPr>
          </a:lstStyle>
          <a:p>
            <a:pPr lvl="0"/>
            <a:r>
              <a:rPr kumimoji="1" lang="en-US" altLang="ja-JP" dirty="0"/>
              <a:t>Body Text, Nissan Pro Regular 18pt</a:t>
            </a:r>
            <a:endParaRPr kumimoji="1" lang="ja-JP" altLang="en-US" dirty="0"/>
          </a:p>
        </p:txBody>
      </p:sp>
    </p:spTree>
    <p:extLst>
      <p:ext uri="{BB962C8B-B14F-4D97-AF65-F5344CB8AC3E}">
        <p14:creationId xmlns:p14="http://schemas.microsoft.com/office/powerpoint/2010/main" val="43776449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119">
          <p15:clr>
            <a:srgbClr val="FBAE40"/>
          </p15:clr>
        </p15:guide>
        <p15:guide id="5" orient="horz" pos="61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bl">
  <p:cSld name="タイトルと表">
    <p:spTree>
      <p:nvGrpSpPr>
        <p:cNvPr id="1" name=""/>
        <p:cNvGrpSpPr/>
        <p:nvPr/>
      </p:nvGrpSpPr>
      <p:grpSpPr>
        <a:xfrm>
          <a:off x="0" y="0"/>
          <a:ext cx="0" cy="0"/>
          <a:chOff x="0" y="0"/>
          <a:chExt cx="0" cy="0"/>
        </a:xfrm>
      </p:grpSpPr>
      <p:sp>
        <p:nvSpPr>
          <p:cNvPr id="2" name="タイトル 1"/>
          <p:cNvSpPr>
            <a:spLocks noGrp="1"/>
          </p:cNvSpPr>
          <p:nvPr>
            <p:ph type="title"/>
          </p:nvPr>
        </p:nvSpPr>
        <p:spPr>
          <a:xfrm>
            <a:off x="0" y="2"/>
            <a:ext cx="11176000" cy="536575"/>
          </a:xfrm>
        </p:spPr>
        <p:txBody>
          <a:bodyPr/>
          <a:lstStyle/>
          <a:p>
            <a:r>
              <a:rPr lang="ja-JP" altLang="en-US"/>
              <a:t>マスター タイトルの書式設定</a:t>
            </a:r>
          </a:p>
        </p:txBody>
      </p:sp>
      <p:sp>
        <p:nvSpPr>
          <p:cNvPr id="3" name="表プレースホルダー 2"/>
          <p:cNvSpPr>
            <a:spLocks noGrp="1"/>
          </p:cNvSpPr>
          <p:nvPr>
            <p:ph type="tbl" idx="1"/>
          </p:nvPr>
        </p:nvSpPr>
        <p:spPr>
          <a:xfrm>
            <a:off x="334109" y="692150"/>
            <a:ext cx="11426092" cy="5545138"/>
          </a:xfrm>
        </p:spPr>
        <p:txBody>
          <a:bodyPr/>
          <a:lstStyle/>
          <a:p>
            <a:endParaRPr lang="ja-JP" altLang="en-US"/>
          </a:p>
        </p:txBody>
      </p:sp>
      <p:sp>
        <p:nvSpPr>
          <p:cNvPr id="4" name="スライド番号プレースホルダー 3"/>
          <p:cNvSpPr>
            <a:spLocks noGrp="1"/>
          </p:cNvSpPr>
          <p:nvPr>
            <p:ph type="sldNum" sz="quarter" idx="10"/>
          </p:nvPr>
        </p:nvSpPr>
        <p:spPr>
          <a:xfrm>
            <a:off x="9652000" y="6423025"/>
            <a:ext cx="2540000" cy="457200"/>
          </a:xfrm>
        </p:spPr>
        <p:txBody>
          <a:bodyPr/>
          <a:lstStyle>
            <a:lvl1pPr>
              <a:defRPr/>
            </a:lvl1pPr>
          </a:lstStyle>
          <a:p>
            <a:fld id="{D33FC03F-26E7-4780-91EB-DC30F5CB5650}" type="slidenum">
              <a:rPr lang="en-US" altLang="ja-JP"/>
              <a:pPr/>
              <a:t>‹#›</a:t>
            </a:fld>
            <a:endParaRPr lang="en-US" altLang="ja-JP"/>
          </a:p>
        </p:txBody>
      </p:sp>
    </p:spTree>
    <p:extLst>
      <p:ext uri="{BB962C8B-B14F-4D97-AF65-F5344CB8AC3E}">
        <p14:creationId xmlns:p14="http://schemas.microsoft.com/office/powerpoint/2010/main" val="2420033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タイトルのみ">
    <p:spTree>
      <p:nvGrpSpPr>
        <p:cNvPr id="1" name=""/>
        <p:cNvGrpSpPr/>
        <p:nvPr/>
      </p:nvGrpSpPr>
      <p:grpSpPr>
        <a:xfrm>
          <a:off x="0" y="0"/>
          <a:ext cx="0" cy="0"/>
          <a:chOff x="0" y="0"/>
          <a:chExt cx="0" cy="0"/>
        </a:xfrm>
      </p:grpSpPr>
      <p:sp>
        <p:nvSpPr>
          <p:cNvPr id="6" name="Title 5"/>
          <p:cNvSpPr>
            <a:spLocks noGrp="1"/>
          </p:cNvSpPr>
          <p:nvPr>
            <p:ph type="title"/>
          </p:nvPr>
        </p:nvSpPr>
        <p:spPr>
          <a:xfrm>
            <a:off x="121920" y="45720"/>
            <a:ext cx="11948160" cy="457200"/>
          </a:xfrm>
          <a:prstGeom prst="rect">
            <a:avLst/>
          </a:prstGeom>
        </p:spPr>
        <p:txBody>
          <a:bodyPr anchor="ctr" anchorCtr="0"/>
          <a:lstStyle>
            <a:lvl1pPr algn="l">
              <a:defRPr sz="2585" b="0" i="0">
                <a:effectLst/>
                <a:latin typeface="NissanAG-Bold" pitchFamily="50" charset="0"/>
                <a:ea typeface="NissanAG-Bold" pitchFamily="50" charset="0"/>
                <a:cs typeface="Verdana" pitchFamily="34" charset="0"/>
              </a:defRPr>
            </a:lvl1pPr>
          </a:lstStyle>
          <a:p>
            <a:r>
              <a:rPr lang="en-US" dirty="0"/>
              <a:t>Click to edit Master title style</a:t>
            </a:r>
          </a:p>
        </p:txBody>
      </p:sp>
      <p:sp>
        <p:nvSpPr>
          <p:cNvPr id="7" name="Slide Number Placeholder 6"/>
          <p:cNvSpPr>
            <a:spLocks noGrp="1"/>
          </p:cNvSpPr>
          <p:nvPr>
            <p:ph type="sldNum" sz="quarter" idx="10"/>
          </p:nvPr>
        </p:nvSpPr>
        <p:spPr>
          <a:xfrm>
            <a:off x="5593403" y="6532562"/>
            <a:ext cx="1005196" cy="325438"/>
          </a:xfrm>
          <a:prstGeom prst="rect">
            <a:avLst/>
          </a:prstGeom>
        </p:spPr>
        <p:txBody>
          <a:bodyPr/>
          <a:lstStyle>
            <a:lvl1pPr>
              <a:defRPr b="0" i="0">
                <a:effectLst/>
                <a:latin typeface="NissanAG-Bold" pitchFamily="50" charset="0"/>
              </a:defRPr>
            </a:lvl1pPr>
          </a:lstStyle>
          <a:p>
            <a:fld id="{02ABB1BD-BDD2-4D16-B6F9-B0588F09A2C6}" type="slidenum">
              <a:rPr lang="en-US" smtClean="0">
                <a:solidFill>
                  <a:prstClr val="white"/>
                </a:solidFill>
              </a:rPr>
              <a:pPr/>
              <a:t>‹#›</a:t>
            </a:fld>
            <a:endParaRPr lang="en-US">
              <a:solidFill>
                <a:prstClr val="white"/>
              </a:solidFill>
            </a:endParaRPr>
          </a:p>
        </p:txBody>
      </p:sp>
    </p:spTree>
    <p:extLst>
      <p:ext uri="{BB962C8B-B14F-4D97-AF65-F5344CB8AC3E}">
        <p14:creationId xmlns:p14="http://schemas.microsoft.com/office/powerpoint/2010/main" val="40466767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メッセージライン">
    <p:spTree>
      <p:nvGrpSpPr>
        <p:cNvPr id="1" name=""/>
        <p:cNvGrpSpPr/>
        <p:nvPr/>
      </p:nvGrpSpPr>
      <p:grpSpPr>
        <a:xfrm>
          <a:off x="0" y="0"/>
          <a:ext cx="0" cy="0"/>
          <a:chOff x="0" y="0"/>
          <a:chExt cx="0" cy="0"/>
        </a:xfrm>
      </p:grpSpPr>
      <p:sp>
        <p:nvSpPr>
          <p:cNvPr id="3" name="タイトル 1">
            <a:extLst>
              <a:ext uri="{FF2B5EF4-FFF2-40B4-BE49-F238E27FC236}">
                <a16:creationId xmlns:a16="http://schemas.microsoft.com/office/drawing/2014/main" id="{F6E8ED3E-4F8A-4A41-AC47-4D4A6C710783}"/>
              </a:ext>
            </a:extLst>
          </p:cNvPr>
          <p:cNvSpPr>
            <a:spLocks noGrp="1"/>
          </p:cNvSpPr>
          <p:nvPr>
            <p:ph type="title"/>
          </p:nvPr>
        </p:nvSpPr>
        <p:spPr>
          <a:xfrm>
            <a:off x="502921" y="122239"/>
            <a:ext cx="9814561" cy="669925"/>
          </a:xfrm>
          <a:prstGeom prst="rect">
            <a:avLst/>
          </a:prstGeom>
        </p:spPr>
        <p:txBody>
          <a:bodyPr anchor="b"/>
          <a:lstStyle>
            <a:lvl1pPr algn="l">
              <a:defRPr sz="2400">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5" name="テキスト プレースホルダー 4">
            <a:extLst>
              <a:ext uri="{FF2B5EF4-FFF2-40B4-BE49-F238E27FC236}">
                <a16:creationId xmlns:a16="http://schemas.microsoft.com/office/drawing/2014/main" id="{96CCEA56-AF1C-4616-8BC6-386F78858CAD}"/>
              </a:ext>
            </a:extLst>
          </p:cNvPr>
          <p:cNvSpPr>
            <a:spLocks noGrp="1"/>
          </p:cNvSpPr>
          <p:nvPr>
            <p:ph type="body" sz="quarter" idx="10" hasCustomPrompt="1"/>
          </p:nvPr>
        </p:nvSpPr>
        <p:spPr>
          <a:xfrm>
            <a:off x="502920" y="854128"/>
            <a:ext cx="10429907" cy="524968"/>
          </a:xfrm>
          <a:prstGeom prst="rect">
            <a:avLst/>
          </a:prstGeom>
        </p:spPr>
        <p:txBody>
          <a:bodyPr/>
          <a:lstStyle>
            <a:lvl1pPr marL="0" indent="0">
              <a:buNone/>
              <a:defRPr sz="1600">
                <a:latin typeface="Meiryo UI" panose="020B0604030504040204" pitchFamily="50" charset="-128"/>
                <a:ea typeface="Meiryo UI" panose="020B0604030504040204" pitchFamily="50" charset="-128"/>
              </a:defRPr>
            </a:lvl1pPr>
          </a:lstStyle>
          <a:p>
            <a:pPr lvl="0"/>
            <a:r>
              <a:rPr kumimoji="1" lang="ja-JP" altLang="en-US" dirty="0"/>
              <a:t>テキスト</a:t>
            </a:r>
            <a:endParaRPr kumimoji="1" lang="en-GB" dirty="0"/>
          </a:p>
        </p:txBody>
      </p:sp>
    </p:spTree>
    <p:extLst>
      <p:ext uri="{BB962C8B-B14F-4D97-AF65-F5344CB8AC3E}">
        <p14:creationId xmlns:p14="http://schemas.microsoft.com/office/powerpoint/2010/main" val="3505036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cSld name="1_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3850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lank Template with Pattern">
    <p:spTree>
      <p:nvGrpSpPr>
        <p:cNvPr id="1" name=""/>
        <p:cNvGrpSpPr/>
        <p:nvPr/>
      </p:nvGrpSpPr>
      <p:grpSpPr>
        <a:xfrm>
          <a:off x="0" y="0"/>
          <a:ext cx="0" cy="0"/>
          <a:chOff x="0" y="0"/>
          <a:chExt cx="0" cy="0"/>
        </a:xfrm>
      </p:grpSpPr>
    </p:spTree>
    <p:extLst>
      <p:ext uri="{BB962C8B-B14F-4D97-AF65-F5344CB8AC3E}">
        <p14:creationId xmlns:p14="http://schemas.microsoft.com/office/powerpoint/2010/main" val="7979023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2.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10" Type="http://schemas.openxmlformats.org/officeDocument/2006/relationships/image" Target="../media/image4.png"/><Relationship Id="rId4" Type="http://schemas.openxmlformats.org/officeDocument/2006/relationships/slideLayout" Target="../slideLayouts/slideLayout6.xml"/><Relationship Id="rId9" Type="http://schemas.openxmlformats.org/officeDocument/2006/relationships/image" Target="../media/image2.emf"/></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4.xml"/><Relationship Id="rId1" Type="http://schemas.openxmlformats.org/officeDocument/2006/relationships/slideLayout" Target="../slideLayouts/slideLayout10.xml"/><Relationship Id="rId4"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図 7"/>
          <p:cNvPicPr>
            <a:picLocks noChangeAspect="1"/>
          </p:cNvPicPr>
          <p:nvPr userDrawn="1"/>
        </p:nvPicPr>
        <p:blipFill rotWithShape="1">
          <a:blip r:embed="rId3" cstate="print">
            <a:extLst>
              <a:ext uri="{28A0092B-C50C-407E-A947-70E740481C1C}">
                <a14:useLocalDpi xmlns:a14="http://schemas.microsoft.com/office/drawing/2010/main" val="0"/>
              </a:ext>
            </a:extLst>
          </a:blip>
          <a:srcRect l="555" b="555"/>
          <a:stretch/>
        </p:blipFill>
        <p:spPr>
          <a:xfrm>
            <a:off x="0" y="0"/>
            <a:ext cx="12192000" cy="6858000"/>
          </a:xfrm>
          <a:prstGeom prst="rect">
            <a:avLst/>
          </a:prstGeom>
        </p:spPr>
      </p:pic>
      <p:sp>
        <p:nvSpPr>
          <p:cNvPr id="6" name="正方形/長方形 5"/>
          <p:cNvSpPr/>
          <p:nvPr userDrawn="1"/>
        </p:nvSpPr>
        <p:spPr>
          <a:xfrm flipH="1">
            <a:off x="-1" y="0"/>
            <a:ext cx="12192000" cy="6858000"/>
          </a:xfrm>
          <a:prstGeom prst="rect">
            <a:avLst/>
          </a:prstGeom>
          <a:gradFill>
            <a:gsLst>
              <a:gs pos="0">
                <a:sysClr val="window" lastClr="FFFFFF">
                  <a:lumMod val="95000"/>
                  <a:alpha val="0"/>
                </a:sysClr>
              </a:gs>
              <a:gs pos="100000">
                <a:srgbClr val="B3B5B5">
                  <a:lumMod val="23000"/>
                  <a:lumOff val="77000"/>
                </a:srgb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ＭＳ Ｐゴシック" panose="020B0600070205080204" pitchFamily="50" charset="-128"/>
              <a:cs typeface="+mn-cs"/>
            </a:endParaRPr>
          </a:p>
        </p:txBody>
      </p:sp>
      <p:pic>
        <p:nvPicPr>
          <p:cNvPr id="4" name="図 3"/>
          <p:cNvPicPr>
            <a:picLocks noChangeAspect="1"/>
          </p:cNvPicPr>
          <p:nvPr userDrawn="1"/>
        </p:nvPicPr>
        <p:blipFill>
          <a:blip r:embed="rId4"/>
          <a:stretch>
            <a:fillRect/>
          </a:stretch>
        </p:blipFill>
        <p:spPr>
          <a:xfrm>
            <a:off x="4427111" y="1635979"/>
            <a:ext cx="3337777" cy="754632"/>
          </a:xfrm>
          <a:prstGeom prst="rect">
            <a:avLst/>
          </a:prstGeom>
        </p:spPr>
      </p:pic>
      <p:sp>
        <p:nvSpPr>
          <p:cNvPr id="7" name="Alliance_Labeling"/>
          <p:cNvSpPr txBox="1"/>
          <p:nvPr userDrawn="1"/>
        </p:nvSpPr>
        <p:spPr>
          <a:xfrm>
            <a:off x="10420423" y="6555209"/>
            <a:ext cx="1517577"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a:solidFill>
                  <a:srgbClr val="000000"/>
                </a:solidFill>
                <a:latin typeface="Verdana" panose="020B0604030504040204" pitchFamily="34" charset="0"/>
              </a:rPr>
              <a:t>Nissan Confidential C</a:t>
            </a:r>
            <a:endParaRPr kumimoji="1" lang="ja-JP" altLang="en-US" sz="1000" b="0">
              <a:solidFill>
                <a:srgbClr val="000000"/>
              </a:solidFill>
              <a:latin typeface="Verdana" panose="020B0604030504040204" pitchFamily="34" charset="0"/>
            </a:endParaRPr>
          </a:p>
        </p:txBody>
      </p:sp>
      <p:pic>
        <p:nvPicPr>
          <p:cNvPr id="9" name="図 8"/>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673353" y="254094"/>
            <a:ext cx="3279121" cy="589271"/>
          </a:xfrm>
          <a:prstGeom prst="rect">
            <a:avLst/>
          </a:prstGeom>
        </p:spPr>
      </p:pic>
    </p:spTree>
  </p:cSld>
  <p:clrMap bg1="lt1" tx1="dk1" bg2="lt2" tx2="dk2" accent1="accent1" accent2="accent2" accent3="accent3" accent4="accent4" accent5="accent5" accent6="accent6" hlink="hlink" folHlink="folHlink"/>
  <p:sldLayoutIdLst>
    <p:sldLayoutId id="2147483653" r:id="rId1"/>
  </p:sldLayoutIdLst>
  <p:hf sldNum="0" hdr="0" ftr="0" dt="0"/>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Arial" charset="0"/>
          <a:ea typeface="ＭＳ Ｐゴシック" charset="-128"/>
        </a:defRPr>
      </a:lvl2pPr>
      <a:lvl3pPr algn="ctr" rtl="0" eaLnBrk="0" fontAlgn="base" hangingPunct="0">
        <a:spcBef>
          <a:spcPct val="0"/>
        </a:spcBef>
        <a:spcAft>
          <a:spcPct val="0"/>
        </a:spcAft>
        <a:defRPr kumimoji="1" sz="4400">
          <a:solidFill>
            <a:schemeClr val="tx2"/>
          </a:solidFill>
          <a:latin typeface="Arial" charset="0"/>
          <a:ea typeface="ＭＳ Ｐゴシック" charset="-128"/>
        </a:defRPr>
      </a:lvl3pPr>
      <a:lvl4pPr algn="ctr" rtl="0" eaLnBrk="0" fontAlgn="base" hangingPunct="0">
        <a:spcBef>
          <a:spcPct val="0"/>
        </a:spcBef>
        <a:spcAft>
          <a:spcPct val="0"/>
        </a:spcAft>
        <a:defRPr kumimoji="1" sz="4400">
          <a:solidFill>
            <a:schemeClr val="tx2"/>
          </a:solidFill>
          <a:latin typeface="Arial" charset="0"/>
          <a:ea typeface="ＭＳ Ｐゴシック" charset="-128"/>
        </a:defRPr>
      </a:lvl4pPr>
      <a:lvl5pPr algn="ctr" rtl="0" eaLnBrk="0" fontAlgn="base" hangingPunct="0">
        <a:spcBef>
          <a:spcPct val="0"/>
        </a:spcBef>
        <a:spcAft>
          <a:spcPct val="0"/>
        </a:spcAft>
        <a:defRPr kumimoji="1" sz="4400">
          <a:solidFill>
            <a:schemeClr val="tx2"/>
          </a:solidFill>
          <a:latin typeface="Arial" charset="0"/>
          <a:ea typeface="ＭＳ Ｐゴシック" charset="-128"/>
        </a:defRPr>
      </a:lvl5pPr>
      <a:lvl6pPr marL="457216" algn="ctr" rtl="0" fontAlgn="base">
        <a:spcBef>
          <a:spcPct val="0"/>
        </a:spcBef>
        <a:spcAft>
          <a:spcPct val="0"/>
        </a:spcAft>
        <a:defRPr kumimoji="1" sz="4400">
          <a:solidFill>
            <a:schemeClr val="tx2"/>
          </a:solidFill>
          <a:latin typeface="Arial" charset="0"/>
          <a:ea typeface="ＭＳ Ｐゴシック" charset="-128"/>
        </a:defRPr>
      </a:lvl6pPr>
      <a:lvl7pPr marL="914430" algn="ctr" rtl="0" fontAlgn="base">
        <a:spcBef>
          <a:spcPct val="0"/>
        </a:spcBef>
        <a:spcAft>
          <a:spcPct val="0"/>
        </a:spcAft>
        <a:defRPr kumimoji="1" sz="4400">
          <a:solidFill>
            <a:schemeClr val="tx2"/>
          </a:solidFill>
          <a:latin typeface="Arial" charset="0"/>
          <a:ea typeface="ＭＳ Ｐゴシック" charset="-128"/>
        </a:defRPr>
      </a:lvl7pPr>
      <a:lvl8pPr marL="1371645" algn="ctr" rtl="0" fontAlgn="base">
        <a:spcBef>
          <a:spcPct val="0"/>
        </a:spcBef>
        <a:spcAft>
          <a:spcPct val="0"/>
        </a:spcAft>
        <a:defRPr kumimoji="1" sz="4400">
          <a:solidFill>
            <a:schemeClr val="tx2"/>
          </a:solidFill>
          <a:latin typeface="Arial" charset="0"/>
          <a:ea typeface="ＭＳ Ｐゴシック" charset="-128"/>
        </a:defRPr>
      </a:lvl8pPr>
      <a:lvl9pPr marL="1828861" algn="ctr" rtl="0" fontAlgn="base">
        <a:spcBef>
          <a:spcPct val="0"/>
        </a:spcBef>
        <a:spcAft>
          <a:spcPct val="0"/>
        </a:spcAft>
        <a:defRPr kumimoji="1" sz="4400">
          <a:solidFill>
            <a:schemeClr val="tx2"/>
          </a:solidFill>
          <a:latin typeface="Arial" charset="0"/>
          <a:ea typeface="ＭＳ Ｐゴシック" charset="-128"/>
        </a:defRPr>
      </a:lvl9pPr>
    </p:titleStyle>
    <p:bodyStyle>
      <a:lvl1pPr marL="342911" indent="-342911" algn="l" rtl="0" eaLnBrk="0" fontAlgn="base" hangingPunct="0">
        <a:spcBef>
          <a:spcPct val="20000"/>
        </a:spcBef>
        <a:spcAft>
          <a:spcPct val="0"/>
        </a:spcAft>
        <a:buChar char="•"/>
        <a:defRPr kumimoji="1" sz="3200">
          <a:solidFill>
            <a:schemeClr val="tx1"/>
          </a:solidFill>
          <a:latin typeface="+mn-lt"/>
          <a:ea typeface="+mn-ea"/>
          <a:cs typeface="+mn-cs"/>
        </a:defRPr>
      </a:lvl1pPr>
      <a:lvl2pPr marL="742975" indent="-285759" algn="l" rtl="0" eaLnBrk="0" fontAlgn="base" hangingPunct="0">
        <a:spcBef>
          <a:spcPct val="20000"/>
        </a:spcBef>
        <a:spcAft>
          <a:spcPct val="0"/>
        </a:spcAft>
        <a:buChar char="–"/>
        <a:defRPr kumimoji="1" sz="2800">
          <a:solidFill>
            <a:schemeClr val="tx1"/>
          </a:solidFill>
          <a:latin typeface="+mn-lt"/>
          <a:ea typeface="+mn-ea"/>
        </a:defRPr>
      </a:lvl2pPr>
      <a:lvl3pPr marL="1143038" indent="-228608" algn="l" rtl="0" eaLnBrk="0" fontAlgn="base" hangingPunct="0">
        <a:spcBef>
          <a:spcPct val="20000"/>
        </a:spcBef>
        <a:spcAft>
          <a:spcPct val="0"/>
        </a:spcAft>
        <a:buChar char="•"/>
        <a:defRPr kumimoji="1" sz="2400">
          <a:solidFill>
            <a:schemeClr val="tx1"/>
          </a:solidFill>
          <a:latin typeface="+mn-lt"/>
          <a:ea typeface="+mn-ea"/>
        </a:defRPr>
      </a:lvl3pPr>
      <a:lvl4pPr marL="1600253" indent="-228608" algn="l" rtl="0" eaLnBrk="0" fontAlgn="base" hangingPunct="0">
        <a:spcBef>
          <a:spcPct val="20000"/>
        </a:spcBef>
        <a:spcAft>
          <a:spcPct val="0"/>
        </a:spcAft>
        <a:buChar char="–"/>
        <a:defRPr kumimoji="1" sz="2000">
          <a:solidFill>
            <a:schemeClr val="tx1"/>
          </a:solidFill>
          <a:latin typeface="+mn-lt"/>
          <a:ea typeface="+mn-ea"/>
        </a:defRPr>
      </a:lvl4pPr>
      <a:lvl5pPr marL="2057469" indent="-228608" algn="l" rtl="0" eaLnBrk="0" fontAlgn="base" hangingPunct="0">
        <a:spcBef>
          <a:spcPct val="20000"/>
        </a:spcBef>
        <a:spcAft>
          <a:spcPct val="0"/>
        </a:spcAft>
        <a:buChar char="»"/>
        <a:defRPr kumimoji="1" sz="2000">
          <a:solidFill>
            <a:schemeClr val="tx1"/>
          </a:solidFill>
          <a:latin typeface="+mn-lt"/>
          <a:ea typeface="+mn-ea"/>
        </a:defRPr>
      </a:lvl5pPr>
      <a:lvl6pPr marL="2514683" indent="-228608" algn="l" rtl="0" fontAlgn="base">
        <a:spcBef>
          <a:spcPct val="20000"/>
        </a:spcBef>
        <a:spcAft>
          <a:spcPct val="0"/>
        </a:spcAft>
        <a:buChar char="»"/>
        <a:defRPr kumimoji="1" sz="2000">
          <a:solidFill>
            <a:schemeClr val="tx1"/>
          </a:solidFill>
          <a:latin typeface="+mn-lt"/>
          <a:ea typeface="+mn-ea"/>
        </a:defRPr>
      </a:lvl6pPr>
      <a:lvl7pPr marL="2971899" indent="-228608" algn="l" rtl="0" fontAlgn="base">
        <a:spcBef>
          <a:spcPct val="20000"/>
        </a:spcBef>
        <a:spcAft>
          <a:spcPct val="0"/>
        </a:spcAft>
        <a:buChar char="»"/>
        <a:defRPr kumimoji="1" sz="2000">
          <a:solidFill>
            <a:schemeClr val="tx1"/>
          </a:solidFill>
          <a:latin typeface="+mn-lt"/>
          <a:ea typeface="+mn-ea"/>
        </a:defRPr>
      </a:lvl7pPr>
      <a:lvl8pPr marL="3429114" indent="-228608" algn="l" rtl="0" fontAlgn="base">
        <a:spcBef>
          <a:spcPct val="20000"/>
        </a:spcBef>
        <a:spcAft>
          <a:spcPct val="0"/>
        </a:spcAft>
        <a:buChar char="»"/>
        <a:defRPr kumimoji="1" sz="2000">
          <a:solidFill>
            <a:schemeClr val="tx1"/>
          </a:solidFill>
          <a:latin typeface="+mn-lt"/>
          <a:ea typeface="+mn-ea"/>
        </a:defRPr>
      </a:lvl8pPr>
      <a:lvl9pPr marL="3886330" indent="-228608" algn="l" rtl="0" fontAlgn="base">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30" rtl="0" eaLnBrk="1" latinLnBrk="0" hangingPunct="1">
        <a:defRPr kumimoji="1" sz="1800" kern="1200">
          <a:solidFill>
            <a:schemeClr val="tx1"/>
          </a:solidFill>
          <a:latin typeface="+mn-lt"/>
          <a:ea typeface="+mn-ea"/>
          <a:cs typeface="+mn-cs"/>
        </a:defRPr>
      </a:lvl1pPr>
      <a:lvl2pPr marL="457216" algn="l" defTabSz="914430" rtl="0" eaLnBrk="1" latinLnBrk="0" hangingPunct="1">
        <a:defRPr kumimoji="1" sz="1800" kern="1200">
          <a:solidFill>
            <a:schemeClr val="tx1"/>
          </a:solidFill>
          <a:latin typeface="+mn-lt"/>
          <a:ea typeface="+mn-ea"/>
          <a:cs typeface="+mn-cs"/>
        </a:defRPr>
      </a:lvl2pPr>
      <a:lvl3pPr marL="914430" algn="l" defTabSz="914430" rtl="0" eaLnBrk="1" latinLnBrk="0" hangingPunct="1">
        <a:defRPr kumimoji="1" sz="1800" kern="1200">
          <a:solidFill>
            <a:schemeClr val="tx1"/>
          </a:solidFill>
          <a:latin typeface="+mn-lt"/>
          <a:ea typeface="+mn-ea"/>
          <a:cs typeface="+mn-cs"/>
        </a:defRPr>
      </a:lvl3pPr>
      <a:lvl4pPr marL="1371645" algn="l" defTabSz="914430" rtl="0" eaLnBrk="1" latinLnBrk="0" hangingPunct="1">
        <a:defRPr kumimoji="1" sz="1800" kern="1200">
          <a:solidFill>
            <a:schemeClr val="tx1"/>
          </a:solidFill>
          <a:latin typeface="+mn-lt"/>
          <a:ea typeface="+mn-ea"/>
          <a:cs typeface="+mn-cs"/>
        </a:defRPr>
      </a:lvl4pPr>
      <a:lvl5pPr marL="1828861" algn="l" defTabSz="914430" rtl="0" eaLnBrk="1" latinLnBrk="0" hangingPunct="1">
        <a:defRPr kumimoji="1" sz="1800" kern="1200">
          <a:solidFill>
            <a:schemeClr val="tx1"/>
          </a:solidFill>
          <a:latin typeface="+mn-lt"/>
          <a:ea typeface="+mn-ea"/>
          <a:cs typeface="+mn-cs"/>
        </a:defRPr>
      </a:lvl5pPr>
      <a:lvl6pPr marL="2286077" algn="l" defTabSz="914430" rtl="0" eaLnBrk="1" latinLnBrk="0" hangingPunct="1">
        <a:defRPr kumimoji="1" sz="1800" kern="1200">
          <a:solidFill>
            <a:schemeClr val="tx1"/>
          </a:solidFill>
          <a:latin typeface="+mn-lt"/>
          <a:ea typeface="+mn-ea"/>
          <a:cs typeface="+mn-cs"/>
        </a:defRPr>
      </a:lvl6pPr>
      <a:lvl7pPr marL="2743291" algn="l" defTabSz="914430" rtl="0" eaLnBrk="1" latinLnBrk="0" hangingPunct="1">
        <a:defRPr kumimoji="1" sz="1800" kern="1200">
          <a:solidFill>
            <a:schemeClr val="tx1"/>
          </a:solidFill>
          <a:latin typeface="+mn-lt"/>
          <a:ea typeface="+mn-ea"/>
          <a:cs typeface="+mn-cs"/>
        </a:defRPr>
      </a:lvl7pPr>
      <a:lvl8pPr marL="3200507" algn="l" defTabSz="914430" rtl="0" eaLnBrk="1" latinLnBrk="0" hangingPunct="1">
        <a:defRPr kumimoji="1" sz="1800" kern="1200">
          <a:solidFill>
            <a:schemeClr val="tx1"/>
          </a:solidFill>
          <a:latin typeface="+mn-lt"/>
          <a:ea typeface="+mn-ea"/>
          <a:cs typeface="+mn-cs"/>
        </a:defRPr>
      </a:lvl8pPr>
      <a:lvl9pPr marL="3657722" algn="l" defTabSz="91443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userDrawn="1">
          <p15:clr>
            <a:srgbClr val="F26B43"/>
          </p15:clr>
        </p15:guide>
        <p15:guide id="4" orient="horz" pos="4320" userDrawn="1">
          <p15:clr>
            <a:srgbClr val="F26B43"/>
          </p15:clr>
        </p15:guide>
        <p15:guide id="5" userDrawn="1">
          <p15:clr>
            <a:srgbClr val="F26B43"/>
          </p15:clr>
        </p15:guide>
        <p15:guide id="6" pos="7680" userDrawn="1">
          <p15:clr>
            <a:srgbClr val="F26B43"/>
          </p15:clr>
        </p15:guide>
        <p15:guide id="7" pos="325" userDrawn="1">
          <p15:clr>
            <a:srgbClr val="F26B43"/>
          </p15:clr>
        </p15:guide>
        <p15:guide id="8" pos="735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図 6"/>
          <p:cNvPicPr>
            <a:picLocks noChangeAspect="1"/>
          </p:cNvPicPr>
          <p:nvPr userDrawn="1"/>
        </p:nvPicPr>
        <p:blipFill rotWithShape="1">
          <a:blip r:embed="rId3" cstate="print">
            <a:extLst>
              <a:ext uri="{28A0092B-C50C-407E-A947-70E740481C1C}">
                <a14:useLocalDpi xmlns:a14="http://schemas.microsoft.com/office/drawing/2010/main" val="0"/>
              </a:ext>
            </a:extLst>
          </a:blip>
          <a:srcRect l="555" b="555"/>
          <a:stretch/>
        </p:blipFill>
        <p:spPr>
          <a:xfrm>
            <a:off x="0" y="0"/>
            <a:ext cx="12192000" cy="6858000"/>
          </a:xfrm>
          <a:prstGeom prst="rect">
            <a:avLst/>
          </a:prstGeom>
        </p:spPr>
      </p:pic>
      <p:sp>
        <p:nvSpPr>
          <p:cNvPr id="8" name="正方形/長方形 7"/>
          <p:cNvSpPr/>
          <p:nvPr userDrawn="1"/>
        </p:nvSpPr>
        <p:spPr>
          <a:xfrm>
            <a:off x="0" y="0"/>
            <a:ext cx="12192000" cy="6858000"/>
          </a:xfrm>
          <a:prstGeom prst="rect">
            <a:avLst/>
          </a:pr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p:cNvSpPr/>
          <p:nvPr userDrawn="1"/>
        </p:nvSpPr>
        <p:spPr>
          <a:xfrm flipH="1">
            <a:off x="0" y="0"/>
            <a:ext cx="12192000" cy="6858000"/>
          </a:xfrm>
          <a:prstGeom prst="rect">
            <a:avLst/>
          </a:prstGeom>
          <a:gradFill>
            <a:gsLst>
              <a:gs pos="0">
                <a:sysClr val="window" lastClr="FFFFFF">
                  <a:lumMod val="95000"/>
                  <a:alpha val="0"/>
                </a:sysClr>
              </a:gs>
              <a:gs pos="100000">
                <a:srgbClr val="B3B5B5">
                  <a:lumMod val="23000"/>
                  <a:lumOff val="77000"/>
                </a:srgb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ＭＳ Ｐゴシック" panose="020B0600070205080204" pitchFamily="50" charset="-128"/>
              <a:cs typeface="+mn-cs"/>
            </a:endParaRPr>
          </a:p>
        </p:txBody>
      </p:sp>
      <p:sp>
        <p:nvSpPr>
          <p:cNvPr id="19" name="Alliance_Labeling"/>
          <p:cNvSpPr txBox="1"/>
          <p:nvPr userDrawn="1"/>
        </p:nvSpPr>
        <p:spPr>
          <a:xfrm>
            <a:off x="10420423" y="6555209"/>
            <a:ext cx="1517577"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a:solidFill>
                  <a:srgbClr val="000000"/>
                </a:solidFill>
                <a:latin typeface="Verdana" panose="020B0604030504040204" pitchFamily="34" charset="0"/>
              </a:rPr>
              <a:t>Nissan Confidential C</a:t>
            </a:r>
            <a:endParaRPr kumimoji="1" lang="ja-JP" altLang="en-US" sz="1000" b="0">
              <a:solidFill>
                <a:srgbClr val="000000"/>
              </a:solidFill>
              <a:latin typeface="Verdana" panose="020B0604030504040204" pitchFamily="34" charset="0"/>
            </a:endParaRPr>
          </a:p>
        </p:txBody>
      </p:sp>
      <p:pic>
        <p:nvPicPr>
          <p:cNvPr id="2" name="図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076329" y="293875"/>
            <a:ext cx="1861671" cy="358208"/>
          </a:xfrm>
          <a:prstGeom prst="rect">
            <a:avLst/>
          </a:prstGeom>
        </p:spPr>
      </p:pic>
    </p:spTree>
    <p:extLst>
      <p:ext uri="{BB962C8B-B14F-4D97-AF65-F5344CB8AC3E}">
        <p14:creationId xmlns:p14="http://schemas.microsoft.com/office/powerpoint/2010/main" val="4150948458"/>
      </p:ext>
    </p:extLst>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5" name="図 14"/>
          <p:cNvPicPr>
            <a:picLocks noChangeAspect="1"/>
          </p:cNvPicPr>
          <p:nvPr/>
        </p:nvPicPr>
        <p:blipFill>
          <a:blip r:embed="rId9"/>
          <a:stretch>
            <a:fillRect/>
          </a:stretch>
        </p:blipFill>
        <p:spPr>
          <a:xfrm>
            <a:off x="5633011" y="6563989"/>
            <a:ext cx="925983" cy="209354"/>
          </a:xfrm>
          <a:prstGeom prst="rect">
            <a:avLst/>
          </a:prstGeom>
        </p:spPr>
      </p:pic>
      <p:sp>
        <p:nvSpPr>
          <p:cNvPr id="16" name="Text Box 25"/>
          <p:cNvSpPr txBox="1">
            <a:spLocks noChangeArrowheads="1"/>
          </p:cNvSpPr>
          <p:nvPr/>
        </p:nvSpPr>
        <p:spPr bwMode="gray">
          <a:xfrm>
            <a:off x="339642" y="6538771"/>
            <a:ext cx="647026" cy="276999"/>
          </a:xfrm>
          <a:prstGeom prst="rect">
            <a:avLst/>
          </a:prstGeom>
          <a:noFill/>
          <a:ln>
            <a:noFill/>
          </a:ln>
          <a:effectLst/>
          <a:extLst>
            <a:ext uri="{909E8E84-426E-40DD-AFC4-6F175D3DCCD1}">
              <a14:hiddenFill xmlns:a14="http://schemas.microsoft.com/office/drawing/2010/main">
                <a:solidFill>
                  <a:srgbClr val="33CC33">
                    <a:alpha val="50195"/>
                  </a:srgbClr>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algn="ctr" rotWithShape="0">
                    <a:schemeClr val="tx2"/>
                  </a:outerShdw>
                </a:effectLst>
              </a14:hiddenEffects>
            </a:ext>
          </a:extLst>
        </p:spPr>
        <p:txBody>
          <a:bodyPr wrap="square">
            <a:spAutoFit/>
          </a:bodyPr>
          <a:lstStyle>
            <a:lvl1pPr eaLnBrk="0" hangingPunct="0">
              <a:defRPr kumimoji="1" sz="2000">
                <a:solidFill>
                  <a:schemeClr val="tx1"/>
                </a:solidFill>
                <a:latin typeface="Arial" charset="0"/>
                <a:ea typeface="ＭＳ Ｐゴシック" pitchFamily="50" charset="-128"/>
              </a:defRPr>
            </a:lvl1pPr>
            <a:lvl2pPr marL="742950" indent="-285750" eaLnBrk="0" hangingPunct="0">
              <a:defRPr kumimoji="1" sz="2000">
                <a:solidFill>
                  <a:schemeClr val="tx1"/>
                </a:solidFill>
                <a:latin typeface="Arial" charset="0"/>
                <a:ea typeface="ＭＳ Ｐゴシック" pitchFamily="50" charset="-128"/>
              </a:defRPr>
            </a:lvl2pPr>
            <a:lvl3pPr marL="1143000" indent="-228600" eaLnBrk="0" hangingPunct="0">
              <a:defRPr kumimoji="1" sz="2000">
                <a:solidFill>
                  <a:schemeClr val="tx1"/>
                </a:solidFill>
                <a:latin typeface="Arial" charset="0"/>
                <a:ea typeface="ＭＳ Ｐゴシック" pitchFamily="50" charset="-128"/>
              </a:defRPr>
            </a:lvl3pPr>
            <a:lvl4pPr marL="1600200" indent="-228600" eaLnBrk="0" hangingPunct="0">
              <a:defRPr kumimoji="1" sz="2000">
                <a:solidFill>
                  <a:schemeClr val="tx1"/>
                </a:solidFill>
                <a:latin typeface="Arial" charset="0"/>
                <a:ea typeface="ＭＳ Ｐゴシック" pitchFamily="50" charset="-128"/>
              </a:defRPr>
            </a:lvl4pPr>
            <a:lvl5pPr marL="2057400" indent="-228600" eaLnBrk="0" hangingPunct="0">
              <a:defRPr kumimoji="1" sz="2000">
                <a:solidFill>
                  <a:schemeClr val="tx1"/>
                </a:solidFill>
                <a:latin typeface="Arial" charset="0"/>
                <a:ea typeface="ＭＳ Ｐゴシック" pitchFamily="50" charset="-128"/>
              </a:defRPr>
            </a:lvl5pPr>
            <a:lvl6pPr marL="2514600" indent="-228600" eaLnBrk="0" fontAlgn="base" hangingPunct="0">
              <a:spcBef>
                <a:spcPct val="0"/>
              </a:spcBef>
              <a:spcAft>
                <a:spcPct val="0"/>
              </a:spcAft>
              <a:defRPr kumimoji="1" sz="2000">
                <a:solidFill>
                  <a:schemeClr val="tx1"/>
                </a:solidFill>
                <a:latin typeface="Arial" charset="0"/>
                <a:ea typeface="ＭＳ Ｐゴシック" pitchFamily="50" charset="-128"/>
              </a:defRPr>
            </a:lvl6pPr>
            <a:lvl7pPr marL="2971800" indent="-228600" eaLnBrk="0" fontAlgn="base" hangingPunct="0">
              <a:spcBef>
                <a:spcPct val="0"/>
              </a:spcBef>
              <a:spcAft>
                <a:spcPct val="0"/>
              </a:spcAft>
              <a:defRPr kumimoji="1" sz="2000">
                <a:solidFill>
                  <a:schemeClr val="tx1"/>
                </a:solidFill>
                <a:latin typeface="Arial" charset="0"/>
                <a:ea typeface="ＭＳ Ｐゴシック" pitchFamily="50" charset="-128"/>
              </a:defRPr>
            </a:lvl7pPr>
            <a:lvl8pPr marL="3429000" indent="-228600" eaLnBrk="0" fontAlgn="base" hangingPunct="0">
              <a:spcBef>
                <a:spcPct val="0"/>
              </a:spcBef>
              <a:spcAft>
                <a:spcPct val="0"/>
              </a:spcAft>
              <a:defRPr kumimoji="1" sz="2000">
                <a:solidFill>
                  <a:schemeClr val="tx1"/>
                </a:solidFill>
                <a:latin typeface="Arial" charset="0"/>
                <a:ea typeface="ＭＳ Ｐゴシック" pitchFamily="50" charset="-128"/>
              </a:defRPr>
            </a:lvl8pPr>
            <a:lvl9pPr marL="3886200" indent="-228600" eaLnBrk="0" fontAlgn="base" hangingPunct="0">
              <a:spcBef>
                <a:spcPct val="0"/>
              </a:spcBef>
              <a:spcAft>
                <a:spcPct val="0"/>
              </a:spcAft>
              <a:defRPr kumimoji="1" sz="2000">
                <a:solidFill>
                  <a:schemeClr val="tx1"/>
                </a:solidFill>
                <a:latin typeface="Arial" charset="0"/>
                <a:ea typeface="ＭＳ Ｐゴシック" pitchFamily="50" charset="-128"/>
              </a:defRPr>
            </a:lvl9pPr>
          </a:lstStyle>
          <a:p>
            <a:pPr>
              <a:defRPr/>
            </a:pPr>
            <a:fld id="{BE0D9DC2-A27A-4EFB-883B-E13F148AC0E4}" type="slidenum">
              <a:rPr kumimoji="0" lang="en-US" altLang="ja-JP" sz="1200">
                <a:solidFill>
                  <a:srgbClr val="808080"/>
                </a:solidFill>
                <a:latin typeface="Nissan Pro Regular" panose="02000503030000020003" pitchFamily="50" charset="0"/>
                <a:ea typeface="Verdana" panose="020B0604030504040204" pitchFamily="34" charset="0"/>
                <a:cs typeface="Verdana" panose="020B0604030504040204" pitchFamily="34" charset="0"/>
              </a:rPr>
              <a:pPr>
                <a:defRPr/>
              </a:pPr>
              <a:t>‹#›</a:t>
            </a:fld>
            <a:endParaRPr kumimoji="0" lang="en-US" altLang="ja-JP" sz="1200" dirty="0">
              <a:solidFill>
                <a:srgbClr val="808080"/>
              </a:solidFill>
              <a:latin typeface="Nissan Pro Regular" panose="02000503030000020003" pitchFamily="50" charset="0"/>
              <a:ea typeface="Verdana" panose="020B0604030504040204" pitchFamily="34" charset="0"/>
              <a:cs typeface="Verdana" panose="020B0604030504040204" pitchFamily="34" charset="0"/>
            </a:endParaRPr>
          </a:p>
        </p:txBody>
      </p:sp>
      <p:sp>
        <p:nvSpPr>
          <p:cNvPr id="5" name="Alliance_Labeling"/>
          <p:cNvSpPr txBox="1"/>
          <p:nvPr userDrawn="1"/>
        </p:nvSpPr>
        <p:spPr>
          <a:xfrm>
            <a:off x="10420423" y="6555209"/>
            <a:ext cx="1517577"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a:solidFill>
                  <a:srgbClr val="000000"/>
                </a:solidFill>
                <a:latin typeface="Verdana" panose="020B0604030504040204" pitchFamily="34" charset="0"/>
              </a:rPr>
              <a:t>Nissan Confidential C</a:t>
            </a:r>
            <a:endParaRPr kumimoji="1" lang="ja-JP" altLang="en-US" sz="1000" b="0">
              <a:solidFill>
                <a:srgbClr val="000000"/>
              </a:solidFill>
              <a:latin typeface="Verdana" panose="020B0604030504040204" pitchFamily="34" charset="0"/>
            </a:endParaRPr>
          </a:p>
        </p:txBody>
      </p:sp>
      <p:pic>
        <p:nvPicPr>
          <p:cNvPr id="7" name="図 6"/>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076329" y="293875"/>
            <a:ext cx="1861671" cy="358208"/>
          </a:xfrm>
          <a:prstGeom prst="rect">
            <a:avLst/>
          </a:prstGeom>
        </p:spPr>
      </p:pic>
    </p:spTree>
    <p:extLst>
      <p:ext uri="{BB962C8B-B14F-4D97-AF65-F5344CB8AC3E}">
        <p14:creationId xmlns:p14="http://schemas.microsoft.com/office/powerpoint/2010/main" val="1380264067"/>
      </p:ext>
    </p:extLst>
  </p:cSld>
  <p:clrMap bg1="lt1" tx1="dk1" bg2="lt2" tx2="dk2" accent1="accent1" accent2="accent2" accent3="accent3" accent4="accent4" accent5="accent5" accent6="accent6" hlink="hlink" folHlink="folHlink"/>
  <p:sldLayoutIdLst>
    <p:sldLayoutId id="2147483664" r:id="rId1"/>
    <p:sldLayoutId id="2147483672" r:id="rId2"/>
    <p:sldLayoutId id="2147483673" r:id="rId3"/>
    <p:sldLayoutId id="2147483674" r:id="rId4"/>
    <p:sldLayoutId id="2147483675" r:id="rId5"/>
    <p:sldLayoutId id="2147483676" r:id="rId6"/>
    <p:sldLayoutId id="2147483678" r:id="rId7"/>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7514" userDrawn="1">
          <p15:clr>
            <a:srgbClr val="F26B43"/>
          </p15:clr>
        </p15:guide>
        <p15:guide id="4" pos="166"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図 6"/>
          <p:cNvPicPr>
            <a:picLocks noChangeAspect="1"/>
          </p:cNvPicPr>
          <p:nvPr userDrawn="1"/>
        </p:nvPicPr>
        <p:blipFill rotWithShape="1">
          <a:blip r:embed="rId3" cstate="print">
            <a:extLst>
              <a:ext uri="{28A0092B-C50C-407E-A947-70E740481C1C}">
                <a14:useLocalDpi xmlns:a14="http://schemas.microsoft.com/office/drawing/2010/main" val="0"/>
              </a:ext>
            </a:extLst>
          </a:blip>
          <a:srcRect l="555" b="555"/>
          <a:stretch/>
        </p:blipFill>
        <p:spPr>
          <a:xfrm>
            <a:off x="0" y="0"/>
            <a:ext cx="12192000" cy="6858000"/>
          </a:xfrm>
          <a:prstGeom prst="rect">
            <a:avLst/>
          </a:prstGeom>
        </p:spPr>
      </p:pic>
      <p:sp>
        <p:nvSpPr>
          <p:cNvPr id="8" name="正方形/長方形 7"/>
          <p:cNvSpPr/>
          <p:nvPr userDrawn="1"/>
        </p:nvSpPr>
        <p:spPr>
          <a:xfrm flipH="1">
            <a:off x="0" y="0"/>
            <a:ext cx="12192000" cy="6858000"/>
          </a:xfrm>
          <a:prstGeom prst="rect">
            <a:avLst/>
          </a:prstGeom>
          <a:gradFill>
            <a:gsLst>
              <a:gs pos="0">
                <a:sysClr val="window" lastClr="FFFFFF">
                  <a:lumMod val="95000"/>
                  <a:alpha val="0"/>
                </a:sysClr>
              </a:gs>
              <a:gs pos="100000">
                <a:srgbClr val="B3B5B5">
                  <a:lumMod val="23000"/>
                  <a:lumOff val="77000"/>
                </a:srgbClr>
              </a:gs>
            </a:gsLst>
            <a:lin ang="3600000" scaled="0"/>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prstClr val="white"/>
              </a:solidFill>
              <a:effectLst/>
              <a:uLnTx/>
              <a:uFillTx/>
              <a:latin typeface="Calibri" panose="020F0502020204030204"/>
              <a:ea typeface="ＭＳ Ｐゴシック" panose="020B0600070205080204" pitchFamily="50" charset="-128"/>
              <a:cs typeface="+mn-cs"/>
            </a:endParaRPr>
          </a:p>
        </p:txBody>
      </p:sp>
      <p:sp>
        <p:nvSpPr>
          <p:cNvPr id="9" name="Alliance_Labeling"/>
          <p:cNvSpPr txBox="1"/>
          <p:nvPr userDrawn="1"/>
        </p:nvSpPr>
        <p:spPr>
          <a:xfrm>
            <a:off x="10420423" y="6555209"/>
            <a:ext cx="1517577" cy="226591"/>
          </a:xfrm>
          <a:prstGeom prst="rect">
            <a:avLst/>
          </a:prstGeom>
          <a:solidFill>
            <a:srgbClr val="FFFFFF"/>
          </a:solidFill>
          <a:ln w="12700" cmpd="sng">
            <a:solidFill>
              <a:srgbClr val="000000"/>
            </a:solidFill>
          </a:ln>
        </p:spPr>
        <p:txBody>
          <a:bodyPr vert="horz" wrap="none" lIns="72000" tIns="36000" rIns="72000" bIns="36000" rtlCol="0" anchor="ctr">
            <a:spAutoFit/>
          </a:bodyPr>
          <a:lstStyle/>
          <a:p>
            <a:pPr algn="ctr">
              <a:lnSpc>
                <a:spcPct val="100000"/>
              </a:lnSpc>
              <a:spcBef>
                <a:spcPct val="0"/>
              </a:spcBef>
              <a:spcAft>
                <a:spcPct val="0"/>
              </a:spcAft>
            </a:pPr>
            <a:r>
              <a:rPr kumimoji="1" lang="en-US" altLang="ja-JP" sz="1000" b="0">
                <a:solidFill>
                  <a:srgbClr val="000000"/>
                </a:solidFill>
                <a:latin typeface="Verdana" panose="020B0604030504040204" pitchFamily="34" charset="0"/>
              </a:rPr>
              <a:t>Nissan Confidential C</a:t>
            </a:r>
            <a:endParaRPr kumimoji="1" lang="ja-JP" altLang="en-US" sz="1000" b="0">
              <a:solidFill>
                <a:srgbClr val="000000"/>
              </a:solidFill>
              <a:latin typeface="Verdana" panose="020B0604030504040204" pitchFamily="34" charset="0"/>
            </a:endParaRPr>
          </a:p>
        </p:txBody>
      </p:sp>
      <p:pic>
        <p:nvPicPr>
          <p:cNvPr id="2" name="図 1"/>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424533" y="2701537"/>
            <a:ext cx="7342934" cy="1454926"/>
          </a:xfrm>
          <a:prstGeom prst="rect">
            <a:avLst/>
          </a:prstGeom>
        </p:spPr>
      </p:pic>
    </p:spTree>
    <p:extLst>
      <p:ext uri="{BB962C8B-B14F-4D97-AF65-F5344CB8AC3E}">
        <p14:creationId xmlns:p14="http://schemas.microsoft.com/office/powerpoint/2010/main" val="2721329474"/>
      </p:ext>
    </p:extLst>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jpeg"/><Relationship Id="rId18" Type="http://schemas.openxmlformats.org/officeDocument/2006/relationships/image" Target="../media/image25.png"/><Relationship Id="rId3" Type="http://schemas.openxmlformats.org/officeDocument/2006/relationships/image" Target="../media/image12.png"/><Relationship Id="rId21" Type="http://schemas.openxmlformats.org/officeDocument/2006/relationships/image" Target="../media/image28.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5" Type="http://schemas.openxmlformats.org/officeDocument/2006/relationships/image" Target="../media/image32.png"/><Relationship Id="rId2" Type="http://schemas.openxmlformats.org/officeDocument/2006/relationships/image" Target="../media/image11.png"/><Relationship Id="rId16" Type="http://schemas.openxmlformats.org/officeDocument/2006/relationships/image" Target="../media/image23.png"/><Relationship Id="rId20" Type="http://schemas.openxmlformats.org/officeDocument/2006/relationships/image" Target="../media/image27.png"/><Relationship Id="rId1" Type="http://schemas.openxmlformats.org/officeDocument/2006/relationships/slideLayout" Target="../slideLayouts/slideLayout9.xml"/><Relationship Id="rId6" Type="http://schemas.openxmlformats.org/officeDocument/2006/relationships/image" Target="../media/image14.svg"/><Relationship Id="rId11" Type="http://schemas.openxmlformats.org/officeDocument/2006/relationships/image" Target="../media/image18.jpeg"/><Relationship Id="rId24" Type="http://schemas.openxmlformats.org/officeDocument/2006/relationships/image" Target="../media/image31.png"/><Relationship Id="rId5" Type="http://schemas.openxmlformats.org/officeDocument/2006/relationships/image" Target="../media/image13.png"/><Relationship Id="rId15" Type="http://schemas.openxmlformats.org/officeDocument/2006/relationships/image" Target="../media/image22.png"/><Relationship Id="rId23" Type="http://schemas.openxmlformats.org/officeDocument/2006/relationships/image" Target="../media/image30.png"/><Relationship Id="rId10" Type="http://schemas.openxmlformats.org/officeDocument/2006/relationships/image" Target="../media/image17.png"/><Relationship Id="rId19" Type="http://schemas.openxmlformats.org/officeDocument/2006/relationships/image" Target="../media/image26.png"/><Relationship Id="rId4" Type="http://schemas.openxmlformats.org/officeDocument/2006/relationships/image" Target="../media/image12.svg"/><Relationship Id="rId9" Type="http://schemas.openxmlformats.org/officeDocument/2006/relationships/image" Target="../media/image16.png"/><Relationship Id="rId14" Type="http://schemas.openxmlformats.org/officeDocument/2006/relationships/image" Target="../media/image21.png"/><Relationship Id="rId22" Type="http://schemas.openxmlformats.org/officeDocument/2006/relationships/image" Target="../media/image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8.xml"/><Relationship Id="rId1" Type="http://schemas.openxmlformats.org/officeDocument/2006/relationships/vmlDrawing" Target="../drawings/vmlDrawing1.vml"/><Relationship Id="rId6" Type="http://schemas.openxmlformats.org/officeDocument/2006/relationships/image" Target="../media/image34.wmf"/><Relationship Id="rId5" Type="http://schemas.openxmlformats.org/officeDocument/2006/relationships/oleObject" Target="../embeddings/oleObject2.bin"/><Relationship Id="rId4" Type="http://schemas.openxmlformats.org/officeDocument/2006/relationships/image" Target="../media/image33.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プレースホルダー 3"/>
          <p:cNvSpPr>
            <a:spLocks noGrp="1"/>
          </p:cNvSpPr>
          <p:nvPr>
            <p:ph type="body" sz="quarter" idx="12"/>
          </p:nvPr>
        </p:nvSpPr>
        <p:spPr/>
        <p:txBody>
          <a:bodyPr/>
          <a:lstStyle/>
          <a:p>
            <a:r>
              <a:rPr kumimoji="1" lang="en-US" altLang="ja-JP" dirty="0"/>
              <a:t>DDI(Dealer Data Integration) PHI ERB Review</a:t>
            </a:r>
            <a:endParaRPr kumimoji="1" lang="ja-JP" altLang="en-US" dirty="0"/>
          </a:p>
        </p:txBody>
      </p:sp>
    </p:spTree>
    <p:extLst>
      <p:ext uri="{BB962C8B-B14F-4D97-AF65-F5344CB8AC3E}">
        <p14:creationId xmlns:p14="http://schemas.microsoft.com/office/powerpoint/2010/main" val="35158059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819887" y="123208"/>
            <a:ext cx="4962686" cy="365760"/>
          </a:xfrm>
        </p:spPr>
        <p:txBody>
          <a:bodyPr/>
          <a:lstStyle/>
          <a:p>
            <a:pPr algn="l"/>
            <a:r>
              <a:rPr lang="en-US" altLang="ja-JP" sz="2400" dirty="0">
                <a:latin typeface="Nissan Pro Bold" panose="02000803050000020004" pitchFamily="50" charset="0"/>
              </a:rPr>
              <a:t>ERB summary</a:t>
            </a:r>
            <a:endParaRPr lang="ja-JP" altLang="en-US" sz="2400" dirty="0">
              <a:latin typeface="Nissan Pro Bold" panose="02000803050000020004" pitchFamily="50" charset="0"/>
            </a:endParaRPr>
          </a:p>
        </p:txBody>
      </p:sp>
      <p:graphicFrame>
        <p:nvGraphicFramePr>
          <p:cNvPr id="6" name="表 4"/>
          <p:cNvGraphicFramePr>
            <a:graphicFrameLocks noGrp="1"/>
          </p:cNvGraphicFramePr>
          <p:nvPr>
            <p:extLst>
              <p:ext uri="{D42A27DB-BD31-4B8C-83A1-F6EECF244321}">
                <p14:modId xmlns:p14="http://schemas.microsoft.com/office/powerpoint/2010/main" val="1959464363"/>
              </p:ext>
            </p:extLst>
          </p:nvPr>
        </p:nvGraphicFramePr>
        <p:xfrm>
          <a:off x="196646" y="678427"/>
          <a:ext cx="11228437" cy="5835674"/>
        </p:xfrm>
        <a:graphic>
          <a:graphicData uri="http://schemas.openxmlformats.org/drawingml/2006/table">
            <a:tbl>
              <a:tblPr firstRow="1" bandRow="1">
                <a:tableStyleId>{69012ECD-51FC-41F1-AA8D-1B2483CD663E}</a:tableStyleId>
              </a:tblPr>
              <a:tblGrid>
                <a:gridCol w="1724549">
                  <a:extLst>
                    <a:ext uri="{9D8B030D-6E8A-4147-A177-3AD203B41FA5}">
                      <a16:colId xmlns:a16="http://schemas.microsoft.com/office/drawing/2014/main" val="20000"/>
                    </a:ext>
                  </a:extLst>
                </a:gridCol>
                <a:gridCol w="2081328">
                  <a:extLst>
                    <a:ext uri="{9D8B030D-6E8A-4147-A177-3AD203B41FA5}">
                      <a16:colId xmlns:a16="http://schemas.microsoft.com/office/drawing/2014/main" val="20001"/>
                    </a:ext>
                  </a:extLst>
                </a:gridCol>
                <a:gridCol w="5993763">
                  <a:extLst>
                    <a:ext uri="{9D8B030D-6E8A-4147-A177-3AD203B41FA5}">
                      <a16:colId xmlns:a16="http://schemas.microsoft.com/office/drawing/2014/main" val="398928002"/>
                    </a:ext>
                  </a:extLst>
                </a:gridCol>
                <a:gridCol w="1428797">
                  <a:extLst>
                    <a:ext uri="{9D8B030D-6E8A-4147-A177-3AD203B41FA5}">
                      <a16:colId xmlns:a16="http://schemas.microsoft.com/office/drawing/2014/main" val="20002"/>
                    </a:ext>
                  </a:extLst>
                </a:gridCol>
              </a:tblGrid>
              <a:tr h="344915">
                <a:tc>
                  <a:txBody>
                    <a:bodyPr/>
                    <a:lstStyle/>
                    <a:p>
                      <a:r>
                        <a:rPr kumimoji="1" lang="en-US" altLang="ja-JP" sz="1600" dirty="0"/>
                        <a:t>Item</a:t>
                      </a:r>
                      <a:endParaRPr kumimoji="1" lang="ja-JP" altLang="en-US" sz="1600" dirty="0">
                        <a:solidFill>
                          <a:schemeClr val="bg1"/>
                        </a:solidFill>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gridSpan="2">
                  <a:txBody>
                    <a:bodyPr/>
                    <a:lstStyle/>
                    <a:p>
                      <a:r>
                        <a:rPr kumimoji="1" lang="en-US" altLang="ja-JP" sz="1600" dirty="0"/>
                        <a:t>Selection</a:t>
                      </a:r>
                      <a:endParaRPr kumimoji="1" lang="ja-JP" altLang="en-US" sz="1600" dirty="0">
                        <a:solidFill>
                          <a:schemeClr val="bg1"/>
                        </a:solidFill>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hMerge="1">
                  <a:txBody>
                    <a:bodyPr/>
                    <a:lstStyle/>
                    <a:p>
                      <a:endParaRPr lang="en-US"/>
                    </a:p>
                  </a:txBody>
                  <a:tcPr/>
                </a:tc>
                <a:tc>
                  <a:txBody>
                    <a:bodyPr/>
                    <a:lstStyle/>
                    <a:p>
                      <a:r>
                        <a:rPr kumimoji="1" lang="en-US" altLang="ja-JP" sz="1600" dirty="0"/>
                        <a:t>Answer</a:t>
                      </a:r>
                      <a:endParaRPr kumimoji="1" lang="ja-JP" altLang="en-US" sz="1600" dirty="0">
                        <a:solidFill>
                          <a:schemeClr val="bg1"/>
                        </a:solidFill>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10000"/>
                  </a:ext>
                </a:extLst>
              </a:tr>
              <a:tr h="793911">
                <a:tc>
                  <a:txBody>
                    <a:bodyPr/>
                    <a:lstStyle/>
                    <a:p>
                      <a:r>
                        <a:rPr kumimoji="1" lang="en-US" altLang="ja-JP" sz="1400" dirty="0">
                          <a:latin typeface="+mn-lt"/>
                        </a:rPr>
                        <a:t>1. Request</a:t>
                      </a:r>
                      <a:r>
                        <a:rPr kumimoji="1" lang="en-US" altLang="ja-JP" sz="1400" baseline="0" dirty="0">
                          <a:latin typeface="+mn-lt"/>
                        </a:rPr>
                        <a:t> to ERB team - Category</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gridSpan="2">
                  <a:txBody>
                    <a:bodyPr/>
                    <a:lstStyle/>
                    <a:p>
                      <a:pPr marL="342900" indent="-342900">
                        <a:buFont typeface="+mj-lt"/>
                        <a:buAutoNum type="alphaUcPeriod"/>
                      </a:pPr>
                      <a:r>
                        <a:rPr kumimoji="1" lang="en-US" altLang="ja-JP" sz="1400" dirty="0">
                          <a:latin typeface="+mn-lt"/>
                        </a:rPr>
                        <a:t>Solution Consultation for Future ERB or </a:t>
                      </a:r>
                      <a:r>
                        <a:rPr kumimoji="1" lang="en-US" altLang="ja-JP" sz="1400" dirty="0" err="1">
                          <a:latin typeface="+mn-lt"/>
                        </a:rPr>
                        <a:t>PoC</a:t>
                      </a:r>
                      <a:endParaRPr kumimoji="1" lang="en-US" altLang="ja-JP" sz="1400" dirty="0">
                        <a:latin typeface="+mn-lt"/>
                      </a:endParaRPr>
                    </a:p>
                    <a:p>
                      <a:pPr marL="342900" indent="-342900">
                        <a:buFont typeface="+mj-lt"/>
                        <a:buAutoNum type="alphaUcPeriod"/>
                      </a:pPr>
                      <a:r>
                        <a:rPr kumimoji="1" lang="en-US" altLang="ja-JP" sz="1400" dirty="0">
                          <a:latin typeface="+mn-lt"/>
                        </a:rPr>
                        <a:t>Solution</a:t>
                      </a:r>
                      <a:r>
                        <a:rPr kumimoji="1" lang="en-US" altLang="ja-JP" sz="1400" baseline="0" dirty="0">
                          <a:latin typeface="+mn-lt"/>
                        </a:rPr>
                        <a:t> Pre-validation for ERB</a:t>
                      </a:r>
                    </a:p>
                    <a:p>
                      <a:pPr marL="342900" indent="-342900">
                        <a:buFont typeface="+mj-lt"/>
                        <a:buAutoNum type="alphaUcPeriod"/>
                      </a:pPr>
                      <a:r>
                        <a:rPr kumimoji="1" lang="en-US" altLang="ja-JP" sz="1400" baseline="0" dirty="0">
                          <a:latin typeface="+mn-lt"/>
                        </a:rPr>
                        <a:t>Solution Approval request to ERB for infra provision or CR for past ERB</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r>
                        <a:rPr kumimoji="1" lang="en-US" altLang="ja-JP" sz="1400" dirty="0" smtClean="0">
                          <a:latin typeface="+mn-lt"/>
                        </a:rPr>
                        <a:t>C</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0001"/>
                  </a:ext>
                </a:extLst>
              </a:tr>
              <a:tr h="323445">
                <a:tc rowSpan="2">
                  <a:txBody>
                    <a:bodyPr/>
                    <a:lstStyle/>
                    <a:p>
                      <a:r>
                        <a:rPr kumimoji="1" lang="en-US" altLang="ja-JP" sz="1400" dirty="0">
                          <a:latin typeface="+mn-lt"/>
                        </a:rPr>
                        <a:t>2. Application information</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gridSpan="2">
                  <a:txBody>
                    <a:bodyPr/>
                    <a:lstStyle/>
                    <a:p>
                      <a:pPr lvl="0"/>
                      <a:r>
                        <a:rPr kumimoji="1" lang="en-US" altLang="ja-JP" sz="1400" dirty="0">
                          <a:latin typeface="+mn-lt"/>
                        </a:rPr>
                        <a:t>A. New</a:t>
                      </a:r>
                      <a:r>
                        <a:rPr kumimoji="1" lang="en-US" altLang="ja-JP" sz="1400" baseline="0" dirty="0">
                          <a:latin typeface="+mn-lt"/>
                        </a:rPr>
                        <a:t> app / B. Existing app / C. Mixture</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r>
                        <a:rPr kumimoji="1" lang="en-US" altLang="ja-JP" sz="1400" dirty="0">
                          <a:latin typeface="+mn-lt"/>
                        </a:rPr>
                        <a:t>B</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2961565172"/>
                  </a:ext>
                </a:extLst>
              </a:tr>
              <a:tr h="323445">
                <a:tc vMerge="1">
                  <a:txBody>
                    <a:bodyPr/>
                    <a:lstStyle/>
                    <a:p>
                      <a:endParaRPr lang="en-US"/>
                    </a:p>
                  </a:txBody>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400" baseline="0" dirty="0">
                          <a:latin typeface="+mn-lt"/>
                        </a:rPr>
                        <a:t>A. Global app / B. Regional app / C. Local app</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r>
                        <a:rPr kumimoji="1" lang="en-US" altLang="ja-JP" sz="1400" dirty="0">
                          <a:latin typeface="+mn-lt"/>
                        </a:rPr>
                        <a:t>A</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229871955"/>
                  </a:ext>
                </a:extLst>
              </a:tr>
              <a:tr h="793911">
                <a:tc rowSpan="4">
                  <a:txBody>
                    <a:bodyPr/>
                    <a:lstStyle/>
                    <a:p>
                      <a:r>
                        <a:rPr kumimoji="1" lang="en-US" altLang="ja-JP" sz="1400" dirty="0">
                          <a:latin typeface="+mn-lt"/>
                        </a:rPr>
                        <a:t>3.Solution</a:t>
                      </a:r>
                      <a:r>
                        <a:rPr kumimoji="1" lang="en-US" altLang="ja-JP" sz="1400" baseline="0" dirty="0">
                          <a:latin typeface="+mn-lt"/>
                        </a:rPr>
                        <a:t> Summary</a:t>
                      </a:r>
                    </a:p>
                    <a:p>
                      <a:endParaRPr kumimoji="1" lang="en-US" altLang="ja-JP"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r>
                        <a:rPr kumimoji="1" lang="en-US" altLang="ja-JP" sz="1400" dirty="0">
                          <a:latin typeface="+mn-lt"/>
                        </a:rPr>
                        <a:t>Platform</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pPr marL="342900" lvl="0" indent="-342900">
                        <a:buFont typeface="+mj-lt"/>
                        <a:buAutoNum type="alphaUcPeriod"/>
                      </a:pPr>
                      <a:r>
                        <a:rPr kumimoji="1" lang="en-US" altLang="ja-JP" sz="1400" dirty="0">
                          <a:latin typeface="+mn-lt"/>
                        </a:rPr>
                        <a:t>Mixture of On-premise/Cloud</a:t>
                      </a:r>
                    </a:p>
                    <a:p>
                      <a:pPr marL="342900" lvl="0" indent="-342900">
                        <a:buFont typeface="+mj-lt"/>
                        <a:buAutoNum type="alphaUcPeriod"/>
                      </a:pPr>
                      <a:r>
                        <a:rPr kumimoji="1" lang="en-US" altLang="ja-JP" sz="1400" dirty="0">
                          <a:latin typeface="+mn-lt"/>
                        </a:rPr>
                        <a:t>Cloud</a:t>
                      </a:r>
                      <a:r>
                        <a:rPr kumimoji="1" lang="en-US" altLang="ja-JP" sz="1400" baseline="0" dirty="0">
                          <a:latin typeface="+mn-lt"/>
                        </a:rPr>
                        <a:t> only</a:t>
                      </a:r>
                    </a:p>
                    <a:p>
                      <a:pPr marL="342900" lvl="0" indent="-342900">
                        <a:buFont typeface="+mj-lt"/>
                        <a:buAutoNum type="alphaUcPeriod"/>
                      </a:pPr>
                      <a:r>
                        <a:rPr kumimoji="1" lang="en-US" altLang="ja-JP" sz="1400" baseline="0" dirty="0">
                          <a:latin typeface="+mn-lt"/>
                        </a:rPr>
                        <a:t>On-premise only</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r>
                        <a:rPr kumimoji="1" lang="en-US" altLang="ja-JP" sz="1400" dirty="0">
                          <a:latin typeface="+mn-lt"/>
                        </a:rPr>
                        <a:t>A</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0002"/>
                  </a:ext>
                </a:extLst>
              </a:tr>
              <a:tr h="793911">
                <a:tc vMerge="1">
                  <a:txBody>
                    <a:bodyPr/>
                    <a:lstStyle/>
                    <a:p>
                      <a:endParaRPr lang="en-US"/>
                    </a:p>
                  </a:txBody>
                  <a:tcPr/>
                </a:tc>
                <a:tc>
                  <a:txBody>
                    <a:bodyPr/>
                    <a:lstStyle/>
                    <a:p>
                      <a:r>
                        <a:rPr kumimoji="1" lang="en-US" altLang="ja-JP" sz="1400" baseline="0" dirty="0">
                          <a:latin typeface="+mn-lt"/>
                        </a:rPr>
                        <a:t>Application Architecture</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pPr marL="342900" lvl="0" indent="-342900">
                        <a:buFont typeface="+mj-lt"/>
                        <a:buAutoNum type="alphaUcPeriod"/>
                      </a:pPr>
                      <a:r>
                        <a:rPr kumimoji="1" lang="en-US" altLang="ja-JP" sz="1400" baseline="0" dirty="0">
                          <a:latin typeface="+mn-lt"/>
                        </a:rPr>
                        <a:t>Package Software only</a:t>
                      </a:r>
                    </a:p>
                    <a:p>
                      <a:pPr marL="342900" lvl="0" indent="-342900">
                        <a:buFont typeface="+mj-lt"/>
                        <a:buAutoNum type="alphaUcPeriod"/>
                      </a:pPr>
                      <a:r>
                        <a:rPr kumimoji="1" lang="en-US" altLang="ja-JP" sz="1400" baseline="0" dirty="0">
                          <a:latin typeface="+mn-lt"/>
                        </a:rPr>
                        <a:t>Scratch only</a:t>
                      </a:r>
                    </a:p>
                    <a:p>
                      <a:pPr marL="342900" lvl="0" indent="-342900">
                        <a:buFont typeface="+mj-lt"/>
                        <a:buAutoNum type="alphaUcPeriod"/>
                      </a:pPr>
                      <a:r>
                        <a:rPr kumimoji="1" lang="en-US" altLang="ja-JP" sz="1400" baseline="0" dirty="0">
                          <a:latin typeface="+mn-lt"/>
                        </a:rPr>
                        <a:t>Mixture of PKG and Scratch</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r>
                        <a:rPr kumimoji="1" lang="en-US" altLang="ja-JP" sz="1400" dirty="0">
                          <a:latin typeface="+mn-lt"/>
                        </a:rPr>
                        <a:t>C</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2754674659"/>
                  </a:ext>
                </a:extLst>
              </a:tr>
              <a:tr h="558678">
                <a:tc vMerge="1">
                  <a:txBody>
                    <a:bodyPr/>
                    <a:lstStyle/>
                    <a:p>
                      <a:endParaRPr lang="en-US"/>
                    </a:p>
                  </a:txBody>
                  <a:tcPr/>
                </a:tc>
                <a:tc>
                  <a:txBody>
                    <a:bodyPr/>
                    <a:lstStyle/>
                    <a:p>
                      <a:r>
                        <a:rPr kumimoji="1" lang="en-US" altLang="ja-JP" sz="1400" baseline="0" dirty="0">
                          <a:latin typeface="+mn-lt"/>
                        </a:rPr>
                        <a:t>Technology Components</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pPr marL="342900" lvl="0" indent="-342900">
                        <a:buFont typeface="+mj-lt"/>
                        <a:buAutoNum type="alphaUcPeriod"/>
                      </a:pPr>
                      <a:r>
                        <a:rPr kumimoji="1" lang="en-US" altLang="ja-JP" sz="1400" baseline="0" dirty="0">
                          <a:latin typeface="+mn-lt"/>
                        </a:rPr>
                        <a:t>DTS-complied product only</a:t>
                      </a:r>
                    </a:p>
                    <a:p>
                      <a:pPr marL="342900" lvl="0" indent="-342900">
                        <a:buFont typeface="+mj-lt"/>
                        <a:buAutoNum type="alphaUcPeriod"/>
                      </a:pPr>
                      <a:r>
                        <a:rPr kumimoji="1" lang="en-US" altLang="ja-JP" sz="1400" baseline="0" dirty="0">
                          <a:latin typeface="+mn-lt"/>
                        </a:rPr>
                        <a:t>New product included</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r>
                        <a:rPr kumimoji="1" lang="en-US" altLang="ja-JP" sz="1400" dirty="0">
                          <a:latin typeface="+mn-lt"/>
                        </a:rPr>
                        <a:t>A</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2034240854"/>
                  </a:ext>
                </a:extLst>
              </a:tr>
              <a:tr h="558678">
                <a:tc vMerge="1">
                  <a:txBody>
                    <a:bodyPr/>
                    <a:lstStyle/>
                    <a:p>
                      <a:endParaRPr lang="en-US"/>
                    </a:p>
                  </a:txBody>
                  <a:tcPr/>
                </a:tc>
                <a:tc>
                  <a:txBody>
                    <a:bodyPr/>
                    <a:lstStyle/>
                    <a:p>
                      <a:r>
                        <a:rPr kumimoji="1" lang="en-US" altLang="ja-JP" sz="1400" dirty="0">
                          <a:latin typeface="+mn-lt"/>
                        </a:rPr>
                        <a:t>Interfaces</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pPr marL="342900" lvl="0" indent="-342900">
                        <a:buFont typeface="+mj-lt"/>
                        <a:buAutoNum type="alphaUcPeriod"/>
                      </a:pPr>
                      <a:r>
                        <a:rPr kumimoji="1" lang="en-US" altLang="ja-JP" sz="1400" dirty="0">
                          <a:latin typeface="+mn-lt"/>
                        </a:rPr>
                        <a:t>Internal only(No</a:t>
                      </a:r>
                      <a:r>
                        <a:rPr kumimoji="1" lang="en-US" altLang="ja-JP" sz="1400" baseline="0" dirty="0">
                          <a:latin typeface="+mn-lt"/>
                        </a:rPr>
                        <a:t> internet based I/F</a:t>
                      </a:r>
                      <a:r>
                        <a:rPr kumimoji="1" lang="en-US" altLang="ja-JP" sz="1400" dirty="0">
                          <a:latin typeface="+mn-lt"/>
                        </a:rPr>
                        <a:t>)</a:t>
                      </a:r>
                    </a:p>
                    <a:p>
                      <a:pPr marL="342900" lvl="0" indent="-342900">
                        <a:buFont typeface="+mj-lt"/>
                        <a:buAutoNum type="alphaUcPeriod"/>
                      </a:pPr>
                      <a:r>
                        <a:rPr kumimoji="1" lang="en-US" altLang="ja-JP" sz="1400" dirty="0">
                          <a:latin typeface="+mn-lt"/>
                        </a:rPr>
                        <a:t>External included(Internet based</a:t>
                      </a:r>
                      <a:r>
                        <a:rPr kumimoji="1" lang="en-US" altLang="ja-JP" sz="1400" baseline="0" dirty="0">
                          <a:latin typeface="+mn-lt"/>
                        </a:rPr>
                        <a:t> I/F</a:t>
                      </a:r>
                      <a:r>
                        <a:rPr kumimoji="1" lang="en-US" altLang="ja-JP" sz="1400" dirty="0">
                          <a:latin typeface="+mn-lt"/>
                        </a:rPr>
                        <a:t>)  </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a:txBody>
                    <a:bodyPr/>
                    <a:lstStyle/>
                    <a:p>
                      <a:r>
                        <a:rPr kumimoji="1" lang="en-US" altLang="ja-JP" sz="1400" dirty="0">
                          <a:latin typeface="+mn-lt"/>
                        </a:rPr>
                        <a:t>B</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980988345"/>
                  </a:ext>
                </a:extLst>
              </a:tr>
              <a:tr h="323445">
                <a:tc rowSpan="2">
                  <a:txBody>
                    <a:bodyPr/>
                    <a:lstStyle/>
                    <a:p>
                      <a:r>
                        <a:rPr kumimoji="1" lang="en-US" altLang="ja-JP" sz="1400" dirty="0">
                          <a:latin typeface="+mn-lt"/>
                        </a:rPr>
                        <a:t>4. Phase</a:t>
                      </a:r>
                      <a:r>
                        <a:rPr kumimoji="1" lang="en-US" altLang="ja-JP" sz="1400" baseline="0" dirty="0">
                          <a:latin typeface="+mn-lt"/>
                        </a:rPr>
                        <a:t> and Schedule</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gridSpan="2">
                  <a:txBody>
                    <a:bodyPr/>
                    <a:lstStyle/>
                    <a:p>
                      <a:r>
                        <a:rPr kumimoji="1" lang="en-US" altLang="ja-JP" sz="1400" dirty="0">
                          <a:latin typeface="+mn-lt"/>
                        </a:rPr>
                        <a:t>Project Current Phase</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r>
                        <a:rPr kumimoji="1" lang="en-US" altLang="ja-JP" sz="1400" dirty="0">
                          <a:latin typeface="+mn-lt"/>
                        </a:rPr>
                        <a:t>Initiation</a:t>
                      </a:r>
                      <a:endParaRPr kumimoji="1" lang="ja-JP" altLang="en-US"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0004"/>
                  </a:ext>
                </a:extLst>
              </a:tr>
              <a:tr h="323445">
                <a:tc vMerge="1">
                  <a:txBody>
                    <a:bodyPr/>
                    <a:lstStyle/>
                    <a:p>
                      <a:endParaRPr lang="en-US"/>
                    </a:p>
                  </a:txBody>
                  <a:tcPr/>
                </a:tc>
                <a:tc gridSpan="2">
                  <a:txBody>
                    <a:bodyPr/>
                    <a:lstStyle/>
                    <a:p>
                      <a:r>
                        <a:rPr kumimoji="1" lang="en-US" altLang="ja-JP" sz="1400" dirty="0">
                          <a:latin typeface="+mn-lt"/>
                        </a:rPr>
                        <a:t>Expected</a:t>
                      </a:r>
                      <a:r>
                        <a:rPr kumimoji="1" lang="en-US" altLang="ja-JP" sz="1400" baseline="0" dirty="0">
                          <a:latin typeface="+mn-lt"/>
                        </a:rPr>
                        <a:t> Go Live (YYYYMM)</a:t>
                      </a:r>
                      <a:endParaRPr kumimoji="1" lang="en-US" altLang="ja-JP"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r>
                        <a:rPr kumimoji="1" lang="fr-FR" altLang="ja-JP" sz="1400" smtClean="0">
                          <a:solidFill>
                            <a:schemeClr val="tx1"/>
                          </a:solidFill>
                          <a:latin typeface="+mn-lt"/>
                        </a:rPr>
                        <a:t>Nov. </a:t>
                      </a:r>
                      <a:r>
                        <a:rPr kumimoji="1" lang="fr-FR" altLang="ja-JP" sz="1400" dirty="0">
                          <a:solidFill>
                            <a:schemeClr val="tx1"/>
                          </a:solidFill>
                          <a:latin typeface="+mn-lt"/>
                        </a:rPr>
                        <a:t>2021</a:t>
                      </a:r>
                      <a:endParaRPr kumimoji="1" lang="ja-JP" altLang="en-US" sz="1400" dirty="0">
                        <a:solidFill>
                          <a:schemeClr val="tx1"/>
                        </a:solidFill>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548061282"/>
                  </a:ext>
                </a:extLst>
              </a:tr>
              <a:tr h="697890">
                <a:tc>
                  <a:txBody>
                    <a:bodyPr/>
                    <a:lstStyle/>
                    <a:p>
                      <a:r>
                        <a:rPr kumimoji="1" lang="en-US" altLang="ja-JP" sz="1400" dirty="0">
                          <a:latin typeface="+mn-lt"/>
                        </a:rPr>
                        <a:t>5. Internal Review Status</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gridSpan="2">
                  <a:txBody>
                    <a:bodyPr/>
                    <a:lstStyle/>
                    <a:p>
                      <a:r>
                        <a:rPr kumimoji="1" lang="en-US" altLang="ja-JP" sz="1400" dirty="0">
                          <a:latin typeface="+mn-lt"/>
                        </a:rPr>
                        <a:t>Comment/Specific review points </a:t>
                      </a:r>
                      <a:r>
                        <a:rPr kumimoji="1" lang="en-US" altLang="ja-JP" sz="1400" baseline="0" dirty="0">
                          <a:latin typeface="+mn-lt"/>
                        </a:rPr>
                        <a:t>from App Owner Manager</a:t>
                      </a:r>
                      <a:endParaRPr kumimoji="1" lang="en-US" altLang="ja-JP" sz="1400" dirty="0">
                        <a:latin typeface="+mn-lt"/>
                      </a:endParaRP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tc hMerge="1">
                  <a:txBody>
                    <a:bodyPr/>
                    <a:lstStyle/>
                    <a:p>
                      <a:endParaRPr lang="en-US"/>
                    </a:p>
                  </a:txBody>
                  <a:tcPr/>
                </a:tc>
                <a:tc>
                  <a:txBody>
                    <a:bodyPr/>
                    <a:lstStyle/>
                    <a:p>
                      <a:pPr marL="0" algn="l" defTabSz="914400" rtl="0" eaLnBrk="1" latinLnBrk="0" hangingPunct="1"/>
                      <a:r>
                        <a:rPr kumimoji="1" lang="en-IN" sz="1400" kern="1200" dirty="0">
                          <a:solidFill>
                            <a:schemeClr val="tx1"/>
                          </a:solidFill>
                          <a:latin typeface="+mn-lt"/>
                          <a:ea typeface="+mn-ea"/>
                          <a:cs typeface="+mn-cs"/>
                        </a:rPr>
                        <a:t>E. PRAKASAN</a:t>
                      </a:r>
                    </a:p>
                  </a:txBody>
                  <a:tcP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594606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5550" y="270007"/>
            <a:ext cx="8771914" cy="457200"/>
          </a:xfrm>
        </p:spPr>
        <p:txBody>
          <a:bodyPr/>
          <a:lstStyle/>
          <a:p>
            <a:r>
              <a:rPr lang="en-US" altLang="ja-JP" dirty="0"/>
              <a:t>Index</a:t>
            </a:r>
            <a:endParaRPr kumimoji="1" lang="ja-JP" altLang="en-US" dirty="0"/>
          </a:p>
        </p:txBody>
      </p:sp>
      <p:sp>
        <p:nvSpPr>
          <p:cNvPr id="3" name="テキスト ボックス 2"/>
          <p:cNvSpPr txBox="1"/>
          <p:nvPr/>
        </p:nvSpPr>
        <p:spPr>
          <a:xfrm>
            <a:off x="1937238" y="1125415"/>
            <a:ext cx="6515100" cy="3260123"/>
          </a:xfrm>
          <a:prstGeom prst="rect">
            <a:avLst/>
          </a:prstGeom>
          <a:noFill/>
        </p:spPr>
        <p:txBody>
          <a:bodyPr wrap="square" rtlCol="0">
            <a:spAutoFit/>
          </a:bodyPr>
          <a:lstStyle/>
          <a:p>
            <a:pPr marL="342900" indent="-342900">
              <a:buAutoNum type="arabicPeriod"/>
            </a:pPr>
            <a:r>
              <a:rPr lang="en-US" altLang="ja-JP" dirty="0">
                <a:latin typeface="+mj-lt"/>
              </a:rPr>
              <a:t>Problem Statement/Project Context --  4 - </a:t>
            </a:r>
            <a:r>
              <a:rPr lang="en-US" altLang="ja-JP" dirty="0" smtClean="0">
                <a:latin typeface="+mj-lt"/>
              </a:rPr>
              <a:t>6</a:t>
            </a:r>
            <a:endParaRPr lang="en-US" altLang="ja-JP" dirty="0">
              <a:latin typeface="+mj-lt"/>
            </a:endParaRPr>
          </a:p>
          <a:p>
            <a:pPr marL="342900" indent="-342900">
              <a:buAutoNum type="arabicPeriod"/>
            </a:pPr>
            <a:r>
              <a:rPr lang="en-US" altLang="ja-JP" dirty="0">
                <a:latin typeface="+mj-lt"/>
              </a:rPr>
              <a:t>Solution Approach  -- 7</a:t>
            </a:r>
            <a:r>
              <a:rPr lang="en-US" altLang="ja-JP" dirty="0" smtClean="0">
                <a:latin typeface="+mj-lt"/>
              </a:rPr>
              <a:t>-8</a:t>
            </a:r>
            <a:endParaRPr lang="en-US" altLang="ja-JP" dirty="0">
              <a:latin typeface="+mj-lt"/>
            </a:endParaRPr>
          </a:p>
          <a:p>
            <a:pPr marL="342900" indent="-342900">
              <a:buAutoNum type="arabicPeriod"/>
            </a:pPr>
            <a:r>
              <a:rPr lang="en-US" altLang="ja-JP" dirty="0">
                <a:latin typeface="+mj-lt"/>
              </a:rPr>
              <a:t>Conceptual diagram &amp; Data Sources -- 9-10</a:t>
            </a:r>
          </a:p>
          <a:p>
            <a:pPr marL="342900" indent="-342900">
              <a:buAutoNum type="arabicPeriod"/>
            </a:pPr>
            <a:r>
              <a:rPr lang="en-US" altLang="ja-JP" dirty="0">
                <a:latin typeface="+mj-lt"/>
              </a:rPr>
              <a:t>Data Flow &amp; Deployment architecture --  </a:t>
            </a:r>
            <a:r>
              <a:rPr lang="en-US" altLang="ja-JP" dirty="0" smtClean="0">
                <a:latin typeface="+mj-lt"/>
              </a:rPr>
              <a:t>12-14</a:t>
            </a:r>
            <a:endParaRPr lang="en-US" altLang="ja-JP" dirty="0">
              <a:latin typeface="+mj-lt"/>
            </a:endParaRPr>
          </a:p>
          <a:p>
            <a:pPr marL="342900" indent="-342900">
              <a:buAutoNum type="arabicPeriod"/>
            </a:pPr>
            <a:r>
              <a:rPr lang="en-US" altLang="ja-JP" dirty="0">
                <a:latin typeface="+mj-lt"/>
              </a:rPr>
              <a:t>Security &amp; Data Privacy – </a:t>
            </a:r>
            <a:r>
              <a:rPr lang="en-US" altLang="ja-JP" dirty="0" smtClean="0">
                <a:latin typeface="+mj-lt"/>
              </a:rPr>
              <a:t>14 </a:t>
            </a:r>
            <a:r>
              <a:rPr lang="en-US" altLang="ja-JP" dirty="0">
                <a:latin typeface="+mj-lt"/>
              </a:rPr>
              <a:t>– </a:t>
            </a:r>
            <a:r>
              <a:rPr lang="en-US" altLang="ja-JP" dirty="0" smtClean="0">
                <a:latin typeface="+mj-lt"/>
              </a:rPr>
              <a:t>17</a:t>
            </a:r>
            <a:endParaRPr lang="en-US" altLang="ja-JP" dirty="0">
              <a:latin typeface="+mj-lt"/>
            </a:endParaRPr>
          </a:p>
          <a:p>
            <a:pPr marL="342900" indent="-342900">
              <a:buAutoNum type="arabicPeriod"/>
            </a:pPr>
            <a:r>
              <a:rPr lang="en-US" dirty="0">
                <a:latin typeface="+mj-lt"/>
              </a:rPr>
              <a:t>Application Tech stack &amp; NFR – </a:t>
            </a:r>
            <a:r>
              <a:rPr lang="en-US" dirty="0" smtClean="0">
                <a:latin typeface="+mj-lt"/>
              </a:rPr>
              <a:t>18 -22 </a:t>
            </a:r>
            <a:endParaRPr lang="en-US" altLang="ja-JP" dirty="0">
              <a:latin typeface="+mj-lt"/>
            </a:endParaRPr>
          </a:p>
          <a:p>
            <a:pPr marL="342900" indent="-342900">
              <a:buAutoNum type="arabicPeriod"/>
            </a:pPr>
            <a:endParaRPr lang="en-US" altLang="ja-JP" dirty="0">
              <a:latin typeface="+mj-lt"/>
            </a:endParaRPr>
          </a:p>
          <a:p>
            <a:pPr marL="342900" indent="-342900">
              <a:buAutoNum type="arabicPeriod"/>
            </a:pPr>
            <a:endParaRPr lang="en-US" altLang="ja-JP" dirty="0">
              <a:latin typeface="+mj-lt"/>
            </a:endParaRPr>
          </a:p>
          <a:p>
            <a:pPr marL="342900" indent="-342900">
              <a:buAutoNum type="arabicPeriod"/>
            </a:pPr>
            <a:endParaRPr lang="en-US" altLang="ja-JP" dirty="0">
              <a:latin typeface="+mj-lt"/>
            </a:endParaRPr>
          </a:p>
          <a:p>
            <a:pPr marL="342900" indent="-342900">
              <a:buAutoNum type="arabicPeriod"/>
            </a:pPr>
            <a:endParaRPr lang="en-US" altLang="ja-JP" dirty="0">
              <a:latin typeface="+mj-lt"/>
            </a:endParaRPr>
          </a:p>
        </p:txBody>
      </p:sp>
    </p:spTree>
    <p:extLst>
      <p:ext uri="{BB962C8B-B14F-4D97-AF65-F5344CB8AC3E}">
        <p14:creationId xmlns:p14="http://schemas.microsoft.com/office/powerpoint/2010/main" val="1712798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1098935" y="217130"/>
            <a:ext cx="8212895" cy="669925"/>
          </a:xfrm>
        </p:spPr>
        <p:txBody>
          <a:bodyPr/>
          <a:lstStyle/>
          <a:p>
            <a:r>
              <a:rPr lang="en-US" sz="2800" dirty="0">
                <a:latin typeface="Nissan Brand Regular" panose="020B0504020204030204" pitchFamily="34" charset="0"/>
              </a:rPr>
              <a:t>Project Background - DDI</a:t>
            </a:r>
            <a:endParaRPr lang="ja-JP" altLang="en-US" sz="2585" u="sng" dirty="0">
              <a:latin typeface="NissanAG-Bold" pitchFamily="50" charset="0"/>
              <a:ea typeface="NissanAG-Bold" pitchFamily="50" charset="0"/>
              <a:cs typeface="Verdana" pitchFamily="34" charset="0"/>
            </a:endParaRPr>
          </a:p>
        </p:txBody>
      </p:sp>
      <p:sp>
        <p:nvSpPr>
          <p:cNvPr id="5" name="Rectangle 4"/>
          <p:cNvSpPr/>
          <p:nvPr/>
        </p:nvSpPr>
        <p:spPr>
          <a:xfrm>
            <a:off x="423333" y="887055"/>
            <a:ext cx="3488267" cy="5770811"/>
          </a:xfrm>
          <a:prstGeom prst="rect">
            <a:avLst/>
          </a:prstGeom>
        </p:spPr>
        <p:txBody>
          <a:bodyPr wrap="square">
            <a:spAutoFit/>
          </a:bodyPr>
          <a:lstStyle/>
          <a:p>
            <a:r>
              <a:rPr lang="en-US" sz="1500" b="1" u="sng" dirty="0">
                <a:latin typeface="Segoe UI" panose="020B0502040204020203" pitchFamily="34" charset="0"/>
                <a:cs typeface="Segoe UI" panose="020B0502040204020203" pitchFamily="34" charset="0"/>
              </a:rPr>
              <a:t>DDI Background: </a:t>
            </a:r>
          </a:p>
          <a:p>
            <a:r>
              <a:rPr lang="en-US" sz="1500" dirty="0">
                <a:latin typeface="Segoe UI" panose="020B0502040204020203" pitchFamily="34" charset="0"/>
                <a:ea typeface="+mn-ea"/>
                <a:cs typeface="Segoe UI" panose="020B0502040204020203" pitchFamily="34" charset="0"/>
              </a:rPr>
              <a:t>Until now, Nissan has not set a concrete scalable DMS strategy.</a:t>
            </a:r>
          </a:p>
          <a:p>
            <a:r>
              <a:rPr lang="en-US" sz="1500" dirty="0">
                <a:latin typeface="Segoe UI" panose="020B0502040204020203" pitchFamily="34" charset="0"/>
                <a:ea typeface="+mn-ea"/>
                <a:cs typeface="Segoe UI" panose="020B0502040204020203" pitchFamily="34" charset="0"/>
              </a:rPr>
              <a:t> As a result:</a:t>
            </a:r>
          </a:p>
          <a:p>
            <a:endParaRPr lang="en-US" sz="1500" dirty="0">
              <a:latin typeface="Segoe UI" panose="020B0502040204020203" pitchFamily="34" charset="0"/>
              <a:ea typeface="+mn-ea"/>
              <a:cs typeface="Segoe UI" panose="020B0502040204020203" pitchFamily="34" charset="0"/>
            </a:endParaRPr>
          </a:p>
          <a:p>
            <a:pPr marL="342900" lvl="0" indent="-342900">
              <a:buFont typeface="Wingdings" panose="05000000000000000000" pitchFamily="2" charset="2"/>
              <a:buChar char="Ø"/>
            </a:pPr>
            <a:r>
              <a:rPr lang="en-US" sz="1500" b="1" dirty="0">
                <a:latin typeface="Segoe UI" panose="020B0502040204020203" pitchFamily="34" charset="0"/>
                <a:ea typeface="+mn-ea"/>
                <a:cs typeface="Segoe UI" panose="020B0502040204020203" pitchFamily="34" charset="0"/>
              </a:rPr>
              <a:t>Poor connections: </a:t>
            </a:r>
            <a:r>
              <a:rPr lang="en-US" sz="1500" dirty="0">
                <a:latin typeface="Segoe UI" panose="020B0502040204020203" pitchFamily="34" charset="0"/>
                <a:ea typeface="+mn-ea"/>
                <a:cs typeface="Segoe UI" panose="020B0502040204020203" pitchFamily="34" charset="0"/>
              </a:rPr>
              <a:t>Data exchange is inconsistent between DMS to Nissan backend systems.</a:t>
            </a:r>
          </a:p>
          <a:p>
            <a:pPr marL="342900" indent="-342900">
              <a:buFont typeface="Wingdings" panose="05000000000000000000" pitchFamily="2" charset="2"/>
              <a:buChar char="Ø"/>
            </a:pPr>
            <a:r>
              <a:rPr lang="en-US" sz="1500" b="1" dirty="0">
                <a:latin typeface="Segoe UI" panose="020B0502040204020203" pitchFamily="34" charset="0"/>
                <a:ea typeface="+mn-ea"/>
                <a:cs typeface="Segoe UI" panose="020B0502040204020203" pitchFamily="34" charset="0"/>
              </a:rPr>
              <a:t>More DMS vendors : </a:t>
            </a:r>
            <a:r>
              <a:rPr lang="en-US" sz="1500" dirty="0">
                <a:latin typeface="Segoe UI" panose="020B0502040204020203" pitchFamily="34" charset="0"/>
                <a:ea typeface="+mn-ea"/>
                <a:cs typeface="Segoe UI" panose="020B0502040204020203" pitchFamily="34" charset="0"/>
              </a:rPr>
              <a:t>Difficult to manage 200+ </a:t>
            </a:r>
            <a:r>
              <a:rPr lang="en-US" sz="1500" dirty="0" err="1">
                <a:latin typeface="Segoe UI" panose="020B0502040204020203" pitchFamily="34" charset="0"/>
                <a:ea typeface="+mn-ea"/>
                <a:cs typeface="Segoe UI" panose="020B0502040204020203" pitchFamily="34" charset="0"/>
              </a:rPr>
              <a:t>dms</a:t>
            </a:r>
            <a:r>
              <a:rPr lang="en-US" sz="1500" dirty="0">
                <a:latin typeface="Segoe UI" panose="020B0502040204020203" pitchFamily="34" charset="0"/>
                <a:ea typeface="+mn-ea"/>
                <a:cs typeface="Segoe UI" panose="020B0502040204020203" pitchFamily="34" charset="0"/>
              </a:rPr>
              <a:t> vendors across the region.</a:t>
            </a:r>
          </a:p>
          <a:p>
            <a:pPr marL="342900" indent="-342900">
              <a:buFont typeface="Wingdings" panose="05000000000000000000" pitchFamily="2" charset="2"/>
              <a:buChar char="Ø"/>
            </a:pPr>
            <a:r>
              <a:rPr lang="en-US" sz="1500" b="1" dirty="0">
                <a:latin typeface="Segoe UI" panose="020B0502040204020203" pitchFamily="34" charset="0"/>
                <a:ea typeface="+mn-ea"/>
                <a:cs typeface="Segoe UI" panose="020B0502040204020203" pitchFamily="34" charset="0"/>
              </a:rPr>
              <a:t>Data Quality issues : </a:t>
            </a:r>
            <a:r>
              <a:rPr lang="en-US" sz="1500" dirty="0">
                <a:latin typeface="Segoe UI" panose="020B0502040204020203" pitchFamily="34" charset="0"/>
                <a:ea typeface="+mn-ea"/>
                <a:cs typeface="Segoe UI" panose="020B0502040204020203" pitchFamily="34" charset="0"/>
              </a:rPr>
              <a:t>This situation left us with very limited interfaces between Nissan Philippines systems and DMS  systems. Data quality issues due to manual entry of data.</a:t>
            </a:r>
          </a:p>
          <a:p>
            <a:pPr marL="342900" indent="-342900">
              <a:buFont typeface="Wingdings" panose="05000000000000000000" pitchFamily="2" charset="2"/>
              <a:buChar char="Ø"/>
            </a:pPr>
            <a:endParaRPr lang="en-US" sz="1500" u="sng" dirty="0">
              <a:latin typeface="Segoe UI" panose="020B0502040204020203" pitchFamily="34" charset="0"/>
              <a:ea typeface="+mn-ea"/>
              <a:cs typeface="Segoe UI" panose="020B0502040204020203" pitchFamily="34" charset="0"/>
            </a:endParaRPr>
          </a:p>
          <a:p>
            <a:r>
              <a:rPr lang="en-US" sz="1500" b="1" u="sng" dirty="0">
                <a:latin typeface="Segoe UI" panose="020B0502040204020203" pitchFamily="34" charset="0"/>
                <a:cs typeface="Segoe UI" panose="020B0502040204020203" pitchFamily="34" charset="0"/>
              </a:rPr>
              <a:t>DDI Objectives :</a:t>
            </a:r>
            <a:endParaRPr lang="en-US" altLang="ja-JP" dirty="0">
              <a:solidFill>
                <a:srgbClr val="000000"/>
              </a:solidFill>
              <a:latin typeface="NissanAG-Medium" pitchFamily="50" charset="0"/>
            </a:endParaRPr>
          </a:p>
          <a:p>
            <a:r>
              <a:rPr lang="en-US" sz="1500" dirty="0">
                <a:latin typeface="Segoe UI" panose="020B0502040204020203" pitchFamily="34" charset="0"/>
                <a:ea typeface="+mn-ea"/>
                <a:cs typeface="Segoe UI" panose="020B0502040204020203" pitchFamily="34" charset="0"/>
              </a:rPr>
              <a:t>The objective of the project is to support seamless integration between </a:t>
            </a:r>
          </a:p>
          <a:p>
            <a:r>
              <a:rPr lang="en-US" sz="1500" dirty="0">
                <a:latin typeface="Segoe UI" panose="020B0502040204020203" pitchFamily="34" charset="0"/>
                <a:ea typeface="+mn-ea"/>
                <a:cs typeface="Segoe UI" panose="020B0502040204020203" pitchFamily="34" charset="0"/>
              </a:rPr>
              <a:t>Dealer Management System (DMS) with Nissan backend Systems.</a:t>
            </a:r>
          </a:p>
          <a:p>
            <a:pPr marL="285750" indent="-285750">
              <a:spcBef>
                <a:spcPct val="20000"/>
              </a:spcBef>
              <a:buClr>
                <a:schemeClr val="tx1"/>
              </a:buClr>
              <a:buFont typeface="Arial" panose="020B0604020202020204" pitchFamily="34" charset="0"/>
              <a:buChar char="•"/>
            </a:pPr>
            <a:endParaRPr lang="ja-JP" altLang="en-US" dirty="0">
              <a:solidFill>
                <a:srgbClr val="000000"/>
              </a:solidFill>
              <a:latin typeface="NissanAG-Medium" pitchFamily="50" charset="0"/>
            </a:endParaRPr>
          </a:p>
        </p:txBody>
      </p:sp>
      <p:sp>
        <p:nvSpPr>
          <p:cNvPr id="7" name="Text Placeholder 5"/>
          <p:cNvSpPr>
            <a:spLocks noGrp="1"/>
          </p:cNvSpPr>
          <p:nvPr>
            <p:ph type="body" sz="quarter" idx="4294967295"/>
          </p:nvPr>
        </p:nvSpPr>
        <p:spPr>
          <a:xfrm>
            <a:off x="3987070" y="5190067"/>
            <a:ext cx="7823400" cy="1108864"/>
          </a:xfrm>
          <a:prstGeom prst="rect">
            <a:avLst/>
          </a:prstGeom>
        </p:spPr>
        <p:txBody>
          <a:bodyPr/>
          <a:lstStyle/>
          <a:p>
            <a:pPr>
              <a:lnSpc>
                <a:spcPct val="100000"/>
              </a:lnSpc>
              <a:spcBef>
                <a:spcPts val="600"/>
              </a:spcBef>
            </a:pPr>
            <a:r>
              <a:rPr lang="en-US" sz="1500" b="1" dirty="0">
                <a:latin typeface="Segoe UI" panose="020B0502040204020203" pitchFamily="34" charset="0"/>
                <a:cs typeface="Segoe UI" panose="020B0502040204020203" pitchFamily="34" charset="0"/>
              </a:rPr>
              <a:t>Progress:</a:t>
            </a:r>
          </a:p>
          <a:p>
            <a:pPr marL="285750" indent="-285750">
              <a:lnSpc>
                <a:spcPct val="100000"/>
              </a:lnSpc>
              <a:spcBef>
                <a:spcPts val="600"/>
              </a:spcBef>
              <a:buFont typeface="Wingdings" panose="05000000000000000000" pitchFamily="2" charset="2"/>
              <a:buChar char="§"/>
            </a:pPr>
            <a:r>
              <a:rPr lang="en-US" sz="1500" dirty="0">
                <a:latin typeface="Segoe UI" panose="020B0502040204020203" pitchFamily="34" charset="0"/>
                <a:cs typeface="Segoe UI" panose="020B0502040204020203" pitchFamily="34" charset="0"/>
              </a:rPr>
              <a:t>In FY21</a:t>
            </a:r>
          </a:p>
          <a:p>
            <a:pPr marL="0" indent="0">
              <a:lnSpc>
                <a:spcPct val="100000"/>
              </a:lnSpc>
              <a:spcBef>
                <a:spcPts val="600"/>
              </a:spcBef>
              <a:buNone/>
            </a:pPr>
            <a:r>
              <a:rPr lang="en-US" sz="1500" dirty="0">
                <a:latin typeface="Segoe UI" panose="020B0502040204020203" pitchFamily="34" charset="0"/>
                <a:cs typeface="Segoe UI" panose="020B0502040204020203" pitchFamily="34" charset="0"/>
              </a:rPr>
              <a:t>      	piloting in Nissan Europe to automate different invoices like vehicles, parts etc.</a:t>
            </a:r>
          </a:p>
          <a:p>
            <a:pPr marL="0" indent="0">
              <a:lnSpc>
                <a:spcPct val="100000"/>
              </a:lnSpc>
              <a:spcBef>
                <a:spcPts val="600"/>
              </a:spcBef>
              <a:buNone/>
            </a:pPr>
            <a:r>
              <a:rPr lang="en-US" sz="1500" dirty="0">
                <a:latin typeface="Segoe UI" panose="020B0502040204020203" pitchFamily="34" charset="0"/>
                <a:cs typeface="Segoe UI" panose="020B0502040204020203" pitchFamily="34" charset="0"/>
              </a:rPr>
              <a:t>	piloting in Nissan South Africa to consolidate customer data from CRM system.</a:t>
            </a:r>
          </a:p>
          <a:p>
            <a:pPr>
              <a:lnSpc>
                <a:spcPct val="100000"/>
              </a:lnSpc>
              <a:spcBef>
                <a:spcPts val="600"/>
              </a:spcBef>
            </a:pPr>
            <a:endParaRPr lang="en-US" sz="1500" dirty="0">
              <a:latin typeface="Segoe UI" panose="020B0502040204020203" pitchFamily="34" charset="0"/>
              <a:cs typeface="Segoe UI" panose="020B0502040204020203" pitchFamily="34" charset="0"/>
            </a:endParaRPr>
          </a:p>
          <a:p>
            <a:pPr>
              <a:lnSpc>
                <a:spcPct val="100000"/>
              </a:lnSpc>
              <a:spcBef>
                <a:spcPts val="600"/>
              </a:spcBef>
            </a:pPr>
            <a:endParaRPr lang="en-US" sz="1500" dirty="0">
              <a:latin typeface="Segoe UI" panose="020B0502040204020203" pitchFamily="34" charset="0"/>
              <a:cs typeface="Segoe UI" panose="020B0502040204020203" pitchFamily="34" charset="0"/>
            </a:endParaRPr>
          </a:p>
        </p:txBody>
      </p:sp>
      <p:pic>
        <p:nvPicPr>
          <p:cNvPr id="3" name="Picture 2"/>
          <p:cNvPicPr>
            <a:picLocks noChangeAspect="1"/>
          </p:cNvPicPr>
          <p:nvPr/>
        </p:nvPicPr>
        <p:blipFill>
          <a:blip r:embed="rId2"/>
          <a:stretch>
            <a:fillRect/>
          </a:stretch>
        </p:blipFill>
        <p:spPr>
          <a:xfrm>
            <a:off x="3911600" y="1052945"/>
            <a:ext cx="8319090" cy="4137122"/>
          </a:xfrm>
          <a:prstGeom prst="rect">
            <a:avLst/>
          </a:prstGeom>
        </p:spPr>
      </p:pic>
    </p:spTree>
    <p:extLst>
      <p:ext uri="{BB962C8B-B14F-4D97-AF65-F5344CB8AC3E}">
        <p14:creationId xmlns:p14="http://schemas.microsoft.com/office/powerpoint/2010/main" val="16434293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Nissan Brand Regular" panose="020B0504020204030204" pitchFamily="34" charset="0"/>
              </a:rPr>
              <a:t>Project Background </a:t>
            </a:r>
            <a:endParaRPr lang="en-IN" dirty="0"/>
          </a:p>
        </p:txBody>
      </p:sp>
      <p:pic>
        <p:nvPicPr>
          <p:cNvPr id="611" name="Picture 610"/>
          <p:cNvPicPr>
            <a:picLocks noChangeAspect="1"/>
          </p:cNvPicPr>
          <p:nvPr/>
        </p:nvPicPr>
        <p:blipFill>
          <a:blip r:embed="rId2"/>
          <a:stretch>
            <a:fillRect/>
          </a:stretch>
        </p:blipFill>
        <p:spPr>
          <a:xfrm>
            <a:off x="502921" y="1089891"/>
            <a:ext cx="11116424" cy="5410200"/>
          </a:xfrm>
          <a:prstGeom prst="rect">
            <a:avLst/>
          </a:prstGeom>
        </p:spPr>
      </p:pic>
    </p:spTree>
    <p:extLst>
      <p:ext uri="{BB962C8B-B14F-4D97-AF65-F5344CB8AC3E}">
        <p14:creationId xmlns:p14="http://schemas.microsoft.com/office/powerpoint/2010/main" val="284629011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7132" y="103766"/>
            <a:ext cx="9436946" cy="732894"/>
          </a:xfrm>
        </p:spPr>
        <p:txBody>
          <a:bodyPr/>
          <a:lstStyle/>
          <a:p>
            <a:r>
              <a:rPr lang="en-US" dirty="0"/>
              <a:t>Global DDI Functional Architecture</a:t>
            </a:r>
            <a:endParaRPr lang="en-IN" dirty="0"/>
          </a:p>
        </p:txBody>
      </p:sp>
      <p:pic>
        <p:nvPicPr>
          <p:cNvPr id="5" name="Picture 4"/>
          <p:cNvPicPr>
            <a:picLocks noChangeAspect="1"/>
          </p:cNvPicPr>
          <p:nvPr/>
        </p:nvPicPr>
        <p:blipFill>
          <a:blip r:embed="rId2"/>
          <a:stretch>
            <a:fillRect/>
          </a:stretch>
        </p:blipFill>
        <p:spPr>
          <a:xfrm>
            <a:off x="347132" y="1253410"/>
            <a:ext cx="10947401" cy="5570188"/>
          </a:xfrm>
          <a:prstGeom prst="rect">
            <a:avLst/>
          </a:prstGeom>
        </p:spPr>
      </p:pic>
      <p:sp>
        <p:nvSpPr>
          <p:cNvPr id="6" name="TextBox 5"/>
          <p:cNvSpPr txBox="1"/>
          <p:nvPr/>
        </p:nvSpPr>
        <p:spPr>
          <a:xfrm>
            <a:off x="347132" y="930245"/>
            <a:ext cx="5108450" cy="323165"/>
          </a:xfrm>
          <a:prstGeom prst="rect">
            <a:avLst/>
          </a:prstGeom>
          <a:noFill/>
        </p:spPr>
        <p:txBody>
          <a:bodyPr wrap="none" rtlCol="0">
            <a:spAutoFit/>
          </a:bodyPr>
          <a:lstStyle/>
          <a:p>
            <a:r>
              <a:rPr lang="en-US" sz="1500" dirty="0">
                <a:latin typeface="Segoe UI" panose="020B0502040204020203" pitchFamily="34" charset="0"/>
                <a:ea typeface="+mn-ea"/>
                <a:cs typeface="Segoe UI" panose="020B0502040204020203" pitchFamily="34" charset="0"/>
              </a:rPr>
              <a:t>This is the DDI functional architecture involves all the API’s</a:t>
            </a:r>
            <a:endParaRPr lang="en-IN" sz="1500" dirty="0">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51046263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タイトル 1"/>
          <p:cNvSpPr txBox="1">
            <a:spLocks/>
          </p:cNvSpPr>
          <p:nvPr/>
        </p:nvSpPr>
        <p:spPr>
          <a:xfrm>
            <a:off x="377190" y="122238"/>
            <a:ext cx="7360921" cy="669925"/>
          </a:xfrm>
          <a:prstGeom prst="rect">
            <a:avLst/>
          </a:prstGeom>
        </p:spPr>
        <p:txBody>
          <a:bodyPr anchor="b"/>
          <a:lstStyle>
            <a:lvl1pPr algn="l" defTabSz="914400" rtl="0" eaLnBrk="1" latinLnBrk="0" hangingPunct="1">
              <a:lnSpc>
                <a:spcPct val="90000"/>
              </a:lnSpc>
              <a:spcBef>
                <a:spcPct val="0"/>
              </a:spcBef>
              <a:buNone/>
              <a:defRPr kumimoji="1" sz="2400" kern="1200">
                <a:solidFill>
                  <a:schemeClr val="tx1"/>
                </a:solidFill>
                <a:latin typeface="Meiryo UI" panose="020B0604030504040204" pitchFamily="50" charset="-128"/>
                <a:ea typeface="Meiryo UI" panose="020B0604030504040204" pitchFamily="50" charset="-128"/>
                <a:cs typeface="+mj-cs"/>
              </a:defRPr>
            </a:lvl1pPr>
          </a:lstStyle>
          <a:p>
            <a:pPr fontAlgn="auto">
              <a:spcAft>
                <a:spcPts val="0"/>
              </a:spcAft>
            </a:pPr>
            <a:r>
              <a:rPr lang="en-US" dirty="0"/>
              <a:t>Conceptual Architecture</a:t>
            </a:r>
            <a:endParaRPr lang="ja-JP" altLang="en-US" dirty="0"/>
          </a:p>
        </p:txBody>
      </p:sp>
      <p:sp>
        <p:nvSpPr>
          <p:cNvPr id="33" name="Rectangle 32"/>
          <p:cNvSpPr/>
          <p:nvPr/>
        </p:nvSpPr>
        <p:spPr>
          <a:xfrm>
            <a:off x="6941409" y="3024346"/>
            <a:ext cx="786873" cy="659910"/>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200" dirty="0"/>
              <a:t>Data </a:t>
            </a:r>
            <a:r>
              <a:rPr lang="fr-FR" sz="1200" dirty="0" err="1"/>
              <a:t>storage</a:t>
            </a:r>
            <a:r>
              <a:rPr lang="fr-FR" sz="1200" dirty="0"/>
              <a:t> (s3)</a:t>
            </a:r>
            <a:endParaRPr lang="en-IN" sz="1200" dirty="0"/>
          </a:p>
        </p:txBody>
      </p:sp>
      <p:pic>
        <p:nvPicPr>
          <p:cNvPr id="34" name="Picture 3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2809172" y="838641"/>
            <a:ext cx="972065" cy="873211"/>
          </a:xfrm>
          <a:prstGeom prst="rect">
            <a:avLst/>
          </a:prstGeom>
        </p:spPr>
      </p:pic>
      <p:sp>
        <p:nvSpPr>
          <p:cNvPr id="38" name="TextBox 37"/>
          <p:cNvSpPr txBox="1"/>
          <p:nvPr/>
        </p:nvSpPr>
        <p:spPr>
          <a:xfrm>
            <a:off x="5567329" y="3984485"/>
            <a:ext cx="916853" cy="338554"/>
          </a:xfrm>
          <a:prstGeom prst="rect">
            <a:avLst/>
          </a:prstGeom>
          <a:noFill/>
        </p:spPr>
        <p:txBody>
          <a:bodyPr wrap="square" rtlCol="0">
            <a:spAutoFit/>
          </a:bodyPr>
          <a:lstStyle/>
          <a:p>
            <a:pPr algn="ctr"/>
            <a:r>
              <a:rPr lang="en-IN" sz="800" dirty="0">
                <a:latin typeface="Arial" panose="020B0604020202020204" pitchFamily="34" charset="0"/>
                <a:cs typeface="Arial" panose="020B0604020202020204" pitchFamily="34" charset="0"/>
              </a:rPr>
              <a:t>Data persist &amp; consumption</a:t>
            </a:r>
            <a:endParaRPr kumimoji="1" lang="en-IN" sz="800" dirty="0">
              <a:solidFill>
                <a:schemeClr val="tx1"/>
              </a:solidFill>
              <a:latin typeface="Arial" panose="020B0604020202020204" pitchFamily="34" charset="0"/>
              <a:cs typeface="Arial" panose="020B0604020202020204" pitchFamily="34" charset="0"/>
            </a:endParaRPr>
          </a:p>
        </p:txBody>
      </p:sp>
      <p:sp>
        <p:nvSpPr>
          <p:cNvPr id="43" name="TextBox 42"/>
          <p:cNvSpPr txBox="1"/>
          <p:nvPr/>
        </p:nvSpPr>
        <p:spPr>
          <a:xfrm>
            <a:off x="2825843" y="1695472"/>
            <a:ext cx="1576252" cy="230832"/>
          </a:xfrm>
          <a:prstGeom prst="rect">
            <a:avLst/>
          </a:prstGeom>
          <a:noFill/>
        </p:spPr>
        <p:txBody>
          <a:bodyPr wrap="square" rtlCol="0">
            <a:spAutoFit/>
          </a:bodyPr>
          <a:lstStyle/>
          <a:p>
            <a:pPr algn="ctr"/>
            <a:r>
              <a:rPr lang="en-US" sz="900" dirty="0">
                <a:latin typeface="Arial" panose="020B0604020202020204" pitchFamily="34" charset="0"/>
                <a:cs typeface="Arial" panose="020B0604020202020204" pitchFamily="34" charset="0"/>
              </a:rPr>
              <a:t>Managed by Nissan</a:t>
            </a:r>
            <a:endParaRPr kumimoji="1" lang="en-IN" sz="900" dirty="0">
              <a:solidFill>
                <a:schemeClr val="tx1"/>
              </a:solidFill>
              <a:latin typeface="Arial" panose="020B0604020202020204" pitchFamily="34" charset="0"/>
              <a:cs typeface="Arial" panose="020B0604020202020204" pitchFamily="34" charset="0"/>
            </a:endParaRPr>
          </a:p>
        </p:txBody>
      </p:sp>
      <p:pic>
        <p:nvPicPr>
          <p:cNvPr id="50" name="Picture 4" descr="Media - Devolution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65680" y="2842645"/>
            <a:ext cx="571400" cy="920640"/>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p:cNvSpPr/>
          <p:nvPr/>
        </p:nvSpPr>
        <p:spPr>
          <a:xfrm>
            <a:off x="3994994" y="2907226"/>
            <a:ext cx="862599" cy="876819"/>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200" dirty="0"/>
              <a:t>Data </a:t>
            </a:r>
          </a:p>
          <a:p>
            <a:pPr algn="ctr"/>
            <a:r>
              <a:rPr lang="fr-FR" sz="1200" dirty="0" err="1"/>
              <a:t>Persist</a:t>
            </a:r>
            <a:r>
              <a:rPr lang="fr-FR" sz="1200" dirty="0"/>
              <a:t> &amp; </a:t>
            </a:r>
            <a:r>
              <a:rPr lang="fr-FR" sz="1200" dirty="0" err="1"/>
              <a:t>access</a:t>
            </a:r>
            <a:endParaRPr lang="en-IN" sz="1200" dirty="0"/>
          </a:p>
        </p:txBody>
      </p:sp>
      <p:sp>
        <p:nvSpPr>
          <p:cNvPr id="52" name="Rectangle 51"/>
          <p:cNvSpPr/>
          <p:nvPr/>
        </p:nvSpPr>
        <p:spPr>
          <a:xfrm>
            <a:off x="2871389" y="2950762"/>
            <a:ext cx="804238" cy="789748"/>
          </a:xfrm>
          <a:prstGeom prst="rect">
            <a:avLst/>
          </a:prstGeom>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fr-FR" sz="1200" dirty="0"/>
              <a:t>Access</a:t>
            </a:r>
          </a:p>
          <a:p>
            <a:pPr algn="ctr"/>
            <a:r>
              <a:rPr lang="fr-FR" sz="1200" dirty="0"/>
              <a:t>Control</a:t>
            </a:r>
            <a:endParaRPr lang="en-IN" sz="1200" dirty="0"/>
          </a:p>
        </p:txBody>
      </p:sp>
      <p:sp>
        <p:nvSpPr>
          <p:cNvPr id="53" name="TextBox 63"/>
          <p:cNvSpPr txBox="1"/>
          <p:nvPr/>
        </p:nvSpPr>
        <p:spPr>
          <a:xfrm>
            <a:off x="4402095" y="5679730"/>
            <a:ext cx="970477" cy="230832"/>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wrap="square" rtlCol="0">
            <a:spAutoFit/>
          </a:bodyPr>
          <a:lstStyle/>
          <a:p>
            <a:pPr algn="ctr"/>
            <a:r>
              <a:rPr lang="en-US" sz="900" dirty="0">
                <a:latin typeface="Arial" panose="020B0604020202020204" pitchFamily="34" charset="0"/>
                <a:cs typeface="Arial" panose="020B0604020202020204" pitchFamily="34" charset="0"/>
              </a:rPr>
              <a:t>Real time</a:t>
            </a:r>
            <a:endParaRPr lang="en-IN" sz="900" dirty="0">
              <a:latin typeface="Arial" panose="020B0604020202020204" pitchFamily="34" charset="0"/>
              <a:cs typeface="Arial" panose="020B0604020202020204" pitchFamily="34" charset="0"/>
            </a:endParaRPr>
          </a:p>
        </p:txBody>
      </p:sp>
      <p:sp>
        <p:nvSpPr>
          <p:cNvPr id="54" name="Accolade fermante 84"/>
          <p:cNvSpPr/>
          <p:nvPr/>
        </p:nvSpPr>
        <p:spPr>
          <a:xfrm rot="5400000">
            <a:off x="3369165" y="3327386"/>
            <a:ext cx="526523" cy="3869805"/>
          </a:xfrm>
          <a:prstGeom prst="rightBrace">
            <a:avLst/>
          </a:prstGeom>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55" name="Rectangle 54"/>
          <p:cNvSpPr/>
          <p:nvPr/>
        </p:nvSpPr>
        <p:spPr>
          <a:xfrm>
            <a:off x="2711972" y="870102"/>
            <a:ext cx="8196173" cy="4016075"/>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p:cNvSpPr/>
          <p:nvPr/>
        </p:nvSpPr>
        <p:spPr>
          <a:xfrm>
            <a:off x="256956" y="2809989"/>
            <a:ext cx="822210" cy="1088625"/>
          </a:xfrm>
          <a:prstGeom prst="rect">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fr-FR" sz="1200" dirty="0"/>
              <a:t>YANA DMS</a:t>
            </a:r>
          </a:p>
        </p:txBody>
      </p:sp>
      <p:sp>
        <p:nvSpPr>
          <p:cNvPr id="57" name="Rectangle 56"/>
          <p:cNvSpPr/>
          <p:nvPr/>
        </p:nvSpPr>
        <p:spPr>
          <a:xfrm>
            <a:off x="57294" y="883490"/>
            <a:ext cx="2455016" cy="3918311"/>
          </a:xfrm>
          <a:prstGeom prst="rect">
            <a:avLst/>
          </a:prstGeom>
          <a:no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TextBox 63"/>
          <p:cNvSpPr txBox="1"/>
          <p:nvPr/>
        </p:nvSpPr>
        <p:spPr>
          <a:xfrm>
            <a:off x="7182529" y="5775577"/>
            <a:ext cx="970477" cy="2308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sz="900" dirty="0">
                <a:latin typeface="Arial" panose="020B0604020202020204" pitchFamily="34" charset="0"/>
                <a:cs typeface="Arial" panose="020B0604020202020204" pitchFamily="34" charset="0"/>
              </a:rPr>
              <a:t>Batch</a:t>
            </a:r>
            <a:endParaRPr lang="en-IN" sz="900" dirty="0">
              <a:latin typeface="Arial" panose="020B0604020202020204" pitchFamily="34" charset="0"/>
              <a:cs typeface="Arial" panose="020B0604020202020204" pitchFamily="34" charset="0"/>
            </a:endParaRPr>
          </a:p>
        </p:txBody>
      </p:sp>
      <p:sp>
        <p:nvSpPr>
          <p:cNvPr id="59" name="Accolade fermante 39"/>
          <p:cNvSpPr/>
          <p:nvPr/>
        </p:nvSpPr>
        <p:spPr>
          <a:xfrm rot="5400000">
            <a:off x="7102703" y="3660696"/>
            <a:ext cx="526523" cy="3351834"/>
          </a:xfrm>
          <a:prstGeom prst="rightBrace">
            <a:avLst/>
          </a:prstGeom>
          <a:no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63" name="Elbow Connector 37"/>
          <p:cNvCxnSpPr/>
          <p:nvPr/>
        </p:nvCxnSpPr>
        <p:spPr>
          <a:xfrm>
            <a:off x="7751652" y="3351971"/>
            <a:ext cx="906998" cy="35920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a:stCxn id="51" idx="3"/>
          </p:cNvCxnSpPr>
          <p:nvPr/>
        </p:nvCxnSpPr>
        <p:spPr>
          <a:xfrm>
            <a:off x="4857593" y="3345636"/>
            <a:ext cx="434489" cy="9503"/>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56" idx="3"/>
            <a:endCxn id="52" idx="1"/>
          </p:cNvCxnSpPr>
          <p:nvPr/>
        </p:nvCxnSpPr>
        <p:spPr>
          <a:xfrm flipV="1">
            <a:off x="1079166" y="3345636"/>
            <a:ext cx="1792223" cy="8666"/>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2" idx="3"/>
            <a:endCxn id="51" idx="1"/>
          </p:cNvCxnSpPr>
          <p:nvPr/>
        </p:nvCxnSpPr>
        <p:spPr>
          <a:xfrm>
            <a:off x="3675627" y="3345636"/>
            <a:ext cx="31936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4" idx="3"/>
            <a:endCxn id="33" idx="1"/>
          </p:cNvCxnSpPr>
          <p:nvPr/>
        </p:nvCxnSpPr>
        <p:spPr>
          <a:xfrm flipV="1">
            <a:off x="6611724" y="3354301"/>
            <a:ext cx="329685" cy="151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Rectangle 65"/>
          <p:cNvSpPr/>
          <p:nvPr/>
        </p:nvSpPr>
        <p:spPr>
          <a:xfrm>
            <a:off x="8435608" y="908850"/>
            <a:ext cx="1643238" cy="78662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smtClean="0"/>
              <a:t>Vehicle, </a:t>
            </a:r>
            <a:r>
              <a:rPr lang="en-US" sz="1000" dirty="0"/>
              <a:t>Parts Order &amp; Warranty </a:t>
            </a:r>
            <a:r>
              <a:rPr lang="en-US" sz="1000" dirty="0" smtClean="0"/>
              <a:t>claim </a:t>
            </a:r>
            <a:r>
              <a:rPr lang="en-US" sz="1000" dirty="0"/>
              <a:t>Entry </a:t>
            </a:r>
            <a:endParaRPr lang="en-IN" sz="1000" dirty="0"/>
          </a:p>
          <a:p>
            <a:pPr algn="ctr"/>
            <a:endParaRPr lang="en-IN" sz="1000" dirty="0"/>
          </a:p>
        </p:txBody>
      </p:sp>
      <p:sp>
        <p:nvSpPr>
          <p:cNvPr id="69" name="Rectangle 68"/>
          <p:cNvSpPr/>
          <p:nvPr/>
        </p:nvSpPr>
        <p:spPr>
          <a:xfrm>
            <a:off x="8674647" y="1929933"/>
            <a:ext cx="1353554" cy="58108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Vehicle and Parts Master </a:t>
            </a:r>
            <a:endParaRPr lang="en-IN" sz="1000" dirty="0"/>
          </a:p>
        </p:txBody>
      </p:sp>
      <p:sp>
        <p:nvSpPr>
          <p:cNvPr id="70" name="Rectangle 69"/>
          <p:cNvSpPr/>
          <p:nvPr/>
        </p:nvSpPr>
        <p:spPr>
          <a:xfrm>
            <a:off x="8679587" y="2707930"/>
            <a:ext cx="1353554" cy="58108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Vehicle Delivery receipt </a:t>
            </a:r>
            <a:endParaRPr lang="en-IN" sz="1000" dirty="0"/>
          </a:p>
        </p:txBody>
      </p:sp>
      <p:sp>
        <p:nvSpPr>
          <p:cNvPr id="71" name="Rectangle 70"/>
          <p:cNvSpPr/>
          <p:nvPr/>
        </p:nvSpPr>
        <p:spPr>
          <a:xfrm>
            <a:off x="8679587" y="3464358"/>
            <a:ext cx="1353554" cy="58108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n-US" sz="1000" dirty="0"/>
              <a:t>Warranty registration </a:t>
            </a:r>
            <a:endParaRPr lang="en-IN" sz="1000" dirty="0"/>
          </a:p>
        </p:txBody>
      </p:sp>
      <p:cxnSp>
        <p:nvCxnSpPr>
          <p:cNvPr id="77" name="Straight Arrow Connector 76"/>
          <p:cNvCxnSpPr/>
          <p:nvPr/>
        </p:nvCxnSpPr>
        <p:spPr>
          <a:xfrm>
            <a:off x="8201464" y="2998470"/>
            <a:ext cx="46275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4" name="Rectangle 43"/>
          <p:cNvSpPr/>
          <p:nvPr/>
        </p:nvSpPr>
        <p:spPr>
          <a:xfrm>
            <a:off x="5915196" y="2998470"/>
            <a:ext cx="696528" cy="742040"/>
          </a:xfrm>
          <a:prstGeom prst="rect">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fr-FR" sz="1000" dirty="0"/>
              <a:t>Data transformation</a:t>
            </a:r>
            <a:endParaRPr lang="en-IN" sz="1000" dirty="0"/>
          </a:p>
        </p:txBody>
      </p:sp>
      <p:cxnSp>
        <p:nvCxnSpPr>
          <p:cNvPr id="42" name="Straight Arrow Connector 41"/>
          <p:cNvCxnSpPr>
            <a:stCxn id="51" idx="0"/>
            <a:endCxn id="66" idx="1"/>
          </p:cNvCxnSpPr>
          <p:nvPr/>
        </p:nvCxnSpPr>
        <p:spPr>
          <a:xfrm rot="5400000" flipH="1" flipV="1">
            <a:off x="5628419" y="100037"/>
            <a:ext cx="1605065" cy="4009314"/>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p:nvPr/>
        </p:nvCxnSpPr>
        <p:spPr>
          <a:xfrm flipV="1">
            <a:off x="5639173" y="3339112"/>
            <a:ext cx="329685" cy="15189"/>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41"/>
          <p:cNvCxnSpPr>
            <a:stCxn id="33" idx="3"/>
            <a:endCxn id="69" idx="1"/>
          </p:cNvCxnSpPr>
          <p:nvPr/>
        </p:nvCxnSpPr>
        <p:spPr>
          <a:xfrm flipV="1">
            <a:off x="7728282" y="2220473"/>
            <a:ext cx="946365" cy="1133828"/>
          </a:xfrm>
          <a:prstGeom prst="bentConnector3">
            <a:avLst>
              <a:gd name="adj1" fmla="val 50000"/>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5" name="TextBox 63"/>
          <p:cNvSpPr txBox="1"/>
          <p:nvPr/>
        </p:nvSpPr>
        <p:spPr>
          <a:xfrm>
            <a:off x="5495558" y="1403876"/>
            <a:ext cx="970477" cy="2308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pPr algn="ctr"/>
            <a:r>
              <a:rPr lang="en-US" sz="900" dirty="0" smtClean="0">
                <a:latin typeface="Arial" panose="020B0604020202020204" pitchFamily="34" charset="0"/>
                <a:cs typeface="Arial" panose="020B0604020202020204" pitchFamily="34" charset="0"/>
              </a:rPr>
              <a:t>Rea time</a:t>
            </a:r>
            <a:endParaRPr lang="en-IN"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45978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0717" y="-22169"/>
            <a:ext cx="8212895" cy="669925"/>
          </a:xfrm>
        </p:spPr>
        <p:txBody>
          <a:bodyPr/>
          <a:lstStyle/>
          <a:p>
            <a:r>
              <a:rPr lang="en-US" altLang="ja-JP" sz="2585" u="sng" dirty="0">
                <a:latin typeface="NissanAG-Bold" pitchFamily="50" charset="0"/>
                <a:ea typeface="NissanAG-Bold" pitchFamily="50" charset="0"/>
                <a:cs typeface="Verdana" pitchFamily="34" charset="0"/>
              </a:rPr>
              <a:t>System Details</a:t>
            </a:r>
            <a:endParaRPr lang="ja-JP" altLang="en-US" sz="2585" u="sng" dirty="0">
              <a:latin typeface="NissanAG-Bold" pitchFamily="50" charset="0"/>
              <a:ea typeface="NissanAG-Bold" pitchFamily="50" charset="0"/>
              <a:cs typeface="Verdana" pitchFamily="34" charset="0"/>
            </a:endParaRPr>
          </a:p>
        </p:txBody>
      </p:sp>
      <p:sp>
        <p:nvSpPr>
          <p:cNvPr id="3" name="Rectangle 2"/>
          <p:cNvSpPr/>
          <p:nvPr/>
        </p:nvSpPr>
        <p:spPr>
          <a:xfrm>
            <a:off x="618837" y="812148"/>
            <a:ext cx="10575636" cy="4708981"/>
          </a:xfrm>
          <a:prstGeom prst="rect">
            <a:avLst/>
          </a:prstGeom>
        </p:spPr>
        <p:txBody>
          <a:bodyPr wrap="square">
            <a:spAutoFit/>
          </a:bodyPr>
          <a:lstStyle/>
          <a:p>
            <a:r>
              <a:rPr lang="en-US" altLang="ja-JP" b="1" dirty="0">
                <a:latin typeface="Segoe UI" panose="020B0502040204020203" pitchFamily="34" charset="0"/>
                <a:cs typeface="Segoe UI" panose="020B0502040204020203" pitchFamily="34" charset="0"/>
              </a:rPr>
              <a:t>NIMS</a:t>
            </a:r>
            <a:r>
              <a:rPr lang="en-US" altLang="ja-JP" dirty="0">
                <a:latin typeface="Segoe UI" panose="020B0502040204020203" pitchFamily="34" charset="0"/>
                <a:cs typeface="Segoe UI" panose="020B0502040204020203" pitchFamily="34" charset="0"/>
              </a:rPr>
              <a:t> is </a:t>
            </a:r>
            <a:r>
              <a:rPr lang="en-IN" dirty="0">
                <a:latin typeface="Segoe UI" panose="020B0502040204020203" pitchFamily="34" charset="0"/>
                <a:cs typeface="Segoe UI" panose="020B0502040204020203" pitchFamily="34" charset="0"/>
              </a:rPr>
              <a:t> Nissan Integrated Management System </a:t>
            </a:r>
            <a:r>
              <a:rPr lang="en-US" altLang="ja-JP" dirty="0">
                <a:latin typeface="Segoe UI" panose="020B0502040204020203" pitchFamily="34" charset="0"/>
                <a:cs typeface="Segoe UI" panose="020B0502040204020203" pitchFamily="34" charset="0"/>
              </a:rPr>
              <a:t>integrated with SAP. It is deployed in NPI Data center.</a:t>
            </a:r>
          </a:p>
          <a:p>
            <a:r>
              <a:rPr lang="en-US" dirty="0">
                <a:latin typeface="Segoe UI" panose="020B0502040204020203" pitchFamily="34" charset="0"/>
                <a:cs typeface="Segoe UI" panose="020B0502040204020203" pitchFamily="34" charset="0"/>
              </a:rPr>
              <a:t>NIMS and SAP work as an ERP system for NPI and holds different data such as Vehicle &amp; parts model data, Order details, warranty etc.</a:t>
            </a:r>
          </a:p>
          <a:p>
            <a:endParaRPr lang="en-US" dirty="0">
              <a:latin typeface="Segoe UI" panose="020B0502040204020203" pitchFamily="34" charset="0"/>
              <a:cs typeface="Segoe UI" panose="020B0502040204020203" pitchFamily="34" charset="0"/>
            </a:endParaRPr>
          </a:p>
          <a:p>
            <a:r>
              <a:rPr lang="en-US" altLang="ja-JP" b="1" dirty="0">
                <a:latin typeface="Segoe UI" panose="020B0502040204020203" pitchFamily="34" charset="0"/>
                <a:cs typeface="Segoe UI" panose="020B0502040204020203" pitchFamily="34" charset="0"/>
              </a:rPr>
              <a:t>YANA</a:t>
            </a:r>
            <a:r>
              <a:rPr lang="en-US" altLang="ja-JP" dirty="0">
                <a:latin typeface="Segoe UI" panose="020B0502040204020203" pitchFamily="34" charset="0"/>
                <a:cs typeface="Segoe UI" panose="020B0502040204020203" pitchFamily="34" charset="0"/>
              </a:rPr>
              <a:t> is a </a:t>
            </a:r>
            <a:r>
              <a:rPr lang="en-US" dirty="0">
                <a:latin typeface="Segoe UI" panose="020B0502040204020203" pitchFamily="34" charset="0"/>
                <a:cs typeface="Segoe UI" panose="020B0502040204020203" pitchFamily="34" charset="0"/>
              </a:rPr>
              <a:t>DMS system deployed for all NPI dealerships.</a:t>
            </a:r>
          </a:p>
          <a:p>
            <a:endParaRPr lang="en-US" dirty="0">
              <a:latin typeface="Segoe UI" panose="020B0502040204020203" pitchFamily="34" charset="0"/>
              <a:cs typeface="Segoe UI" panose="020B0502040204020203" pitchFamily="34" charset="0"/>
            </a:endParaRPr>
          </a:p>
          <a:p>
            <a:r>
              <a:rPr lang="en-US" b="1" dirty="0">
                <a:latin typeface="Segoe UI" panose="020B0502040204020203" pitchFamily="34" charset="0"/>
                <a:cs typeface="Segoe UI" panose="020B0502040204020203" pitchFamily="34" charset="0"/>
              </a:rPr>
              <a:t>Why DDI for NPI :</a:t>
            </a:r>
          </a:p>
          <a:p>
            <a:pPr marL="342900" indent="-342900">
              <a:buFont typeface="Arial" panose="020B0604020202020204" pitchFamily="34" charset="0"/>
              <a:buChar char="•"/>
            </a:pPr>
            <a:r>
              <a:rPr lang="en-US" dirty="0"/>
              <a:t>Model Master from NIMS is required for YANA to work properly, currently this data is uploading manually to YANA.</a:t>
            </a:r>
          </a:p>
          <a:p>
            <a:pPr marL="342900" indent="-342900">
              <a:buFont typeface="Arial" panose="020B0604020202020204" pitchFamily="34" charset="0"/>
              <a:buChar char="•"/>
            </a:pPr>
            <a:r>
              <a:rPr lang="en-US" dirty="0"/>
              <a:t>Dealer Order details are also manually inserted in to NIMS.</a:t>
            </a:r>
          </a:p>
          <a:p>
            <a:pPr marL="342900" indent="-342900">
              <a:buFont typeface="Arial" panose="020B0604020202020204" pitchFamily="34" charset="0"/>
              <a:buChar char="•"/>
            </a:pPr>
            <a:r>
              <a:rPr lang="en-US" dirty="0"/>
              <a:t>Vehicle Delivery receipt created in NIMS is also not available in YANA.</a:t>
            </a:r>
          </a:p>
          <a:p>
            <a:pPr marL="342900" indent="-342900">
              <a:buFont typeface="Arial" panose="020B0604020202020204" pitchFamily="34" charset="0"/>
              <a:buChar char="•"/>
            </a:pPr>
            <a:endParaRPr lang="en-US" dirty="0"/>
          </a:p>
          <a:p>
            <a:r>
              <a:rPr lang="en-US" dirty="0"/>
              <a:t>To overcome the above challenges Global business suggest to implement DDI for seamless integration of data between NIMS and YANA.</a:t>
            </a:r>
            <a:endParaRPr lang="en-IN" dirty="0"/>
          </a:p>
        </p:txBody>
      </p:sp>
    </p:spTree>
    <p:extLst>
      <p:ext uri="{BB962C8B-B14F-4D97-AF65-F5344CB8AC3E}">
        <p14:creationId xmlns:p14="http://schemas.microsoft.com/office/powerpoint/2010/main" val="18253299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30717" y="-22169"/>
            <a:ext cx="8212895" cy="669925"/>
          </a:xfrm>
        </p:spPr>
        <p:txBody>
          <a:bodyPr/>
          <a:lstStyle/>
          <a:p>
            <a:r>
              <a:rPr lang="en-US" altLang="ja-JP" sz="2800" u="sng" dirty="0"/>
              <a:t>Project Context in scope</a:t>
            </a:r>
            <a:endParaRPr lang="ja-JP" altLang="en-US" sz="2585" u="sng" dirty="0">
              <a:latin typeface="NissanAG-Bold" pitchFamily="50" charset="0"/>
              <a:ea typeface="NissanAG-Bold" pitchFamily="50" charset="0"/>
              <a:cs typeface="Verdana" pitchFamily="34" charset="0"/>
            </a:endParaRPr>
          </a:p>
        </p:txBody>
      </p:sp>
      <p:sp>
        <p:nvSpPr>
          <p:cNvPr id="5" name="Rectangle 4"/>
          <p:cNvSpPr/>
          <p:nvPr/>
        </p:nvSpPr>
        <p:spPr>
          <a:xfrm>
            <a:off x="471055" y="573020"/>
            <a:ext cx="10852728" cy="3028521"/>
          </a:xfrm>
          <a:prstGeom prst="rect">
            <a:avLst/>
          </a:prstGeom>
        </p:spPr>
        <p:txBody>
          <a:bodyPr wrap="square">
            <a:spAutoFit/>
          </a:bodyPr>
          <a:lstStyle/>
          <a:p>
            <a:pPr marL="285750" lvl="0" indent="-285750">
              <a:spcBef>
                <a:spcPct val="20000"/>
              </a:spcBef>
              <a:buClr>
                <a:prstClr val="black"/>
              </a:buClr>
              <a:buFont typeface="Arial" panose="020B0604020202020204" pitchFamily="34" charset="0"/>
              <a:buChar char="•"/>
              <a:defRPr/>
            </a:pPr>
            <a:r>
              <a:rPr lang="en-US" altLang="ja-JP" sz="1400" dirty="0">
                <a:latin typeface="Segoe UI" panose="020B0502040204020203" pitchFamily="34" charset="0"/>
                <a:cs typeface="Segoe UI" panose="020B0502040204020203" pitchFamily="34" charset="0"/>
              </a:rPr>
              <a:t>Project background:</a:t>
            </a:r>
            <a:endParaRPr lang="ja-JP" altLang="en-US" sz="1400" dirty="0">
              <a:latin typeface="Segoe UI" panose="020B0502040204020203" pitchFamily="34" charset="0"/>
              <a:cs typeface="Segoe UI" panose="020B0502040204020203" pitchFamily="34" charset="0"/>
            </a:endParaRPr>
          </a:p>
          <a:p>
            <a:r>
              <a:rPr lang="en-US" altLang="ja-JP" sz="1400" dirty="0">
                <a:latin typeface="Segoe UI" panose="020B0502040204020203" pitchFamily="34" charset="0"/>
                <a:cs typeface="Segoe UI" panose="020B0502040204020203" pitchFamily="34" charset="0"/>
              </a:rPr>
              <a:t>This project is to integrate </a:t>
            </a:r>
            <a:r>
              <a:rPr lang="en-US" altLang="ja-JP" sz="1400" b="1" dirty="0">
                <a:latin typeface="Segoe UI" panose="020B0502040204020203" pitchFamily="34" charset="0"/>
                <a:cs typeface="Segoe UI" panose="020B0502040204020203" pitchFamily="34" charset="0"/>
              </a:rPr>
              <a:t>NIMS</a:t>
            </a:r>
            <a:r>
              <a:rPr lang="en-US" altLang="ja-JP" sz="1400" dirty="0">
                <a:latin typeface="Segoe UI" panose="020B0502040204020203" pitchFamily="34" charset="0"/>
                <a:cs typeface="Segoe UI" panose="020B0502040204020203" pitchFamily="34" charset="0"/>
              </a:rPr>
              <a:t> (</a:t>
            </a:r>
            <a:r>
              <a:rPr lang="en-IN" sz="1400" dirty="0">
                <a:latin typeface="Segoe UI" panose="020B0502040204020203" pitchFamily="34" charset="0"/>
                <a:cs typeface="Segoe UI" panose="020B0502040204020203" pitchFamily="34" charset="0"/>
              </a:rPr>
              <a:t> Nissan Integrated Management System </a:t>
            </a:r>
            <a:r>
              <a:rPr lang="en-US" altLang="ja-JP" sz="1400" dirty="0">
                <a:latin typeface="Segoe UI" panose="020B0502040204020203" pitchFamily="34" charset="0"/>
                <a:cs typeface="Segoe UI" panose="020B0502040204020203" pitchFamily="34" charset="0"/>
              </a:rPr>
              <a:t>with SAP &amp; deployed in NPI Data center) system with </a:t>
            </a:r>
            <a:r>
              <a:rPr lang="en-US" altLang="ja-JP" sz="1400" b="1" dirty="0">
                <a:latin typeface="Segoe UI" panose="020B0502040204020203" pitchFamily="34" charset="0"/>
                <a:cs typeface="Segoe UI" panose="020B0502040204020203" pitchFamily="34" charset="0"/>
              </a:rPr>
              <a:t>YANA</a:t>
            </a:r>
            <a:r>
              <a:rPr lang="en-US" altLang="ja-JP" sz="1400" dirty="0">
                <a:latin typeface="Segoe UI" panose="020B0502040204020203" pitchFamily="34" charset="0"/>
                <a:cs typeface="Segoe UI" panose="020B0502040204020203" pitchFamily="34" charset="0"/>
              </a:rPr>
              <a:t> </a:t>
            </a:r>
            <a:r>
              <a:rPr lang="en-US" altLang="ja-JP" sz="1400" b="1" dirty="0">
                <a:latin typeface="Segoe UI" panose="020B0502040204020203" pitchFamily="34" charset="0"/>
                <a:cs typeface="Segoe UI" panose="020B0502040204020203" pitchFamily="34" charset="0"/>
              </a:rPr>
              <a:t>DMS</a:t>
            </a:r>
            <a:r>
              <a:rPr lang="en-US" altLang="ja-JP" sz="1400" dirty="0">
                <a:latin typeface="Segoe UI" panose="020B0502040204020203" pitchFamily="34" charset="0"/>
                <a:cs typeface="Segoe UI" panose="020B0502040204020203" pitchFamily="34" charset="0"/>
              </a:rPr>
              <a:t>(3</a:t>
            </a:r>
            <a:r>
              <a:rPr lang="en-US" altLang="ja-JP" sz="1400" baseline="30000" dirty="0">
                <a:latin typeface="Segoe UI" panose="020B0502040204020203" pitchFamily="34" charset="0"/>
                <a:cs typeface="Segoe UI" panose="020B0502040204020203" pitchFamily="34" charset="0"/>
              </a:rPr>
              <a:t>rd</a:t>
            </a:r>
            <a:r>
              <a:rPr lang="en-US" altLang="ja-JP" sz="1400" dirty="0">
                <a:latin typeface="Segoe UI" panose="020B0502040204020203" pitchFamily="34" charset="0"/>
                <a:cs typeface="Segoe UI" panose="020B0502040204020203" pitchFamily="34" charset="0"/>
              </a:rPr>
              <a:t> party dealer management system)</a:t>
            </a:r>
          </a:p>
          <a:p>
            <a:pPr marL="742950" lvl="1" indent="-285750">
              <a:spcBef>
                <a:spcPct val="20000"/>
              </a:spcBef>
              <a:buClr>
                <a:prstClr val="black"/>
              </a:buClr>
              <a:buFont typeface="Wingdings" panose="05000000000000000000" pitchFamily="2" charset="2"/>
              <a:buChar char="ü"/>
              <a:defRPr/>
            </a:pPr>
            <a:r>
              <a:rPr lang="en-US" altLang="ja-JP" sz="1400" dirty="0">
                <a:latin typeface="Segoe UI" panose="020B0502040204020203" pitchFamily="34" charset="0"/>
                <a:cs typeface="Segoe UI" panose="020B0502040204020203" pitchFamily="34" charset="0"/>
              </a:rPr>
              <a:t>The use cases for Philippines is given below.</a:t>
            </a:r>
          </a:p>
          <a:p>
            <a:pPr lvl="1">
              <a:spcBef>
                <a:spcPct val="20000"/>
              </a:spcBef>
              <a:buClr>
                <a:prstClr val="black"/>
              </a:buClr>
              <a:defRPr/>
            </a:pPr>
            <a:endParaRPr lang="en-US" altLang="ja-JP" dirty="0"/>
          </a:p>
          <a:p>
            <a:pPr lvl="1">
              <a:spcBef>
                <a:spcPct val="20000"/>
              </a:spcBef>
              <a:buClr>
                <a:prstClr val="black"/>
              </a:buClr>
              <a:defRPr/>
            </a:pPr>
            <a:endParaRPr lang="en-US" altLang="ja-JP" dirty="0"/>
          </a:p>
          <a:p>
            <a:r>
              <a:rPr lang="en-US" altLang="ja-JP" dirty="0"/>
              <a:t>	</a:t>
            </a:r>
            <a:endParaRPr lang="en-US" dirty="0">
              <a:solidFill>
                <a:schemeClr val="accent1"/>
              </a:solidFill>
            </a:endParaRPr>
          </a:p>
          <a:p>
            <a:r>
              <a:rPr lang="en-US" dirty="0">
                <a:solidFill>
                  <a:schemeClr val="accent1"/>
                </a:solidFill>
              </a:rPr>
              <a:t>					</a:t>
            </a:r>
          </a:p>
          <a:p>
            <a:r>
              <a:rPr lang="en-US" dirty="0">
                <a:solidFill>
                  <a:schemeClr val="accent1"/>
                </a:solidFill>
              </a:rPr>
              <a:t>	 	</a:t>
            </a:r>
            <a:endParaRPr lang="en-US" altLang="ja-JP" dirty="0"/>
          </a:p>
          <a:p>
            <a:pPr marL="285750" indent="-285750">
              <a:spcBef>
                <a:spcPct val="20000"/>
              </a:spcBef>
              <a:buClr>
                <a:schemeClr val="tx1"/>
              </a:buClr>
              <a:buFont typeface="Arial" panose="020B0604020202020204" pitchFamily="34" charset="0"/>
              <a:buChar char="•"/>
            </a:pPr>
            <a:endParaRPr lang="ja-JP" altLang="en-US" dirty="0">
              <a:solidFill>
                <a:srgbClr val="000000"/>
              </a:solidFill>
              <a:latin typeface="NissanAG-Medium" pitchFamily="50" charset="0"/>
            </a:endParaRPr>
          </a:p>
        </p:txBody>
      </p:sp>
      <p:graphicFrame>
        <p:nvGraphicFramePr>
          <p:cNvPr id="3" name="Table 2"/>
          <p:cNvGraphicFramePr>
            <a:graphicFrameLocks noGrp="1"/>
          </p:cNvGraphicFramePr>
          <p:nvPr>
            <p:extLst>
              <p:ext uri="{D42A27DB-BD31-4B8C-83A1-F6EECF244321}">
                <p14:modId xmlns:p14="http://schemas.microsoft.com/office/powerpoint/2010/main" val="2760290949"/>
              </p:ext>
            </p:extLst>
          </p:nvPr>
        </p:nvGraphicFramePr>
        <p:xfrm>
          <a:off x="178570" y="1503679"/>
          <a:ext cx="12013430" cy="5239313"/>
        </p:xfrm>
        <a:graphic>
          <a:graphicData uri="http://schemas.openxmlformats.org/drawingml/2006/table">
            <a:tbl>
              <a:tblPr firstRow="1" bandRow="1">
                <a:tableStyleId>{5C22544A-7EE6-4342-B048-85BDC9FD1C3A}</a:tableStyleId>
              </a:tblPr>
              <a:tblGrid>
                <a:gridCol w="1046954">
                  <a:extLst>
                    <a:ext uri="{9D8B030D-6E8A-4147-A177-3AD203B41FA5}">
                      <a16:colId xmlns:a16="http://schemas.microsoft.com/office/drawing/2014/main" val="2533554335"/>
                    </a:ext>
                  </a:extLst>
                </a:gridCol>
                <a:gridCol w="2685439">
                  <a:extLst>
                    <a:ext uri="{9D8B030D-6E8A-4147-A177-3AD203B41FA5}">
                      <a16:colId xmlns:a16="http://schemas.microsoft.com/office/drawing/2014/main" val="4225343706"/>
                    </a:ext>
                  </a:extLst>
                </a:gridCol>
                <a:gridCol w="8281037">
                  <a:extLst>
                    <a:ext uri="{9D8B030D-6E8A-4147-A177-3AD203B41FA5}">
                      <a16:colId xmlns:a16="http://schemas.microsoft.com/office/drawing/2014/main" val="167154366"/>
                    </a:ext>
                  </a:extLst>
                </a:gridCol>
              </a:tblGrid>
              <a:tr h="328263">
                <a:tc>
                  <a:txBody>
                    <a:bodyPr/>
                    <a:lstStyle/>
                    <a:p>
                      <a:r>
                        <a:rPr kumimoji="1" lang="en-US" sz="1400" b="1" kern="1200" dirty="0">
                          <a:solidFill>
                            <a:schemeClr val="lt1"/>
                          </a:solidFill>
                          <a:latin typeface="Calibri" panose="020F0502020204030204" pitchFamily="34" charset="0"/>
                          <a:ea typeface="+mn-ea"/>
                          <a:cs typeface="Calibri" panose="020F0502020204030204" pitchFamily="34" charset="0"/>
                        </a:rPr>
                        <a:t>SI.NO</a:t>
                      </a:r>
                      <a:endParaRPr kumimoji="1" lang="en-IN" sz="1400" b="1" kern="1200" dirty="0">
                        <a:solidFill>
                          <a:schemeClr val="lt1"/>
                        </a:solidFill>
                        <a:latin typeface="Calibri" panose="020F0502020204030204" pitchFamily="34" charset="0"/>
                        <a:ea typeface="+mn-ea"/>
                        <a:cs typeface="Calibri" panose="020F0502020204030204" pitchFamily="34" charset="0"/>
                      </a:endParaRPr>
                    </a:p>
                  </a:txBody>
                  <a:tcPr/>
                </a:tc>
                <a:tc>
                  <a:txBody>
                    <a:bodyPr/>
                    <a:lstStyle/>
                    <a:p>
                      <a:r>
                        <a:rPr kumimoji="1" lang="en-US" sz="1400" b="1" kern="1200" dirty="0">
                          <a:solidFill>
                            <a:schemeClr val="lt1"/>
                          </a:solidFill>
                          <a:latin typeface="Calibri" panose="020F0502020204030204" pitchFamily="34" charset="0"/>
                          <a:ea typeface="+mn-ea"/>
                          <a:cs typeface="Calibri" panose="020F0502020204030204" pitchFamily="34" charset="0"/>
                        </a:rPr>
                        <a:t>Name</a:t>
                      </a:r>
                      <a:endParaRPr kumimoji="1" lang="en-IN" sz="1400" b="1" kern="1200" dirty="0">
                        <a:solidFill>
                          <a:schemeClr val="lt1"/>
                        </a:solidFill>
                        <a:latin typeface="Calibri" panose="020F0502020204030204" pitchFamily="34" charset="0"/>
                        <a:ea typeface="+mn-ea"/>
                        <a:cs typeface="Calibri" panose="020F0502020204030204" pitchFamily="34" charset="0"/>
                      </a:endParaRPr>
                    </a:p>
                  </a:txBody>
                  <a:tcPr/>
                </a:tc>
                <a:tc>
                  <a:txBody>
                    <a:bodyPr/>
                    <a:lstStyle/>
                    <a:p>
                      <a:r>
                        <a:rPr kumimoji="1" lang="en-US" sz="1400" b="1" kern="1200" dirty="0">
                          <a:solidFill>
                            <a:schemeClr val="lt1"/>
                          </a:solidFill>
                          <a:latin typeface="Calibri" panose="020F0502020204030204" pitchFamily="34" charset="0"/>
                          <a:ea typeface="+mn-ea"/>
                          <a:cs typeface="Calibri" panose="020F0502020204030204" pitchFamily="34" charset="0"/>
                        </a:rPr>
                        <a:t>Description</a:t>
                      </a:r>
                      <a:endParaRPr kumimoji="1" lang="en-IN" sz="1400" b="1" kern="1200" dirty="0">
                        <a:solidFill>
                          <a:schemeClr val="lt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635581820"/>
                  </a:ext>
                </a:extLst>
              </a:tr>
              <a:tr h="686654">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1</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Vehicle Model Master </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r>
                        <a:rPr kumimoji="1" lang="en-IN" sz="1400" kern="1200" dirty="0">
                          <a:solidFill>
                            <a:schemeClr val="dk1"/>
                          </a:solidFill>
                          <a:latin typeface="Calibri" panose="020F0502020204030204" pitchFamily="34" charset="0"/>
                          <a:ea typeface="+mn-ea"/>
                          <a:cs typeface="Calibri" panose="020F0502020204030204" pitchFamily="34" charset="0"/>
                        </a:rPr>
                        <a:t>Model Codes provides Nissan vehicle Related information to dealers like, which Model, which Manufactures, Specification, which Variants etc. They will use these information for registering car in their country. Also used for new model launches, ordering vehicles from OEM, inventory management, pricing</a:t>
                      </a:r>
                    </a:p>
                  </a:txBody>
                  <a:tcPr/>
                </a:tc>
                <a:extLst>
                  <a:ext uri="{0D108BD9-81ED-4DB2-BD59-A6C34878D82A}">
                    <a16:rowId xmlns:a16="http://schemas.microsoft.com/office/drawing/2014/main" val="1739361981"/>
                  </a:ext>
                </a:extLst>
              </a:tr>
              <a:tr h="686654">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2</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Parts Model Master</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IN" sz="1400" kern="1200" dirty="0">
                          <a:solidFill>
                            <a:schemeClr val="dk1"/>
                          </a:solidFill>
                          <a:latin typeface="Calibri" panose="020F0502020204030204" pitchFamily="34" charset="0"/>
                          <a:ea typeface="+mn-ea"/>
                          <a:cs typeface="Calibri" panose="020F0502020204030204" pitchFamily="34" charset="0"/>
                        </a:rPr>
                        <a:t>Parts master provide Nissan Model wise Parts information like Part number, Parts description, Supplier, superseded parts etc. for dealer to make parts order to Manufacturer. Inventory management, order management, pricing</a:t>
                      </a:r>
                    </a:p>
                  </a:txBody>
                  <a:tcPr/>
                </a:tc>
                <a:extLst>
                  <a:ext uri="{0D108BD9-81ED-4DB2-BD59-A6C34878D82A}">
                    <a16:rowId xmlns:a16="http://schemas.microsoft.com/office/drawing/2014/main" val="3633171777"/>
                  </a:ext>
                </a:extLst>
              </a:tr>
              <a:tr h="486380">
                <a:tc>
                  <a:txBody>
                    <a:bodyPr/>
                    <a:lstStyle/>
                    <a:p>
                      <a:r>
                        <a:rPr kumimoji="1" lang="en-US" sz="1400" kern="1200" dirty="0">
                          <a:solidFill>
                            <a:srgbClr val="0070C0"/>
                          </a:solidFill>
                          <a:latin typeface="Calibri" panose="020F0502020204030204" pitchFamily="34" charset="0"/>
                          <a:ea typeface="+mn-ea"/>
                          <a:cs typeface="Calibri" panose="020F0502020204030204" pitchFamily="34" charset="0"/>
                        </a:rPr>
                        <a:t>3</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rgbClr val="0070C0"/>
                          </a:solidFill>
                          <a:latin typeface="Calibri" panose="020F0502020204030204" pitchFamily="34" charset="0"/>
                          <a:ea typeface="+mn-ea"/>
                          <a:cs typeface="Calibri" panose="020F0502020204030204" pitchFamily="34" charset="0"/>
                        </a:rPr>
                        <a:t>Vehicle Order </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r>
                        <a:rPr kumimoji="1" lang="en-IN" sz="1400" kern="1200" dirty="0">
                          <a:solidFill>
                            <a:srgbClr val="0070C0"/>
                          </a:solidFill>
                          <a:latin typeface="Calibri" panose="020F0502020204030204" pitchFamily="34" charset="0"/>
                          <a:ea typeface="+mn-ea"/>
                          <a:cs typeface="Calibri" panose="020F0502020204030204" pitchFamily="34" charset="0"/>
                        </a:rPr>
                        <a:t>Vehicle Order refers to the placement of Vehicle Purchase Orders to manufacturer by a dealer and reporting order status back to Dealer, it's</a:t>
                      </a:r>
                      <a:r>
                        <a:rPr kumimoji="1" lang="en-IN" sz="1400" kern="1200" baseline="0" dirty="0">
                          <a:solidFill>
                            <a:srgbClr val="0070C0"/>
                          </a:solidFill>
                          <a:latin typeface="Calibri" panose="020F0502020204030204" pitchFamily="34" charset="0"/>
                          <a:ea typeface="+mn-ea"/>
                          <a:cs typeface="Calibri" panose="020F0502020204030204" pitchFamily="34" charset="0"/>
                        </a:rPr>
                        <a:t> a </a:t>
                      </a:r>
                      <a:r>
                        <a:rPr kumimoji="1" lang="en-IN" sz="1400" kern="1200" dirty="0">
                          <a:solidFill>
                            <a:srgbClr val="0070C0"/>
                          </a:solidFill>
                          <a:latin typeface="Calibri" panose="020F0502020204030204" pitchFamily="34" charset="0"/>
                          <a:ea typeface="+mn-ea"/>
                          <a:cs typeface="Calibri" panose="020F0502020204030204" pitchFamily="34" charset="0"/>
                        </a:rPr>
                        <a:t>real-time transaction</a:t>
                      </a:r>
                    </a:p>
                  </a:txBody>
                  <a:tcPr/>
                </a:tc>
                <a:extLst>
                  <a:ext uri="{0D108BD9-81ED-4DB2-BD59-A6C34878D82A}">
                    <a16:rowId xmlns:a16="http://schemas.microsoft.com/office/drawing/2014/main" val="118576804"/>
                  </a:ext>
                </a:extLst>
              </a:tr>
              <a:tr h="486380">
                <a:tc>
                  <a:txBody>
                    <a:bodyPr/>
                    <a:lstStyle/>
                    <a:p>
                      <a:r>
                        <a:rPr kumimoji="1" lang="en-US" sz="1400" kern="1200" dirty="0">
                          <a:solidFill>
                            <a:srgbClr val="0070C0"/>
                          </a:solidFill>
                          <a:latin typeface="Calibri" panose="020F0502020204030204" pitchFamily="34" charset="0"/>
                          <a:ea typeface="+mn-ea"/>
                          <a:cs typeface="Calibri" panose="020F0502020204030204" pitchFamily="34" charset="0"/>
                        </a:rPr>
                        <a:t>4</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rgbClr val="0070C0"/>
                          </a:solidFill>
                          <a:latin typeface="Calibri" panose="020F0502020204030204" pitchFamily="34" charset="0"/>
                          <a:ea typeface="+mn-ea"/>
                          <a:cs typeface="Calibri" panose="020F0502020204030204" pitchFamily="34" charset="0"/>
                        </a:rPr>
                        <a:t>Parts Order</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IN" sz="1400" kern="1200" dirty="0">
                          <a:solidFill>
                            <a:srgbClr val="0070C0"/>
                          </a:solidFill>
                          <a:latin typeface="Calibri" panose="020F0502020204030204" pitchFamily="34" charset="0"/>
                          <a:ea typeface="+mn-ea"/>
                          <a:cs typeface="Calibri" panose="020F0502020204030204" pitchFamily="34" charset="0"/>
                        </a:rPr>
                        <a:t>Parts Order refers to the placement of Parts Purchase Orders to manufacturer by a dealer and reporting order status back to Dealer, it’s</a:t>
                      </a:r>
                      <a:r>
                        <a:rPr kumimoji="1" lang="en-IN" sz="1400" kern="1200" baseline="0" dirty="0">
                          <a:solidFill>
                            <a:srgbClr val="0070C0"/>
                          </a:solidFill>
                          <a:latin typeface="Calibri" panose="020F0502020204030204" pitchFamily="34" charset="0"/>
                          <a:ea typeface="+mn-ea"/>
                          <a:cs typeface="Calibri" panose="020F0502020204030204" pitchFamily="34" charset="0"/>
                        </a:rPr>
                        <a:t> a </a:t>
                      </a:r>
                      <a:r>
                        <a:rPr kumimoji="1" lang="en-IN" sz="1400" kern="1200" dirty="0">
                          <a:solidFill>
                            <a:srgbClr val="0070C0"/>
                          </a:solidFill>
                          <a:latin typeface="Calibri" panose="020F0502020204030204" pitchFamily="34" charset="0"/>
                          <a:ea typeface="+mn-ea"/>
                          <a:cs typeface="Calibri" panose="020F0502020204030204" pitchFamily="34" charset="0"/>
                        </a:rPr>
                        <a:t>real-time transaction</a:t>
                      </a:r>
                    </a:p>
                  </a:txBody>
                  <a:tcPr/>
                </a:tc>
                <a:extLst>
                  <a:ext uri="{0D108BD9-81ED-4DB2-BD59-A6C34878D82A}">
                    <a16:rowId xmlns:a16="http://schemas.microsoft.com/office/drawing/2014/main" val="2007880206"/>
                  </a:ext>
                </a:extLst>
              </a:tr>
              <a:tr h="486380">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5</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Vehicle Delivery Receipt </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r>
                        <a:rPr kumimoji="1" lang="en-IN" sz="1400" kern="1200" dirty="0">
                          <a:solidFill>
                            <a:schemeClr val="dk1"/>
                          </a:solidFill>
                          <a:latin typeface="Calibri" panose="020F0502020204030204" pitchFamily="34" charset="0"/>
                          <a:ea typeface="+mn-ea"/>
                          <a:cs typeface="Calibri" panose="020F0502020204030204" pitchFamily="34" charset="0"/>
                        </a:rPr>
                        <a:t>It provides the information to dealers about the vehicle despatch status like Shipping details, Shipping party, vehicle delivery details like invoice number, invoice amount, quantity, specification, etc.</a:t>
                      </a:r>
                    </a:p>
                  </a:txBody>
                  <a:tcPr/>
                </a:tc>
                <a:extLst>
                  <a:ext uri="{0D108BD9-81ED-4DB2-BD59-A6C34878D82A}">
                    <a16:rowId xmlns:a16="http://schemas.microsoft.com/office/drawing/2014/main" val="1197264790"/>
                  </a:ext>
                </a:extLst>
              </a:tr>
              <a:tr h="486380">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6</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Parts Delivery Receipt</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r>
                        <a:rPr kumimoji="1" lang="en-IN" sz="1400" kern="1200" dirty="0">
                          <a:solidFill>
                            <a:schemeClr val="dk1"/>
                          </a:solidFill>
                          <a:latin typeface="Calibri" panose="020F0502020204030204" pitchFamily="34" charset="0"/>
                          <a:ea typeface="+mn-ea"/>
                          <a:cs typeface="Calibri" panose="020F0502020204030204" pitchFamily="34" charset="0"/>
                        </a:rPr>
                        <a:t>It provides the information to dealers about the Parts despatch status like Shipping details, Shipping party, Parts delivery details like invoice number, invoice amount, quantity etc.</a:t>
                      </a:r>
                    </a:p>
                  </a:txBody>
                  <a:tcPr/>
                </a:tc>
                <a:extLst>
                  <a:ext uri="{0D108BD9-81ED-4DB2-BD59-A6C34878D82A}">
                    <a16:rowId xmlns:a16="http://schemas.microsoft.com/office/drawing/2014/main" val="3681613863"/>
                  </a:ext>
                </a:extLst>
              </a:tr>
              <a:tr h="486380">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7</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Warranty Registration</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spcAft>
                          <a:spcPts val="0"/>
                        </a:spcAft>
                      </a:pPr>
                      <a:r>
                        <a:rPr kumimoji="1" lang="en-IN" sz="1400" kern="1200" dirty="0">
                          <a:solidFill>
                            <a:schemeClr val="dk1"/>
                          </a:solidFill>
                          <a:latin typeface="Calibri" panose="020F0502020204030204" pitchFamily="34" charset="0"/>
                          <a:ea typeface="+mn-ea"/>
                          <a:cs typeface="Calibri" panose="020F0502020204030204" pitchFamily="34" charset="0"/>
                        </a:rPr>
                        <a:t>Retailed vehicle information such as Model, specifications, Sold date, Sold customer information, Warranty condition applied etc. are registered with the manufacturer</a:t>
                      </a:r>
                    </a:p>
                  </a:txBody>
                  <a:tcPr/>
                </a:tc>
                <a:extLst>
                  <a:ext uri="{0D108BD9-81ED-4DB2-BD59-A6C34878D82A}">
                    <a16:rowId xmlns:a16="http://schemas.microsoft.com/office/drawing/2014/main" val="3479791895"/>
                  </a:ext>
                </a:extLst>
              </a:tr>
              <a:tr h="486380">
                <a:tc>
                  <a:txBody>
                    <a:bodyPr/>
                    <a:lstStyle/>
                    <a:p>
                      <a:r>
                        <a:rPr kumimoji="1" lang="en-US" sz="1400" kern="1200" dirty="0">
                          <a:solidFill>
                            <a:srgbClr val="0070C0"/>
                          </a:solidFill>
                          <a:latin typeface="Calibri" panose="020F0502020204030204" pitchFamily="34" charset="0"/>
                          <a:ea typeface="+mn-ea"/>
                          <a:cs typeface="Calibri" panose="020F0502020204030204" pitchFamily="34" charset="0"/>
                        </a:rPr>
                        <a:t>8</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rgbClr val="0070C0"/>
                          </a:solidFill>
                          <a:latin typeface="Calibri" panose="020F0502020204030204" pitchFamily="34" charset="0"/>
                          <a:ea typeface="+mn-ea"/>
                          <a:cs typeface="Calibri" panose="020F0502020204030204" pitchFamily="34" charset="0"/>
                        </a:rPr>
                        <a:t>Warranty Claim Entry</a:t>
                      </a:r>
                      <a:endParaRPr kumimoji="1" lang="en-IN" sz="1400" kern="1200" dirty="0">
                        <a:solidFill>
                          <a:srgbClr val="0070C0"/>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r>
                        <a:rPr kumimoji="1" lang="en-IN" sz="1400" kern="1200" dirty="0">
                          <a:solidFill>
                            <a:srgbClr val="0070C0"/>
                          </a:solidFill>
                          <a:latin typeface="Calibri" panose="020F0502020204030204" pitchFamily="34" charset="0"/>
                          <a:ea typeface="+mn-ea"/>
                          <a:cs typeface="Calibri" panose="020F0502020204030204" pitchFamily="34" charset="0"/>
                        </a:rPr>
                        <a:t>Dealers raise the parts warranty claim to OEM with the information like Model, repair date, Customer issues etc. and the OEM shares warranty claim approved status back to dealer to proceed with repair.</a:t>
                      </a:r>
                    </a:p>
                  </a:txBody>
                  <a:tcPr/>
                </a:tc>
                <a:extLst>
                  <a:ext uri="{0D108BD9-81ED-4DB2-BD59-A6C34878D82A}">
                    <a16:rowId xmlns:a16="http://schemas.microsoft.com/office/drawing/2014/main" val="3883509186"/>
                  </a:ext>
                </a:extLst>
              </a:tr>
              <a:tr h="339050">
                <a:tc>
                  <a:txBody>
                    <a:bodyPr/>
                    <a:lstStyle/>
                    <a:p>
                      <a:r>
                        <a:rPr kumimoji="1" lang="en-US" sz="1400" kern="1200" dirty="0">
                          <a:solidFill>
                            <a:schemeClr val="dk1"/>
                          </a:solidFill>
                          <a:latin typeface="Calibri" panose="020F0502020204030204" pitchFamily="34" charset="0"/>
                          <a:ea typeface="+mn-ea"/>
                          <a:cs typeface="Calibri" panose="020F0502020204030204" pitchFamily="34" charset="0"/>
                        </a:rPr>
                        <a:t>9</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DMS Acknowledgement </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tc>
                  <a:txBody>
                    <a:bodyPr/>
                    <a:lstStyle/>
                    <a:p>
                      <a:pPr marL="0" algn="l" defTabSz="914400" rtl="0" eaLnBrk="1" latinLnBrk="0" hangingPunct="1"/>
                      <a:r>
                        <a:rPr kumimoji="1" lang="en-US" sz="1400" kern="1200" dirty="0">
                          <a:solidFill>
                            <a:schemeClr val="dk1"/>
                          </a:solidFill>
                          <a:latin typeface="Calibri" panose="020F0502020204030204" pitchFamily="34" charset="0"/>
                          <a:ea typeface="+mn-ea"/>
                          <a:cs typeface="Calibri" panose="020F0502020204030204" pitchFamily="34" charset="0"/>
                        </a:rPr>
                        <a:t>This</a:t>
                      </a:r>
                      <a:r>
                        <a:rPr kumimoji="1" lang="en-US" sz="1400" kern="1200" baseline="0" dirty="0">
                          <a:solidFill>
                            <a:schemeClr val="dk1"/>
                          </a:solidFill>
                          <a:latin typeface="Calibri" panose="020F0502020204030204" pitchFamily="34" charset="0"/>
                          <a:ea typeface="+mn-ea"/>
                          <a:cs typeface="Calibri" panose="020F0502020204030204" pitchFamily="34" charset="0"/>
                        </a:rPr>
                        <a:t> is API provides acknowledgement of every data DDI share with NIMS.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a:tc>
                <a:extLst>
                  <a:ext uri="{0D108BD9-81ED-4DB2-BD59-A6C34878D82A}">
                    <a16:rowId xmlns:a16="http://schemas.microsoft.com/office/drawing/2014/main" val="3202714359"/>
                  </a:ext>
                </a:extLst>
              </a:tr>
            </a:tbl>
          </a:graphicData>
        </a:graphic>
      </p:graphicFrame>
    </p:spTree>
    <p:extLst>
      <p:ext uri="{BB962C8B-B14F-4D97-AF65-F5344CB8AC3E}">
        <p14:creationId xmlns:p14="http://schemas.microsoft.com/office/powerpoint/2010/main" val="19962945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angle 59">
            <a:extLst>
              <a:ext uri="{FF2B5EF4-FFF2-40B4-BE49-F238E27FC236}">
                <a16:creationId xmlns:a16="http://schemas.microsoft.com/office/drawing/2014/main" id="{AF22A284-F40E-4CFB-AA7A-9D49EC350CBF}"/>
              </a:ext>
            </a:extLst>
          </p:cNvPr>
          <p:cNvSpPr>
            <a:spLocks noChangeArrowheads="1"/>
          </p:cNvSpPr>
          <p:nvPr/>
        </p:nvSpPr>
        <p:spPr bwMode="auto">
          <a:xfrm>
            <a:off x="3990290" y="4158147"/>
            <a:ext cx="3309131" cy="626141"/>
          </a:xfrm>
          <a:prstGeom prst="rect">
            <a:avLst/>
          </a:prstGeom>
          <a:solidFill>
            <a:srgbClr val="DDDDDD"/>
          </a:solidFill>
          <a:ln w="12700" algn="ctr">
            <a:solidFill>
              <a:srgbClr val="7030A0"/>
            </a:solidFill>
            <a:miter lim="800000"/>
            <a:headEnd/>
            <a:tailEnd/>
          </a:ln>
          <a:effectLst>
            <a:outerShdw dist="53882" dir="2700000" algn="ctr" rotWithShape="0">
              <a:schemeClr val="bg2"/>
            </a:outerShdw>
          </a:effectLst>
        </p:spPr>
        <p:txBody>
          <a:bodyPr wrap="none" lIns="86400" tIns="43200" rIns="86400" bIns="43200" anchor="ctr"/>
          <a:lstStyle/>
          <a:p>
            <a:endParaRPr lang="en-US" altLang="ja-JP" sz="923" dirty="0">
              <a:latin typeface="Tahoma" panose="020B0604030504040204" pitchFamily="34" charset="0"/>
            </a:endParaRPr>
          </a:p>
        </p:txBody>
      </p:sp>
      <p:sp>
        <p:nvSpPr>
          <p:cNvPr id="186" name="AutoShape 25">
            <a:extLst>
              <a:ext uri="{FF2B5EF4-FFF2-40B4-BE49-F238E27FC236}">
                <a16:creationId xmlns:a16="http://schemas.microsoft.com/office/drawing/2014/main" id="{2AE3CF41-80E1-4AA0-AEAB-AB4E3A1E4F82}"/>
              </a:ext>
            </a:extLst>
          </p:cNvPr>
          <p:cNvSpPr>
            <a:spLocks noChangeArrowheads="1"/>
          </p:cNvSpPr>
          <p:nvPr/>
        </p:nvSpPr>
        <p:spPr bwMode="auto">
          <a:xfrm>
            <a:off x="99926" y="1358689"/>
            <a:ext cx="1875911" cy="3002812"/>
          </a:xfrm>
          <a:prstGeom prst="roundRect">
            <a:avLst>
              <a:gd name="adj" fmla="val 6444"/>
            </a:avLst>
          </a:prstGeom>
          <a:solidFill>
            <a:srgbClr val="FFFFFF">
              <a:alpha val="50195"/>
            </a:srgbClr>
          </a:solidFill>
          <a:ln w="28575" algn="ctr">
            <a:solidFill>
              <a:srgbClr val="5795BB"/>
            </a:solidFill>
            <a:round/>
            <a:headEnd/>
            <a:tailEnd/>
          </a:ln>
        </p:spPr>
        <p:txBody>
          <a:bodyPr wrap="none" anchor="ctr"/>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defTabSz="514350">
              <a:spcBef>
                <a:spcPct val="50000"/>
              </a:spcBef>
              <a:defRPr/>
            </a:pPr>
            <a:endParaRPr kumimoji="0" lang="ja-JP" altLang="en-US" sz="863"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68" name="Text Box 231">
            <a:extLst>
              <a:ext uri="{FF2B5EF4-FFF2-40B4-BE49-F238E27FC236}">
                <a16:creationId xmlns:a16="http://schemas.microsoft.com/office/drawing/2014/main" id="{B423DBA8-5C91-4FC2-B986-C3FF43786052}"/>
              </a:ext>
            </a:extLst>
          </p:cNvPr>
          <p:cNvSpPr txBox="1">
            <a:spLocks noChangeArrowheads="1"/>
          </p:cNvSpPr>
          <p:nvPr/>
        </p:nvSpPr>
        <p:spPr bwMode="auto">
          <a:xfrm rot="10800000" flipV="1">
            <a:off x="641721" y="1821476"/>
            <a:ext cx="85998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3F66"/>
              </a:buClr>
              <a:buSzPct val="110000"/>
              <a:buFont typeface="Wingdings" panose="05000000000000000000" pitchFamily="2" charset="2"/>
              <a:buChar char="n"/>
              <a:defRPr kumimoji="1" sz="24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1pPr>
            <a:lvl2pPr marL="742950" indent="-285750">
              <a:spcBef>
                <a:spcPct val="20000"/>
              </a:spcBef>
              <a:buClr>
                <a:srgbClr val="5795BB"/>
              </a:buClr>
              <a:buSzPct val="60000"/>
              <a:buFont typeface="Wingdings" panose="05000000000000000000" pitchFamily="2" charset="2"/>
              <a:buChar char="n"/>
              <a:defRPr kumimoji="1" sz="20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2pPr>
            <a:lvl3pPr marL="1143000" indent="-228600">
              <a:spcBef>
                <a:spcPct val="20000"/>
              </a:spcBef>
              <a:buClr>
                <a:srgbClr val="003F66"/>
              </a:buClr>
              <a:buSzPct val="95000"/>
              <a:buFont typeface="Wingdings" panose="05000000000000000000" pitchFamily="2" charset="2"/>
              <a:buChar char="w"/>
              <a:defRPr kumimoji="1">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3pPr>
            <a:lvl4pPr marL="1600200" indent="-228600">
              <a:spcBef>
                <a:spcPct val="20000"/>
              </a:spcBef>
              <a:buClr>
                <a:srgbClr val="5795BB"/>
              </a:buClr>
              <a:buSzPct val="65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4pPr>
            <a:lvl5pPr marL="2057400" indent="-228600">
              <a:spcBef>
                <a:spcPct val="20000"/>
              </a:spcBef>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5pPr>
            <a:lvl6pPr marL="25146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6pPr>
            <a:lvl7pPr marL="29718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7pPr>
            <a:lvl8pPr marL="34290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8pPr>
            <a:lvl9pPr marL="38862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9pPr>
          </a:lstStyle>
          <a:p>
            <a:pPr algn="ctr" fontAlgn="base">
              <a:spcBef>
                <a:spcPct val="0"/>
              </a:spcBef>
              <a:spcAft>
                <a:spcPct val="0"/>
              </a:spcAft>
              <a:buClrTx/>
              <a:buSzTx/>
              <a:buFontTx/>
              <a:buNone/>
            </a:pPr>
            <a:r>
              <a:rPr lang="en-US" altLang="ja-JP" sz="1050" dirty="0">
                <a:latin typeface="Meiryo UI" panose="020B0604030504040204" pitchFamily="50" charset="-128"/>
                <a:ea typeface="Meiryo UI" panose="020B0604030504040204" pitchFamily="50" charset="-128"/>
                <a:cs typeface="Meiryo UI" panose="020B0604030504040204" pitchFamily="50" charset="-128"/>
              </a:rPr>
              <a:t>Internet</a:t>
            </a:r>
          </a:p>
        </p:txBody>
      </p:sp>
      <p:sp>
        <p:nvSpPr>
          <p:cNvPr id="53" name="正方形/長方形 5">
            <a:extLst>
              <a:ext uri="{FF2B5EF4-FFF2-40B4-BE49-F238E27FC236}">
                <a16:creationId xmlns:a16="http://schemas.microsoft.com/office/drawing/2014/main" id="{6AC10F5E-49B7-4EB5-8BD5-E684EB526F6E}"/>
              </a:ext>
            </a:extLst>
          </p:cNvPr>
          <p:cNvSpPr/>
          <p:nvPr/>
        </p:nvSpPr>
        <p:spPr bwMode="auto">
          <a:xfrm>
            <a:off x="2349215" y="1094004"/>
            <a:ext cx="6984540" cy="3798204"/>
          </a:xfrm>
          <a:prstGeom prst="rect">
            <a:avLst/>
          </a:prstGeom>
          <a:noFill/>
          <a:ln w="12700" cap="flat" cmpd="sng" algn="ctr">
            <a:solidFill>
              <a:srgbClr val="FFFFFF">
                <a:lumMod val="50000"/>
              </a:srgbClr>
            </a:solidFill>
            <a:prstDash val="solid"/>
            <a:round/>
            <a:headEnd type="none" w="sm" len="sm"/>
            <a:tailEnd type="none" w="sm" len="sm"/>
          </a:ln>
          <a:effectLst/>
        </p:spPr>
        <p:txBody>
          <a:bodyPr vert="horz" wrap="square" lIns="38576" tIns="19289" rIns="38576" bIns="19289" numCol="1" rtlCol="0" anchor="t" anchorCtr="0" compatLnSpc="1">
            <a:prstTxWarp prst="textNoShape">
              <a:avLst/>
            </a:prstTxWarp>
          </a:bodyPr>
          <a:lstStyle/>
          <a:p>
            <a:pPr algn="ctr" defTabSz="385763">
              <a:defRPr/>
            </a:pPr>
            <a:endParaRPr lang="ja-JP" altLang="en-US" sz="1200" b="1" kern="0" dirty="0" err="1">
              <a:solidFill>
                <a:srgbClr val="000008"/>
              </a:solidFill>
              <a:latin typeface="Meiryo UI" panose="020B0604030504040204" pitchFamily="50" charset="-128"/>
              <a:ea typeface="Meiryo UI" panose="020B0604030504040204" pitchFamily="50" charset="-128"/>
              <a:cs typeface="Segoe UI" panose="020B0502040204020203" pitchFamily="34" charset="0"/>
            </a:endParaRPr>
          </a:p>
        </p:txBody>
      </p:sp>
      <p:sp>
        <p:nvSpPr>
          <p:cNvPr id="160" name="正方形/長方形 159">
            <a:extLst>
              <a:ext uri="{FF2B5EF4-FFF2-40B4-BE49-F238E27FC236}">
                <a16:creationId xmlns:a16="http://schemas.microsoft.com/office/drawing/2014/main" id="{434D6D18-81C1-4994-8C27-11629DF69099}"/>
              </a:ext>
            </a:extLst>
          </p:cNvPr>
          <p:cNvSpPr/>
          <p:nvPr/>
        </p:nvSpPr>
        <p:spPr>
          <a:xfrm>
            <a:off x="2661921" y="92794"/>
            <a:ext cx="8635344" cy="971645"/>
          </a:xfrm>
          <a:prstGeom prst="rect">
            <a:avLst/>
          </a:prstGeom>
          <a:noFill/>
          <a:ln w="9525" cap="flat" cmpd="sng" algn="ctr">
            <a:solidFill>
              <a:srgbClr val="324764"/>
            </a:solidFill>
            <a:prstDash val="solid"/>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1200" u="sng" kern="0" dirty="0" smtClean="0">
                <a:solidFill>
                  <a:srgbClr val="000000"/>
                </a:solidFill>
                <a:latin typeface="Verdana"/>
              </a:rPr>
              <a:t>Legend</a:t>
            </a:r>
            <a:endParaRPr kumimoji="0" lang="ja-JP" altLang="en-US" sz="1200" u="sng" kern="0" dirty="0" err="1">
              <a:solidFill>
                <a:srgbClr val="000000"/>
              </a:solidFill>
              <a:latin typeface="Verdana"/>
            </a:endParaRPr>
          </a:p>
        </p:txBody>
      </p:sp>
      <p:sp>
        <p:nvSpPr>
          <p:cNvPr id="157" name="TextBox 156">
            <a:extLst>
              <a:ext uri="{FF2B5EF4-FFF2-40B4-BE49-F238E27FC236}">
                <a16:creationId xmlns:a16="http://schemas.microsoft.com/office/drawing/2014/main" id="{48B11175-8F26-E049-8FCE-A7F653ADEDC5}"/>
              </a:ext>
            </a:extLst>
          </p:cNvPr>
          <p:cNvSpPr txBox="1"/>
          <p:nvPr/>
        </p:nvSpPr>
        <p:spPr>
          <a:xfrm>
            <a:off x="8781280" y="689965"/>
            <a:ext cx="611798" cy="276999"/>
          </a:xfrm>
          <a:prstGeom prst="rect">
            <a:avLst/>
          </a:prstGeom>
          <a:noFill/>
        </p:spPr>
        <p:txBody>
          <a:bodyPr wrap="square" rtlCol="0">
            <a:spAutoFit/>
          </a:bodyPr>
          <a:lstStyle>
            <a:defPPr>
              <a:defRPr lang="en-US"/>
            </a:defPPr>
            <a:lvl1pPr algn="ctr">
              <a:defRPr sz="1000"/>
            </a:lvl1pPr>
          </a:lstStyle>
          <a:p>
            <a:r>
              <a:rPr kumimoji="0" lang="en-US" sz="600" kern="0" dirty="0">
                <a:solidFill>
                  <a:schemeClr val="accent5">
                    <a:lumMod val="50000"/>
                  </a:schemeClr>
                </a:solidFill>
                <a:ea typeface="Verdana" panose="020B0604030504040204" pitchFamily="34" charset="0"/>
                <a:cs typeface="Meiryo UI" pitchFamily="50" charset="-128"/>
              </a:rPr>
              <a:t>Cloud Watch</a:t>
            </a:r>
          </a:p>
        </p:txBody>
      </p:sp>
      <p:sp>
        <p:nvSpPr>
          <p:cNvPr id="218" name="TextBox 110"/>
          <p:cNvSpPr txBox="1">
            <a:spLocks noChangeArrowheads="1"/>
          </p:cNvSpPr>
          <p:nvPr/>
        </p:nvSpPr>
        <p:spPr bwMode="auto">
          <a:xfrm>
            <a:off x="7641275" y="692295"/>
            <a:ext cx="704673"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kumimoji="0" lang="en-US" altLang="en-US" sz="600" kern="0" dirty="0">
                <a:solidFill>
                  <a:schemeClr val="accent5">
                    <a:lumMod val="50000"/>
                  </a:schemeClr>
                </a:solidFill>
                <a:latin typeface="Arial" charset="0"/>
                <a:ea typeface="Verdana" panose="020B0604030504040204" pitchFamily="34" charset="0"/>
                <a:cs typeface="Meiryo UI" pitchFamily="50" charset="-128"/>
              </a:rPr>
              <a:t>Aws batch</a:t>
            </a:r>
          </a:p>
        </p:txBody>
      </p:sp>
      <p:sp>
        <p:nvSpPr>
          <p:cNvPr id="132" name="TextBox 75"/>
          <p:cNvSpPr txBox="1">
            <a:spLocks noChangeArrowheads="1"/>
          </p:cNvSpPr>
          <p:nvPr/>
        </p:nvSpPr>
        <p:spPr bwMode="auto">
          <a:xfrm>
            <a:off x="8403966" y="1793449"/>
            <a:ext cx="99377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DDI Storage</a:t>
            </a:r>
            <a:endParaRPr lang="en-US" altLang="en-US" sz="800" dirty="0">
              <a:latin typeface="Tahoma" panose="020B0604030504040204" pitchFamily="34" charset="0"/>
              <a:ea typeface="メイリオ" panose="020B0604030504040204"/>
              <a:cs typeface="メイリオ" panose="020B0604030504040204"/>
            </a:endParaRPr>
          </a:p>
        </p:txBody>
      </p:sp>
      <p:sp>
        <p:nvSpPr>
          <p:cNvPr id="237" name="TextBox 183"/>
          <p:cNvSpPr txBox="1">
            <a:spLocks noChangeArrowheads="1"/>
          </p:cNvSpPr>
          <p:nvPr/>
        </p:nvSpPr>
        <p:spPr bwMode="auto">
          <a:xfrm>
            <a:off x="9815909" y="655727"/>
            <a:ext cx="474758"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err="1">
                <a:latin typeface="Tahoma" panose="020B0604030504040204" pitchFamily="34" charset="0"/>
                <a:ea typeface="メイリオ" panose="020B0604030504040204"/>
                <a:cs typeface="メイリオ" panose="020B0604030504040204"/>
              </a:rPr>
              <a:t>apigeest</a:t>
            </a:r>
            <a:endParaRPr lang="en-US" altLang="en-US" sz="600" dirty="0">
              <a:latin typeface="Tahoma" panose="020B0604030504040204" pitchFamily="34" charset="0"/>
              <a:ea typeface="メイリオ" panose="020B0604030504040204"/>
              <a:cs typeface="メイリオ" panose="020B0604030504040204"/>
            </a:endParaRPr>
          </a:p>
        </p:txBody>
      </p:sp>
      <p:sp>
        <p:nvSpPr>
          <p:cNvPr id="240" name="TextBox 184"/>
          <p:cNvSpPr txBox="1">
            <a:spLocks noChangeArrowheads="1"/>
          </p:cNvSpPr>
          <p:nvPr/>
        </p:nvSpPr>
        <p:spPr bwMode="auto">
          <a:xfrm>
            <a:off x="10099631" y="663770"/>
            <a:ext cx="5399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DMS System</a:t>
            </a:r>
          </a:p>
        </p:txBody>
      </p:sp>
      <p:sp>
        <p:nvSpPr>
          <p:cNvPr id="319" name="Title 1"/>
          <p:cNvSpPr txBox="1">
            <a:spLocks/>
          </p:cNvSpPr>
          <p:nvPr/>
        </p:nvSpPr>
        <p:spPr>
          <a:xfrm>
            <a:off x="0" y="-1"/>
            <a:ext cx="2375307" cy="821369"/>
          </a:xfrm>
        </p:spPr>
        <p:txBody>
          <a:bodyPr>
            <a:no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fontAlgn="auto">
              <a:spcAft>
                <a:spcPts val="0"/>
              </a:spcAft>
            </a:pPr>
            <a:r>
              <a:rPr lang="en-US" sz="1600" b="1" dirty="0"/>
              <a:t>System Architecture &amp; Data flow</a:t>
            </a:r>
            <a:endParaRPr lang="en-IN" sz="1600" b="1" dirty="0"/>
          </a:p>
        </p:txBody>
      </p:sp>
      <p:pic>
        <p:nvPicPr>
          <p:cNvPr id="110" name="Graphic 71"/>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688157" y="1936147"/>
            <a:ext cx="384181" cy="3850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 name="Group 7"/>
          <p:cNvGrpSpPr/>
          <p:nvPr/>
        </p:nvGrpSpPr>
        <p:grpSpPr>
          <a:xfrm>
            <a:off x="4035909" y="1172582"/>
            <a:ext cx="4443869" cy="2866066"/>
            <a:chOff x="-632389" y="870652"/>
            <a:chExt cx="5298393" cy="2898041"/>
          </a:xfrm>
        </p:grpSpPr>
        <p:sp>
          <p:nvSpPr>
            <p:cNvPr id="145" name="Rectangle 144">
              <a:extLst>
                <a:ext uri="{FF2B5EF4-FFF2-40B4-BE49-F238E27FC236}">
                  <a16:creationId xmlns:a16="http://schemas.microsoft.com/office/drawing/2014/main" id="{CE7F7081-419C-2E4F-A999-2923C4338FC0}"/>
                </a:ext>
              </a:extLst>
            </p:cNvPr>
            <p:cNvSpPr/>
            <p:nvPr/>
          </p:nvSpPr>
          <p:spPr>
            <a:xfrm>
              <a:off x="-632389" y="871670"/>
              <a:ext cx="5298393" cy="289702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r"/>
              <a:r>
                <a:rPr lang="en-US" sz="700" dirty="0">
                  <a:solidFill>
                    <a:schemeClr val="accent2">
                      <a:lumMod val="75000"/>
                    </a:schemeClr>
                  </a:solidFill>
                </a:rPr>
                <a:t>NML</a:t>
              </a:r>
              <a:r>
                <a:rPr lang="en-US" sz="800" dirty="0">
                  <a:solidFill>
                    <a:sysClr val="windowText" lastClr="000000"/>
                  </a:solidFill>
                </a:rPr>
                <a:t> </a:t>
              </a:r>
              <a:r>
                <a:rPr lang="en-US" sz="700" dirty="0">
                  <a:solidFill>
                    <a:schemeClr val="accent2">
                      <a:lumMod val="75000"/>
                    </a:schemeClr>
                  </a:solidFill>
                </a:rPr>
                <a:t>B2C  Mode 2</a:t>
              </a:r>
            </a:p>
          </p:txBody>
        </p:sp>
        <p:pic>
          <p:nvPicPr>
            <p:cNvPr id="147" name="Graphic 11">
              <a:extLst>
                <a:ext uri="{FF2B5EF4-FFF2-40B4-BE49-F238E27FC236}">
                  <a16:creationId xmlns:a16="http://schemas.microsoft.com/office/drawing/2014/main" id="{B0E20047-53B1-FF44-9CFB-D82DE4A888B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20656" y="870652"/>
              <a:ext cx="330200" cy="330200"/>
            </a:xfrm>
            <a:prstGeom prst="rect">
              <a:avLst/>
            </a:prstGeom>
          </p:spPr>
        </p:pic>
      </p:grpSp>
      <p:grpSp>
        <p:nvGrpSpPr>
          <p:cNvPr id="163" name="グループ化 6">
            <a:extLst>
              <a:ext uri="{FF2B5EF4-FFF2-40B4-BE49-F238E27FC236}">
                <a16:creationId xmlns:a16="http://schemas.microsoft.com/office/drawing/2014/main" id="{1097B360-B26F-4598-87E4-66BE210924D0}"/>
              </a:ext>
            </a:extLst>
          </p:cNvPr>
          <p:cNvGrpSpPr/>
          <p:nvPr/>
        </p:nvGrpSpPr>
        <p:grpSpPr>
          <a:xfrm>
            <a:off x="2302174" y="4239134"/>
            <a:ext cx="6886500" cy="2545526"/>
            <a:chOff x="1893892" y="2319308"/>
            <a:chExt cx="6747599" cy="3953695"/>
          </a:xfrm>
        </p:grpSpPr>
        <p:sp>
          <p:nvSpPr>
            <p:cNvPr id="164" name="正方形/長方形 3">
              <a:extLst>
                <a:ext uri="{FF2B5EF4-FFF2-40B4-BE49-F238E27FC236}">
                  <a16:creationId xmlns:a16="http://schemas.microsoft.com/office/drawing/2014/main" id="{9A4084BB-DFCE-4C0D-AC9A-E7090FBF2553}"/>
                </a:ext>
              </a:extLst>
            </p:cNvPr>
            <p:cNvSpPr/>
            <p:nvPr/>
          </p:nvSpPr>
          <p:spPr bwMode="auto">
            <a:xfrm>
              <a:off x="1893892" y="3640819"/>
              <a:ext cx="6747599" cy="2632184"/>
            </a:xfrm>
            <a:prstGeom prst="rect">
              <a:avLst/>
            </a:prstGeom>
            <a:solidFill>
              <a:srgbClr val="FFFFFF"/>
            </a:solidFill>
            <a:ln w="12700" cap="flat" cmpd="sng" algn="ctr">
              <a:solidFill>
                <a:srgbClr val="FFFFFF">
                  <a:lumMod val="50000"/>
                </a:srgbClr>
              </a:solidFill>
              <a:prstDash val="solid"/>
              <a:round/>
              <a:headEnd type="none" w="sm" len="sm"/>
              <a:tailEnd type="none" w="sm" len="sm"/>
            </a:ln>
            <a:effectLst/>
          </p:spPr>
          <p:txBody>
            <a:bodyPr vert="horz" wrap="square" lIns="38576" tIns="19289" rIns="38576" bIns="19289" numCol="1" rtlCol="0" anchor="b" anchorCtr="0" compatLnSpc="1">
              <a:prstTxWarp prst="textNoShape">
                <a:avLst/>
              </a:prstTxWarp>
            </a:bodyPr>
            <a:lstStyle/>
            <a:p>
              <a:pPr algn="r" defTabSz="385763">
                <a:defRPr/>
              </a:pPr>
              <a:r>
                <a:rPr lang="en-US" altLang="ja-JP" sz="380" kern="0" dirty="0">
                  <a:solidFill>
                    <a:srgbClr val="000008"/>
                  </a:solidFill>
                  <a:latin typeface="Meiryo UI" panose="020B0604030504040204" pitchFamily="50" charset="-128"/>
                  <a:ea typeface="Meiryo UI" panose="020B0604030504040204" pitchFamily="50" charset="-128"/>
                  <a:cs typeface="Segoe UI" panose="020B0502040204020203" pitchFamily="34" charset="0"/>
                </a:rPr>
                <a:t>NGDC</a:t>
              </a:r>
              <a:endParaRPr lang="ja-JP" altLang="en-US" sz="380" kern="0" dirty="0" err="1">
                <a:solidFill>
                  <a:srgbClr val="000008"/>
                </a:solidFill>
                <a:latin typeface="Meiryo UI" panose="020B0604030504040204" pitchFamily="50" charset="-128"/>
                <a:ea typeface="Meiryo UI" panose="020B0604030504040204" pitchFamily="50" charset="-128"/>
                <a:cs typeface="Segoe UI" panose="020B0502040204020203" pitchFamily="34" charset="0"/>
              </a:endParaRPr>
            </a:p>
          </p:txBody>
        </p:sp>
        <p:sp>
          <p:nvSpPr>
            <p:cNvPr id="166" name="Rectangle 12">
              <a:extLst>
                <a:ext uri="{FF2B5EF4-FFF2-40B4-BE49-F238E27FC236}">
                  <a16:creationId xmlns:a16="http://schemas.microsoft.com/office/drawing/2014/main" id="{AA99B47D-E5A1-4898-B1F8-7909EF42BB5C}"/>
                </a:ext>
              </a:extLst>
            </p:cNvPr>
            <p:cNvSpPr>
              <a:spLocks noChangeArrowheads="1"/>
            </p:cNvSpPr>
            <p:nvPr/>
          </p:nvSpPr>
          <p:spPr bwMode="auto">
            <a:xfrm>
              <a:off x="1945836" y="3698221"/>
              <a:ext cx="6626297" cy="2500178"/>
            </a:xfrm>
            <a:prstGeom prst="rect">
              <a:avLst/>
            </a:prstGeom>
            <a:solidFill>
              <a:srgbClr val="CCFF99">
                <a:alpha val="50195"/>
              </a:srgbClr>
            </a:solidFill>
            <a:ln w="28575" algn="ctr">
              <a:solidFill>
                <a:srgbClr val="66FF33"/>
              </a:solidFill>
              <a:miter lim="800000"/>
              <a:headEnd/>
              <a:tailEnd/>
            </a:ln>
          </p:spPr>
          <p:txBody>
            <a:bodyPr wrap="none" anchor="ctr"/>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fontAlgn="base">
                <a:spcBef>
                  <a:spcPct val="50000"/>
                </a:spcBef>
                <a:spcAft>
                  <a:spcPct val="0"/>
                </a:spcAft>
              </a:pPr>
              <a:endParaRPr kumimoji="0" lang="ja-JP" altLang="en-US" sz="863">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173" name="Rectangle 13">
              <a:extLst>
                <a:ext uri="{FF2B5EF4-FFF2-40B4-BE49-F238E27FC236}">
                  <a16:creationId xmlns:a16="http://schemas.microsoft.com/office/drawing/2014/main" id="{EA95AB73-0528-4E0F-83AB-2974F9183763}"/>
                </a:ext>
              </a:extLst>
            </p:cNvPr>
            <p:cNvSpPr>
              <a:spLocks noChangeArrowheads="1"/>
            </p:cNvSpPr>
            <p:nvPr/>
          </p:nvSpPr>
          <p:spPr bwMode="auto">
            <a:xfrm>
              <a:off x="3413771" y="2319308"/>
              <a:ext cx="1083769" cy="130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7255" tIns="8627" rIns="17255" bIns="8627" anchor="ctr" anchorCtr="1"/>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a:lnSpc>
                  <a:spcPts val="623"/>
                </a:lnSpc>
              </a:pPr>
              <a:r>
                <a:rPr kumimoji="0" lang="en-US" altLang="ja-JP" sz="67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DMZ Internal</a:t>
              </a:r>
            </a:p>
          </p:txBody>
        </p:sp>
      </p:grpSp>
      <p:sp>
        <p:nvSpPr>
          <p:cNvPr id="207" name="Rectangle 44">
            <a:extLst>
              <a:ext uri="{FF2B5EF4-FFF2-40B4-BE49-F238E27FC236}">
                <a16:creationId xmlns:a16="http://schemas.microsoft.com/office/drawing/2014/main" id="{1F86C790-5A63-4405-A542-0396EFC4D640}"/>
              </a:ext>
            </a:extLst>
          </p:cNvPr>
          <p:cNvSpPr>
            <a:spLocks noChangeArrowheads="1"/>
          </p:cNvSpPr>
          <p:nvPr/>
        </p:nvSpPr>
        <p:spPr bwMode="auto">
          <a:xfrm rot="10800000" flipV="1">
            <a:off x="5134775" y="5147317"/>
            <a:ext cx="1708491" cy="2288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7255" tIns="8627" rIns="17255" bIns="8627" anchor="ctr" anchorCtr="1"/>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a:lnSpc>
                <a:spcPts val="623"/>
              </a:lnSpc>
            </a:pPr>
            <a:r>
              <a:rPr kumimoji="0" lang="en-US" altLang="ja-JP" sz="479"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Mail Exchange Segment</a:t>
            </a:r>
          </a:p>
        </p:txBody>
      </p:sp>
      <p:sp>
        <p:nvSpPr>
          <p:cNvPr id="290" name="AutoShape 37">
            <a:extLst>
              <a:ext uri="{FF2B5EF4-FFF2-40B4-BE49-F238E27FC236}">
                <a16:creationId xmlns:a16="http://schemas.microsoft.com/office/drawing/2014/main" id="{B2BF7808-9F5B-4C28-B14F-11291D401313}"/>
              </a:ext>
            </a:extLst>
          </p:cNvPr>
          <p:cNvSpPr>
            <a:spLocks noChangeArrowheads="1"/>
          </p:cNvSpPr>
          <p:nvPr/>
        </p:nvSpPr>
        <p:spPr bwMode="auto">
          <a:xfrm>
            <a:off x="5216784" y="5471676"/>
            <a:ext cx="1561051" cy="689816"/>
          </a:xfrm>
          <a:prstGeom prst="roundRect">
            <a:avLst>
              <a:gd name="adj" fmla="val 1889"/>
            </a:avLst>
          </a:prstGeom>
          <a:solidFill>
            <a:srgbClr val="C0C0C0">
              <a:alpha val="50195"/>
            </a:srgbClr>
          </a:solidFill>
          <a:ln w="28575" algn="ctr">
            <a:solidFill>
              <a:srgbClr val="969696"/>
            </a:solidFill>
            <a:round/>
            <a:headEnd/>
            <a:tailEnd/>
          </a:ln>
        </p:spPr>
        <p:txBody>
          <a:bodyPr wrap="none" anchor="ctr"/>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fontAlgn="base">
              <a:spcBef>
                <a:spcPct val="50000"/>
              </a:spcBef>
              <a:spcAft>
                <a:spcPct val="0"/>
              </a:spcAft>
            </a:pPr>
            <a:endParaRPr kumimoji="0" lang="ja-JP" altLang="en-US" sz="863">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91" name="Rectangle 59">
            <a:extLst>
              <a:ext uri="{FF2B5EF4-FFF2-40B4-BE49-F238E27FC236}">
                <a16:creationId xmlns:a16="http://schemas.microsoft.com/office/drawing/2014/main" id="{AF22A284-F40E-4CFB-AA7A-9D49EC350CBF}"/>
              </a:ext>
            </a:extLst>
          </p:cNvPr>
          <p:cNvSpPr>
            <a:spLocks noChangeArrowheads="1"/>
          </p:cNvSpPr>
          <p:nvPr/>
        </p:nvSpPr>
        <p:spPr bwMode="auto">
          <a:xfrm>
            <a:off x="5556327" y="5589814"/>
            <a:ext cx="949577" cy="265234"/>
          </a:xfrm>
          <a:prstGeom prst="rect">
            <a:avLst/>
          </a:prstGeom>
          <a:solidFill>
            <a:srgbClr val="CC66FF"/>
          </a:solidFill>
          <a:ln w="12700" algn="ctr">
            <a:solidFill>
              <a:srgbClr val="7030A0"/>
            </a:solidFill>
            <a:miter lim="800000"/>
            <a:headEnd/>
            <a:tailEnd/>
          </a:ln>
          <a:effectLst>
            <a:outerShdw dist="53882" dir="2700000" algn="ctr" rotWithShape="0">
              <a:schemeClr val="bg2"/>
            </a:outerShdw>
          </a:effectLst>
        </p:spPr>
        <p:txBody>
          <a:bodyPr wrap="none" lIns="86400" tIns="43200" rIns="86400" bIns="43200" anchor="ctr"/>
          <a:lstStyle/>
          <a:p>
            <a:pPr algn="ctr"/>
            <a:r>
              <a:rPr lang="en-US" altLang="ja-JP" sz="923" dirty="0">
                <a:latin typeface="Tahoma" panose="020B0604030504040204" pitchFamily="34" charset="0"/>
              </a:rPr>
              <a:t>SMTP Server</a:t>
            </a:r>
          </a:p>
        </p:txBody>
      </p:sp>
      <p:sp>
        <p:nvSpPr>
          <p:cNvPr id="202" name="TextBox 11">
            <a:extLst>
              <a:ext uri="{FF2B5EF4-FFF2-40B4-BE49-F238E27FC236}">
                <a16:creationId xmlns:a16="http://schemas.microsoft.com/office/drawing/2014/main" id="{B0C0180D-D147-D445-9DEB-CE3639F4007D}"/>
              </a:ext>
            </a:extLst>
          </p:cNvPr>
          <p:cNvSpPr txBox="1">
            <a:spLocks noChangeArrowheads="1"/>
          </p:cNvSpPr>
          <p:nvPr/>
        </p:nvSpPr>
        <p:spPr bwMode="auto">
          <a:xfrm>
            <a:off x="7235397" y="705974"/>
            <a:ext cx="665151"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kumimoji="0" lang="en-US" altLang="en-US" sz="600" kern="0" dirty="0">
                <a:solidFill>
                  <a:schemeClr val="accent5">
                    <a:lumMod val="50000"/>
                  </a:schemeClr>
                </a:solidFill>
                <a:latin typeface="Arial" charset="0"/>
                <a:ea typeface="Verdana" panose="020B0604030504040204" pitchFamily="34" charset="0"/>
                <a:cs typeface="Meiryo UI" pitchFamily="50" charset="-128"/>
              </a:rPr>
              <a:t>Aurora </a:t>
            </a:r>
            <a:r>
              <a:rPr kumimoji="0" lang="en-US" altLang="en-US" sz="600" kern="0" dirty="0" err="1">
                <a:solidFill>
                  <a:schemeClr val="accent5">
                    <a:lumMod val="50000"/>
                  </a:schemeClr>
                </a:solidFill>
                <a:latin typeface="Arial" charset="0"/>
                <a:ea typeface="Verdana" panose="020B0604030504040204" pitchFamily="34" charset="0"/>
                <a:cs typeface="Meiryo UI" pitchFamily="50" charset="-128"/>
              </a:rPr>
              <a:t>Postgresql</a:t>
            </a:r>
            <a:endParaRPr kumimoji="0" lang="en-US" altLang="en-US" sz="600" kern="0" dirty="0">
              <a:solidFill>
                <a:schemeClr val="accent5">
                  <a:lumMod val="50000"/>
                </a:schemeClr>
              </a:solidFill>
              <a:latin typeface="Arial" charset="0"/>
              <a:ea typeface="Verdana" panose="020B0604030504040204" pitchFamily="34" charset="0"/>
              <a:cs typeface="Meiryo UI" pitchFamily="50" charset="-128"/>
            </a:endParaRPr>
          </a:p>
        </p:txBody>
      </p:sp>
      <p:grpSp>
        <p:nvGrpSpPr>
          <p:cNvPr id="314" name="Group 313"/>
          <p:cNvGrpSpPr/>
          <p:nvPr/>
        </p:nvGrpSpPr>
        <p:grpSpPr>
          <a:xfrm>
            <a:off x="9281653" y="454261"/>
            <a:ext cx="578645" cy="512704"/>
            <a:chOff x="9372658" y="468647"/>
            <a:chExt cx="578645" cy="512704"/>
          </a:xfrm>
        </p:grpSpPr>
        <p:sp>
          <p:nvSpPr>
            <p:cNvPr id="312" name="TextBox 311">
              <a:extLst>
                <a:ext uri="{FF2B5EF4-FFF2-40B4-BE49-F238E27FC236}">
                  <a16:creationId xmlns:a16="http://schemas.microsoft.com/office/drawing/2014/main" id="{48B11175-8F26-E049-8FCE-A7F653ADEDC5}"/>
                </a:ext>
              </a:extLst>
            </p:cNvPr>
            <p:cNvSpPr txBox="1"/>
            <p:nvPr/>
          </p:nvSpPr>
          <p:spPr>
            <a:xfrm>
              <a:off x="9372658" y="704352"/>
              <a:ext cx="578645" cy="276999"/>
            </a:xfrm>
            <a:prstGeom prst="rect">
              <a:avLst/>
            </a:prstGeom>
            <a:noFill/>
          </p:spPr>
          <p:txBody>
            <a:bodyPr wrap="square" rtlCol="0">
              <a:spAutoFit/>
            </a:bodyPr>
            <a:lstStyle>
              <a:defPPr>
                <a:defRPr lang="en-US"/>
              </a:defPPr>
              <a:lvl1pPr algn="ctr">
                <a:defRPr sz="1000"/>
              </a:lvl1pPr>
            </a:lstStyle>
            <a:p>
              <a:r>
                <a:rPr kumimoji="0" lang="en-US" sz="600" kern="0" dirty="0">
                  <a:solidFill>
                    <a:schemeClr val="accent5">
                      <a:lumMod val="50000"/>
                    </a:schemeClr>
                  </a:solidFill>
                  <a:ea typeface="Verdana" panose="020B0604030504040204" pitchFamily="34" charset="0"/>
                  <a:cs typeface="Meiryo UI" pitchFamily="50" charset="-128"/>
                </a:rPr>
                <a:t>Secrets Manager</a:t>
              </a:r>
            </a:p>
          </p:txBody>
        </p:sp>
        <p:pic>
          <p:nvPicPr>
            <p:cNvPr id="313" name="Graphic 20">
              <a:extLst>
                <a:ext uri="{FF2B5EF4-FFF2-40B4-BE49-F238E27FC236}">
                  <a16:creationId xmlns:a16="http://schemas.microsoft.com/office/drawing/2014/main" id="{28B94778-37E1-254E-8874-BE0768E5E59C}"/>
                </a:ext>
              </a:extLst>
            </p:cNvPr>
            <p:cNvPicPr>
              <a:picLocks noChangeAspect="1"/>
            </p:cNvPicPr>
            <p:nvPr/>
          </p:nvPicPr>
          <p:blipFill>
            <a:blip r:embed="rId5">
              <a:extLst>
                <a:ext uri="{96DAC541-7B7A-43D3-8B79-37D633B846F1}">
                  <asvg:svgBlip xmlns="" xmlns:asvg="http://schemas.microsoft.com/office/drawing/2016/SVG/main" r:embed="rId6"/>
                </a:ext>
              </a:extLst>
            </a:blip>
            <a:stretch>
              <a:fillRect/>
            </a:stretch>
          </p:blipFill>
          <p:spPr>
            <a:xfrm>
              <a:off x="9505395" y="468647"/>
              <a:ext cx="278699" cy="278699"/>
            </a:xfrm>
            <a:prstGeom prst="rect">
              <a:avLst/>
            </a:prstGeom>
          </p:spPr>
        </p:pic>
      </p:grpSp>
      <p:sp>
        <p:nvSpPr>
          <p:cNvPr id="325" name="正方形/長方形 169">
            <a:extLst>
              <a:ext uri="{FF2B5EF4-FFF2-40B4-BE49-F238E27FC236}">
                <a16:creationId xmlns:a16="http://schemas.microsoft.com/office/drawing/2014/main" id="{75E4C870-D7B8-4C90-A408-8E105739ABC7}"/>
              </a:ext>
            </a:extLst>
          </p:cNvPr>
          <p:cNvSpPr/>
          <p:nvPr/>
        </p:nvSpPr>
        <p:spPr>
          <a:xfrm>
            <a:off x="5716608" y="773988"/>
            <a:ext cx="354891" cy="118446"/>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600" kern="0" dirty="0">
                <a:solidFill>
                  <a:schemeClr val="accent5">
                    <a:lumMod val="50000"/>
                  </a:schemeClr>
                </a:solidFill>
                <a:ea typeface="Verdana" panose="020B0604030504040204" pitchFamily="34" charset="0"/>
                <a:cs typeface="Meiryo UI" pitchFamily="50" charset="-128"/>
              </a:rPr>
              <a:t>WAF</a:t>
            </a:r>
            <a:endParaRPr kumimoji="0" lang="ja-JP" altLang="en-US" sz="800" kern="0" dirty="0">
              <a:solidFill>
                <a:schemeClr val="accent5">
                  <a:lumMod val="50000"/>
                </a:schemeClr>
              </a:solidFill>
              <a:ea typeface="Meiryo UI" pitchFamily="50" charset="-128"/>
              <a:cs typeface="Meiryo UI" pitchFamily="50" charset="-128"/>
            </a:endParaRPr>
          </a:p>
        </p:txBody>
      </p:sp>
      <p:sp>
        <p:nvSpPr>
          <p:cNvPr id="118" name="TextBox 117">
            <a:extLst>
              <a:ext uri="{FF2B5EF4-FFF2-40B4-BE49-F238E27FC236}">
                <a16:creationId xmlns:a16="http://schemas.microsoft.com/office/drawing/2014/main" id="{729B5B61-AAB2-CD4C-BD0A-DECDDA49FCBB}"/>
              </a:ext>
            </a:extLst>
          </p:cNvPr>
          <p:cNvSpPr txBox="1"/>
          <p:nvPr/>
        </p:nvSpPr>
        <p:spPr>
          <a:xfrm>
            <a:off x="8147420" y="691864"/>
            <a:ext cx="688833" cy="276999"/>
          </a:xfrm>
          <a:prstGeom prst="rect">
            <a:avLst/>
          </a:prstGeom>
          <a:noFill/>
        </p:spPr>
        <p:txBody>
          <a:bodyPr wrap="square" rtlCol="0">
            <a:spAutoFit/>
          </a:bodyPr>
          <a:lstStyle/>
          <a:p>
            <a:pPr algn="ctr"/>
            <a:r>
              <a:rPr kumimoji="0" lang="en-US" sz="600" kern="0" dirty="0">
                <a:solidFill>
                  <a:schemeClr val="accent5">
                    <a:lumMod val="50000"/>
                  </a:schemeClr>
                </a:solidFill>
                <a:ea typeface="Verdana" panose="020B0604030504040204" pitchFamily="34" charset="0"/>
                <a:cs typeface="Meiryo UI" pitchFamily="50" charset="-128"/>
              </a:rPr>
              <a:t>AWS </a:t>
            </a:r>
            <a:r>
              <a:rPr kumimoji="0" lang="en-US" sz="600" kern="0" dirty="0" smtClean="0">
                <a:solidFill>
                  <a:schemeClr val="accent5">
                    <a:lumMod val="50000"/>
                  </a:schemeClr>
                </a:solidFill>
                <a:ea typeface="Verdana" panose="020B0604030504040204" pitchFamily="34" charset="0"/>
                <a:cs typeface="Meiryo UI" pitchFamily="50" charset="-128"/>
              </a:rPr>
              <a:t>app </a:t>
            </a:r>
            <a:r>
              <a:rPr kumimoji="0" lang="en-US" sz="600" kern="0" dirty="0" err="1" smtClean="0">
                <a:solidFill>
                  <a:schemeClr val="accent5">
                    <a:lumMod val="50000"/>
                  </a:schemeClr>
                </a:solidFill>
                <a:ea typeface="Verdana" panose="020B0604030504040204" pitchFamily="34" charset="0"/>
                <a:cs typeface="Meiryo UI" pitchFamily="50" charset="-128"/>
              </a:rPr>
              <a:t>config</a:t>
            </a:r>
            <a:endParaRPr kumimoji="0" lang="en-US" sz="600" kern="0" dirty="0">
              <a:solidFill>
                <a:schemeClr val="accent5">
                  <a:lumMod val="50000"/>
                </a:schemeClr>
              </a:solidFill>
              <a:ea typeface="Verdana" panose="020B0604030504040204" pitchFamily="34" charset="0"/>
              <a:cs typeface="Meiryo UI" pitchFamily="50" charset="-128"/>
            </a:endParaRPr>
          </a:p>
        </p:txBody>
      </p:sp>
      <p:grpSp>
        <p:nvGrpSpPr>
          <p:cNvPr id="6" name="Group 5"/>
          <p:cNvGrpSpPr/>
          <p:nvPr/>
        </p:nvGrpSpPr>
        <p:grpSpPr>
          <a:xfrm>
            <a:off x="6981914" y="460048"/>
            <a:ext cx="317507" cy="392010"/>
            <a:chOff x="6981914" y="460048"/>
            <a:chExt cx="317507" cy="392010"/>
          </a:xfrm>
        </p:grpSpPr>
        <p:sp>
          <p:nvSpPr>
            <p:cNvPr id="148" name="正方形/長方形 173">
              <a:extLst>
                <a:ext uri="{FF2B5EF4-FFF2-40B4-BE49-F238E27FC236}">
                  <a16:creationId xmlns:a16="http://schemas.microsoft.com/office/drawing/2014/main" id="{BBDF55EA-FD94-4878-AC25-E62BDDB7C8E4}"/>
                </a:ext>
              </a:extLst>
            </p:cNvPr>
            <p:cNvSpPr/>
            <p:nvPr/>
          </p:nvSpPr>
          <p:spPr>
            <a:xfrm>
              <a:off x="7005223" y="700756"/>
              <a:ext cx="294198" cy="151302"/>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600" kern="0" dirty="0">
                  <a:solidFill>
                    <a:schemeClr val="accent5">
                      <a:lumMod val="50000"/>
                    </a:schemeClr>
                  </a:solidFill>
                  <a:ea typeface="Verdana" panose="020B0604030504040204" pitchFamily="34" charset="0"/>
                  <a:cs typeface="Meiryo UI" pitchFamily="50" charset="-128"/>
                </a:rPr>
                <a:t>S3</a:t>
              </a:r>
              <a:endParaRPr kumimoji="0" lang="ja-JP" altLang="en-US" sz="600" kern="0" dirty="0">
                <a:solidFill>
                  <a:schemeClr val="accent5">
                    <a:lumMod val="50000"/>
                  </a:schemeClr>
                </a:solidFill>
                <a:ea typeface="Verdana" panose="020B0604030504040204" pitchFamily="34" charset="0"/>
                <a:cs typeface="Meiryo UI" pitchFamily="50" charset="-128"/>
              </a:endParaRPr>
            </a:p>
          </p:txBody>
        </p:sp>
        <p:pic>
          <p:nvPicPr>
            <p:cNvPr id="122" name="Graphic 71"/>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81914" y="460048"/>
              <a:ext cx="276757" cy="277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70" name="正方形/長方形 169">
            <a:extLst>
              <a:ext uri="{FF2B5EF4-FFF2-40B4-BE49-F238E27FC236}">
                <a16:creationId xmlns:a16="http://schemas.microsoft.com/office/drawing/2014/main" id="{75E4C870-D7B8-4C90-A408-8E105739ABC7}"/>
              </a:ext>
            </a:extLst>
          </p:cNvPr>
          <p:cNvSpPr/>
          <p:nvPr/>
        </p:nvSpPr>
        <p:spPr>
          <a:xfrm>
            <a:off x="6031116" y="805133"/>
            <a:ext cx="631023" cy="183560"/>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600" kern="0" dirty="0">
                <a:solidFill>
                  <a:schemeClr val="accent5">
                    <a:lumMod val="50000"/>
                  </a:schemeClr>
                </a:solidFill>
                <a:ea typeface="Verdana" panose="020B0604030504040204" pitchFamily="34" charset="0"/>
                <a:cs typeface="Meiryo UI" pitchFamily="50" charset="-128"/>
              </a:rPr>
              <a:t>Api gateway</a:t>
            </a:r>
            <a:endParaRPr kumimoji="0" lang="ja-JP" altLang="en-US" sz="800" kern="0" dirty="0">
              <a:solidFill>
                <a:schemeClr val="accent5">
                  <a:lumMod val="50000"/>
                </a:schemeClr>
              </a:solidFill>
              <a:ea typeface="Meiryo UI" pitchFamily="50" charset="-128"/>
              <a:cs typeface="Meiryo UI" pitchFamily="50" charset="-128"/>
            </a:endParaRPr>
          </a:p>
        </p:txBody>
      </p:sp>
      <p:pic>
        <p:nvPicPr>
          <p:cNvPr id="131" name="Picture 130"/>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284932" y="419039"/>
            <a:ext cx="221149" cy="272623"/>
          </a:xfrm>
          <a:prstGeom prst="rect">
            <a:avLst/>
          </a:prstGeom>
        </p:spPr>
      </p:pic>
      <p:pic>
        <p:nvPicPr>
          <p:cNvPr id="142" name="Picture 141"/>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18731" y="2407296"/>
            <a:ext cx="316202" cy="389800"/>
          </a:xfrm>
          <a:prstGeom prst="rect">
            <a:avLst/>
          </a:prstGeom>
        </p:spPr>
      </p:pic>
      <p:pic>
        <p:nvPicPr>
          <p:cNvPr id="9" name="Picture 8"/>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141464" y="2504201"/>
            <a:ext cx="463919" cy="408678"/>
          </a:xfrm>
          <a:prstGeom prst="rect">
            <a:avLst/>
          </a:prstGeom>
        </p:spPr>
      </p:pic>
      <p:pic>
        <p:nvPicPr>
          <p:cNvPr id="146" name="Picture 145"/>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9793508" y="368486"/>
            <a:ext cx="463919" cy="408678"/>
          </a:xfrm>
          <a:prstGeom prst="rect">
            <a:avLst/>
          </a:prstGeom>
        </p:spPr>
      </p:pic>
      <p:sp>
        <p:nvSpPr>
          <p:cNvPr id="151" name="TextBox 150"/>
          <p:cNvSpPr txBox="1"/>
          <p:nvPr/>
        </p:nvSpPr>
        <p:spPr>
          <a:xfrm>
            <a:off x="130066" y="2912879"/>
            <a:ext cx="653889" cy="184666"/>
          </a:xfrm>
          <a:prstGeom prst="rect">
            <a:avLst/>
          </a:prstGeom>
          <a:noFill/>
        </p:spPr>
        <p:txBody>
          <a:bodyPr wrap="square" rtlCol="0">
            <a:spAutoFit/>
          </a:bodyPr>
          <a:lstStyle/>
          <a:p>
            <a:r>
              <a:rPr lang="en-US" sz="600" i="1" dirty="0" smtClean="0">
                <a:solidFill>
                  <a:schemeClr val="accent6">
                    <a:lumMod val="50000"/>
                  </a:schemeClr>
                </a:solidFill>
                <a:latin typeface="Tahoma" panose="020B0604030504040204" pitchFamily="34" charset="0"/>
                <a:ea typeface="メイリオ" panose="020B0604030504040204"/>
                <a:cs typeface="メイリオ" panose="020B0604030504040204"/>
              </a:rPr>
              <a:t>YANA</a:t>
            </a:r>
            <a:endParaRPr lang="en-IN" sz="600" i="1" dirty="0">
              <a:solidFill>
                <a:schemeClr val="accent6">
                  <a:lumMod val="50000"/>
                </a:schemeClr>
              </a:solidFill>
              <a:latin typeface="Tahoma" panose="020B0604030504040204" pitchFamily="34" charset="0"/>
              <a:ea typeface="メイリオ" panose="020B0604030504040204"/>
              <a:cs typeface="メイリオ" panose="020B0604030504040204"/>
            </a:endParaRPr>
          </a:p>
        </p:txBody>
      </p:sp>
      <p:pic>
        <p:nvPicPr>
          <p:cNvPr id="30" name="Picture 29"/>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75242" y="3290435"/>
            <a:ext cx="407643" cy="407643"/>
          </a:xfrm>
          <a:prstGeom prst="rect">
            <a:avLst/>
          </a:prstGeom>
        </p:spPr>
      </p:pic>
      <p:pic>
        <p:nvPicPr>
          <p:cNvPr id="31" name="Picture 30"/>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476426" y="2037319"/>
            <a:ext cx="359547" cy="359547"/>
          </a:xfrm>
          <a:prstGeom prst="rect">
            <a:avLst/>
          </a:prstGeom>
        </p:spPr>
      </p:pic>
      <p:sp>
        <p:nvSpPr>
          <p:cNvPr id="159" name="TextBox 110"/>
          <p:cNvSpPr txBox="1">
            <a:spLocks noChangeArrowheads="1"/>
          </p:cNvSpPr>
          <p:nvPr/>
        </p:nvSpPr>
        <p:spPr bwMode="auto">
          <a:xfrm>
            <a:off x="4770508" y="2995769"/>
            <a:ext cx="124630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API services</a:t>
            </a:r>
          </a:p>
        </p:txBody>
      </p:sp>
      <p:sp>
        <p:nvSpPr>
          <p:cNvPr id="161" name="TextBox 110"/>
          <p:cNvSpPr txBox="1">
            <a:spLocks noChangeArrowheads="1"/>
          </p:cNvSpPr>
          <p:nvPr/>
        </p:nvSpPr>
        <p:spPr bwMode="auto">
          <a:xfrm>
            <a:off x="6299935" y="2473068"/>
            <a:ext cx="124630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DDI Batch </a:t>
            </a:r>
            <a:r>
              <a:rPr lang="en-US" altLang="en-US" sz="600" dirty="0" smtClean="0">
                <a:latin typeface="Tahoma" panose="020B0604030504040204" pitchFamily="34" charset="0"/>
                <a:ea typeface="メイリオ" panose="020B0604030504040204"/>
                <a:cs typeface="メイリオ" panose="020B0604030504040204"/>
              </a:rPr>
              <a:t>framework</a:t>
            </a:r>
            <a:endParaRPr lang="en-US" altLang="en-US" sz="600" dirty="0">
              <a:latin typeface="Tahoma" panose="020B0604030504040204" pitchFamily="34" charset="0"/>
              <a:ea typeface="メイリオ" panose="020B0604030504040204"/>
              <a:cs typeface="メイリオ" panose="020B0604030504040204"/>
            </a:endParaRPr>
          </a:p>
        </p:txBody>
      </p:sp>
      <p:pic>
        <p:nvPicPr>
          <p:cNvPr id="185" name="Picture 184"/>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426178" y="447272"/>
            <a:ext cx="275903" cy="275903"/>
          </a:xfrm>
          <a:prstGeom prst="rect">
            <a:avLst/>
          </a:prstGeom>
        </p:spPr>
      </p:pic>
      <p:pic>
        <p:nvPicPr>
          <p:cNvPr id="188" name="Picture 187"/>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884784" y="433846"/>
            <a:ext cx="278990" cy="278990"/>
          </a:xfrm>
          <a:prstGeom prst="rect">
            <a:avLst/>
          </a:prstGeom>
        </p:spPr>
      </p:pic>
      <p:cxnSp>
        <p:nvCxnSpPr>
          <p:cNvPr id="191" name="AutoShape 14">
            <a:extLst>
              <a:ext uri="{FF2B5EF4-FFF2-40B4-BE49-F238E27FC236}">
                <a16:creationId xmlns:a16="http://schemas.microsoft.com/office/drawing/2014/main" id="{B1D6248A-2DF7-46A6-AEC2-15FD4D4556A0}"/>
              </a:ext>
            </a:extLst>
          </p:cNvPr>
          <p:cNvCxnSpPr>
            <a:cxnSpLocks noChangeShapeType="1"/>
          </p:cNvCxnSpPr>
          <p:nvPr/>
        </p:nvCxnSpPr>
        <p:spPr bwMode="auto">
          <a:xfrm>
            <a:off x="520956" y="2679607"/>
            <a:ext cx="708076" cy="8814"/>
          </a:xfrm>
          <a:prstGeom prst="straightConnector1">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93" name="テキスト ボックス 3">
            <a:extLst>
              <a:ext uri="{FF2B5EF4-FFF2-40B4-BE49-F238E27FC236}">
                <a16:creationId xmlns:a16="http://schemas.microsoft.com/office/drawing/2014/main" id="{8DC5B2B1-260B-47B8-A1F9-33843FDE9263}"/>
              </a:ext>
            </a:extLst>
          </p:cNvPr>
          <p:cNvSpPr txBox="1"/>
          <p:nvPr/>
        </p:nvSpPr>
        <p:spPr>
          <a:xfrm>
            <a:off x="609661" y="2374182"/>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sp>
        <p:nvSpPr>
          <p:cNvPr id="194" name="TextBox 193"/>
          <p:cNvSpPr txBox="1"/>
          <p:nvPr/>
        </p:nvSpPr>
        <p:spPr>
          <a:xfrm>
            <a:off x="1157332" y="2871924"/>
            <a:ext cx="653889" cy="369332"/>
          </a:xfrm>
          <a:prstGeom prst="rect">
            <a:avLst/>
          </a:prstGeom>
          <a:noFill/>
        </p:spPr>
        <p:txBody>
          <a:bodyPr wrap="square" rtlCol="0">
            <a:spAutoFit/>
          </a:bodyPr>
          <a:lstStyle/>
          <a:p>
            <a:r>
              <a:rPr lang="en-US" sz="600" i="1" dirty="0">
                <a:solidFill>
                  <a:schemeClr val="accent6">
                    <a:lumMod val="50000"/>
                  </a:schemeClr>
                </a:solidFill>
                <a:latin typeface="Tahoma" panose="020B0604030504040204" pitchFamily="34" charset="0"/>
                <a:ea typeface="メイリオ" panose="020B0604030504040204"/>
                <a:cs typeface="メイリオ" panose="020B0604030504040204"/>
              </a:rPr>
              <a:t>Nissan Europe Apigee</a:t>
            </a:r>
            <a:endParaRPr lang="en-IN" sz="600" i="1" dirty="0">
              <a:solidFill>
                <a:schemeClr val="accent6">
                  <a:lumMod val="50000"/>
                </a:schemeClr>
              </a:solidFill>
              <a:latin typeface="Tahoma" panose="020B0604030504040204" pitchFamily="34" charset="0"/>
              <a:ea typeface="メイリオ" panose="020B0604030504040204"/>
              <a:cs typeface="メイリオ" panose="020B0604030504040204"/>
            </a:endParaRPr>
          </a:p>
        </p:txBody>
      </p:sp>
      <p:cxnSp>
        <p:nvCxnSpPr>
          <p:cNvPr id="195" name="AutoShape 14">
            <a:extLst>
              <a:ext uri="{FF2B5EF4-FFF2-40B4-BE49-F238E27FC236}">
                <a16:creationId xmlns:a16="http://schemas.microsoft.com/office/drawing/2014/main" id="{B1D6248A-2DF7-46A6-AEC2-15FD4D4556A0}"/>
              </a:ext>
            </a:extLst>
          </p:cNvPr>
          <p:cNvCxnSpPr>
            <a:cxnSpLocks noChangeShapeType="1"/>
          </p:cNvCxnSpPr>
          <p:nvPr/>
        </p:nvCxnSpPr>
        <p:spPr bwMode="auto">
          <a:xfrm>
            <a:off x="1515387" y="2679412"/>
            <a:ext cx="936774" cy="4110"/>
          </a:xfrm>
          <a:prstGeom prst="straightConnector1">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96" name="テキスト ボックス 3">
            <a:extLst>
              <a:ext uri="{FF2B5EF4-FFF2-40B4-BE49-F238E27FC236}">
                <a16:creationId xmlns:a16="http://schemas.microsoft.com/office/drawing/2014/main" id="{8DC5B2B1-260B-47B8-A1F9-33843FDE9263}"/>
              </a:ext>
            </a:extLst>
          </p:cNvPr>
          <p:cNvSpPr txBox="1"/>
          <p:nvPr/>
        </p:nvSpPr>
        <p:spPr>
          <a:xfrm>
            <a:off x="1613364" y="2430815"/>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197" name="Graphic 8"/>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2427016" y="2518675"/>
            <a:ext cx="383902" cy="383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8" name="Graphic 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735054" y="429741"/>
            <a:ext cx="297752" cy="2977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9" name="Graphic 17"/>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3385785" y="2511342"/>
            <a:ext cx="367819" cy="367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0" name="AutoShape 14">
            <a:extLst>
              <a:ext uri="{FF2B5EF4-FFF2-40B4-BE49-F238E27FC236}">
                <a16:creationId xmlns:a16="http://schemas.microsoft.com/office/drawing/2014/main" id="{B1D6248A-2DF7-46A6-AEC2-15FD4D4556A0}"/>
              </a:ext>
            </a:extLst>
          </p:cNvPr>
          <p:cNvCxnSpPr>
            <a:cxnSpLocks noChangeShapeType="1"/>
          </p:cNvCxnSpPr>
          <p:nvPr/>
        </p:nvCxnSpPr>
        <p:spPr bwMode="auto">
          <a:xfrm>
            <a:off x="2787226" y="2666570"/>
            <a:ext cx="585469" cy="4542"/>
          </a:xfrm>
          <a:prstGeom prst="straightConnector1">
            <a:avLst/>
          </a:prstGeom>
          <a:ln w="28575">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01" name="テキスト ボックス 3">
            <a:extLst>
              <a:ext uri="{FF2B5EF4-FFF2-40B4-BE49-F238E27FC236}">
                <a16:creationId xmlns:a16="http://schemas.microsoft.com/office/drawing/2014/main" id="{8DC5B2B1-260B-47B8-A1F9-33843FDE9263}"/>
              </a:ext>
            </a:extLst>
          </p:cNvPr>
          <p:cNvSpPr txBox="1"/>
          <p:nvPr/>
        </p:nvSpPr>
        <p:spPr>
          <a:xfrm>
            <a:off x="2791018" y="2455022"/>
            <a:ext cx="594767" cy="292388"/>
          </a:xfrm>
          <a:prstGeom prst="rect">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txBody>
          <a:bodyPr wrap="square" rtlCol="0">
            <a:spAutoFit/>
          </a:bodyPr>
          <a:lstStyle/>
          <a:p>
            <a:r>
              <a:rPr lang="en-US" altLang="ja-JP" sz="5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203" name="Graphic 17"/>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201074" y="441535"/>
            <a:ext cx="304830" cy="30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 name="テキスト ボックス 3">
            <a:extLst>
              <a:ext uri="{FF2B5EF4-FFF2-40B4-BE49-F238E27FC236}">
                <a16:creationId xmlns:a16="http://schemas.microsoft.com/office/drawing/2014/main" id="{8DC5B2B1-260B-47B8-A1F9-33843FDE9263}"/>
              </a:ext>
            </a:extLst>
          </p:cNvPr>
          <p:cNvSpPr txBox="1"/>
          <p:nvPr/>
        </p:nvSpPr>
        <p:spPr>
          <a:xfrm>
            <a:off x="4621160" y="2497393"/>
            <a:ext cx="656141"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HTTP(80)</a:t>
            </a:r>
            <a:endParaRPr lang="en-US" altLang="ja-JP" sz="700" dirty="0">
              <a:solidFill>
                <a:srgbClr val="0000FF"/>
              </a:solidFill>
              <a:latin typeface="Tahoma" panose="020B0604030504040204" pitchFamily="34" charset="0"/>
              <a:ea typeface="ＭＳ Ｐゴシック" panose="020B0600070205080204" pitchFamily="50" charset="-128"/>
            </a:endParaRPr>
          </a:p>
          <a:p>
            <a:endParaRPr kumimoji="1" lang="ja-JP" altLang="en-US" sz="600" dirty="0"/>
          </a:p>
        </p:txBody>
      </p:sp>
      <p:cxnSp>
        <p:nvCxnSpPr>
          <p:cNvPr id="205" name="AutoShape 14">
            <a:extLst>
              <a:ext uri="{FF2B5EF4-FFF2-40B4-BE49-F238E27FC236}">
                <a16:creationId xmlns:a16="http://schemas.microsoft.com/office/drawing/2014/main" id="{B1D6248A-2DF7-46A6-AEC2-15FD4D4556A0}"/>
              </a:ext>
            </a:extLst>
          </p:cNvPr>
          <p:cNvCxnSpPr>
            <a:cxnSpLocks noChangeShapeType="1"/>
          </p:cNvCxnSpPr>
          <p:nvPr/>
        </p:nvCxnSpPr>
        <p:spPr bwMode="auto">
          <a:xfrm>
            <a:off x="4599941" y="2723442"/>
            <a:ext cx="649510" cy="7626"/>
          </a:xfrm>
          <a:prstGeom prst="straightConnector1">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cxnSp>
        <p:nvCxnSpPr>
          <p:cNvPr id="208" name="Connector: Elbow 316">
            <a:extLst>
              <a:ext uri="{FF2B5EF4-FFF2-40B4-BE49-F238E27FC236}">
                <a16:creationId xmlns:a16="http://schemas.microsoft.com/office/drawing/2014/main" id="{12EBC543-BAA2-4867-BD6D-036527E7A112}"/>
              </a:ext>
            </a:extLst>
          </p:cNvPr>
          <p:cNvCxnSpPr>
            <a:cxnSpLocks/>
            <a:endCxn id="30" idx="1"/>
          </p:cNvCxnSpPr>
          <p:nvPr/>
        </p:nvCxnSpPr>
        <p:spPr bwMode="auto">
          <a:xfrm>
            <a:off x="5606652" y="2743159"/>
            <a:ext cx="468590" cy="751098"/>
          </a:xfrm>
          <a:prstGeom prst="bentConnector3">
            <a:avLst>
              <a:gd name="adj1" fmla="val 50000"/>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0" name="Connector: Elbow 316">
            <a:extLst>
              <a:ext uri="{FF2B5EF4-FFF2-40B4-BE49-F238E27FC236}">
                <a16:creationId xmlns:a16="http://schemas.microsoft.com/office/drawing/2014/main" id="{12EBC543-BAA2-4867-BD6D-036527E7A112}"/>
              </a:ext>
            </a:extLst>
          </p:cNvPr>
          <p:cNvCxnSpPr>
            <a:cxnSpLocks/>
            <a:stCxn id="31" idx="1"/>
            <a:endCxn id="30" idx="0"/>
          </p:cNvCxnSpPr>
          <p:nvPr/>
        </p:nvCxnSpPr>
        <p:spPr bwMode="auto">
          <a:xfrm rot="10800000" flipV="1">
            <a:off x="6279064" y="2217093"/>
            <a:ext cx="197362" cy="1073342"/>
          </a:xfrm>
          <a:prstGeom prst="bentConnector2">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21" name="テキスト ボックス 3">
            <a:extLst>
              <a:ext uri="{FF2B5EF4-FFF2-40B4-BE49-F238E27FC236}">
                <a16:creationId xmlns:a16="http://schemas.microsoft.com/office/drawing/2014/main" id="{8DC5B2B1-260B-47B8-A1F9-33843FDE9263}"/>
              </a:ext>
            </a:extLst>
          </p:cNvPr>
          <p:cNvSpPr txBox="1"/>
          <p:nvPr/>
        </p:nvSpPr>
        <p:spPr>
          <a:xfrm>
            <a:off x="5860919" y="2763881"/>
            <a:ext cx="1017447" cy="292388"/>
          </a:xfrm>
          <a:prstGeom prst="rect">
            <a:avLst/>
          </a:prstGeom>
          <a:noFill/>
        </p:spPr>
        <p:txBody>
          <a:bodyPr wrap="square" rtlCol="0">
            <a:spAutoFit/>
          </a:bodyPr>
          <a:lstStyle/>
          <a:p>
            <a:r>
              <a:rPr lang="en-US" altLang="ja-JP" sz="700" dirty="0" err="1" smtClean="0">
                <a:solidFill>
                  <a:srgbClr val="0000FF"/>
                </a:solidFill>
                <a:latin typeface="Tahoma" panose="020B0604030504040204" pitchFamily="34" charset="0"/>
                <a:ea typeface="ＭＳ Ｐゴシック" panose="020B0600070205080204" pitchFamily="50" charset="-128"/>
              </a:rPr>
              <a:t>Postgres</a:t>
            </a:r>
            <a:r>
              <a:rPr lang="en-US" altLang="ja-JP" sz="700" dirty="0" smtClean="0">
                <a:solidFill>
                  <a:srgbClr val="0000FF"/>
                </a:solidFill>
                <a:latin typeface="Tahoma" panose="020B0604030504040204" pitchFamily="34" charset="0"/>
                <a:ea typeface="ＭＳ Ｐゴシック" panose="020B0600070205080204" pitchFamily="50" charset="-128"/>
              </a:rPr>
              <a:t> (5432</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cxnSp>
        <p:nvCxnSpPr>
          <p:cNvPr id="257" name="Connector: Elbow 316">
            <a:extLst>
              <a:ext uri="{FF2B5EF4-FFF2-40B4-BE49-F238E27FC236}">
                <a16:creationId xmlns:a16="http://schemas.microsoft.com/office/drawing/2014/main" id="{12EBC543-BAA2-4867-BD6D-036527E7A112}"/>
              </a:ext>
            </a:extLst>
          </p:cNvPr>
          <p:cNvCxnSpPr>
            <a:cxnSpLocks/>
            <a:stCxn id="31" idx="3"/>
            <a:endCxn id="110" idx="1"/>
          </p:cNvCxnSpPr>
          <p:nvPr/>
        </p:nvCxnSpPr>
        <p:spPr bwMode="auto">
          <a:xfrm flipV="1">
            <a:off x="6835973" y="2128682"/>
            <a:ext cx="1852184" cy="88411"/>
          </a:xfrm>
          <a:prstGeom prst="bentConnector3">
            <a:avLst>
              <a:gd name="adj1" fmla="val 50000"/>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58" name="テキスト ボックス 3">
            <a:extLst>
              <a:ext uri="{FF2B5EF4-FFF2-40B4-BE49-F238E27FC236}">
                <a16:creationId xmlns:a16="http://schemas.microsoft.com/office/drawing/2014/main" id="{8DC5B2B1-260B-47B8-A1F9-33843FDE9263}"/>
              </a:ext>
            </a:extLst>
          </p:cNvPr>
          <p:cNvSpPr txBox="1"/>
          <p:nvPr/>
        </p:nvSpPr>
        <p:spPr>
          <a:xfrm>
            <a:off x="7518905" y="1896485"/>
            <a:ext cx="881289"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sp>
        <p:nvSpPr>
          <p:cNvPr id="259" name="テキスト ボックス 3">
            <a:extLst>
              <a:ext uri="{FF2B5EF4-FFF2-40B4-BE49-F238E27FC236}">
                <a16:creationId xmlns:a16="http://schemas.microsoft.com/office/drawing/2014/main" id="{8DC5B2B1-260B-47B8-A1F9-33843FDE9263}"/>
              </a:ext>
            </a:extLst>
          </p:cNvPr>
          <p:cNvSpPr txBox="1"/>
          <p:nvPr/>
        </p:nvSpPr>
        <p:spPr>
          <a:xfrm>
            <a:off x="6932219" y="3522839"/>
            <a:ext cx="693238" cy="292388"/>
          </a:xfrm>
          <a:prstGeom prst="rect">
            <a:avLst/>
          </a:prstGeom>
          <a:noFill/>
        </p:spPr>
        <p:txBody>
          <a:bodyPr wrap="square" rtlCol="0">
            <a:spAutoFit/>
          </a:bodyPr>
          <a:lstStyle/>
          <a:p>
            <a:r>
              <a:rPr lang="en-US" altLang="ja-JP" sz="700" dirty="0">
                <a:solidFill>
                  <a:srgbClr val="0000FF"/>
                </a:solidFill>
                <a:latin typeface="Tahoma" panose="020B0604030504040204" pitchFamily="34" charset="0"/>
                <a:ea typeface="ＭＳ Ｐゴシック" panose="020B0600070205080204" pitchFamily="50" charset="-128"/>
              </a:rPr>
              <a:t>SMTP(25)</a:t>
            </a:r>
          </a:p>
          <a:p>
            <a:endParaRPr kumimoji="1" lang="ja-JP" altLang="en-US" sz="600" dirty="0"/>
          </a:p>
        </p:txBody>
      </p:sp>
      <p:cxnSp>
        <p:nvCxnSpPr>
          <p:cNvPr id="262" name="Elbow Connector 261"/>
          <p:cNvCxnSpPr/>
          <p:nvPr/>
        </p:nvCxnSpPr>
        <p:spPr>
          <a:xfrm rot="16200000" flipH="1">
            <a:off x="4446438" y="3485188"/>
            <a:ext cx="4194854" cy="467941"/>
          </a:xfrm>
          <a:prstGeom prst="bentConnector4">
            <a:avLst>
              <a:gd name="adj1" fmla="val -5450"/>
              <a:gd name="adj2" fmla="val 148852"/>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67" name="AutoShape 25">
            <a:extLst>
              <a:ext uri="{FF2B5EF4-FFF2-40B4-BE49-F238E27FC236}">
                <a16:creationId xmlns:a16="http://schemas.microsoft.com/office/drawing/2014/main" id="{2AE3CF41-80E1-4AA0-AEAB-AB4E3A1E4F82}"/>
              </a:ext>
            </a:extLst>
          </p:cNvPr>
          <p:cNvSpPr>
            <a:spLocks noChangeArrowheads="1"/>
          </p:cNvSpPr>
          <p:nvPr/>
        </p:nvSpPr>
        <p:spPr bwMode="auto">
          <a:xfrm>
            <a:off x="9754794" y="1231396"/>
            <a:ext cx="2213466" cy="3915922"/>
          </a:xfrm>
          <a:prstGeom prst="roundRect">
            <a:avLst>
              <a:gd name="adj" fmla="val 6444"/>
            </a:avLst>
          </a:prstGeom>
          <a:solidFill>
            <a:srgbClr val="FFFFFF">
              <a:alpha val="50195"/>
            </a:srgbClr>
          </a:solidFill>
          <a:ln w="28575" algn="ctr">
            <a:solidFill>
              <a:srgbClr val="5795BB"/>
            </a:solidFill>
            <a:round/>
            <a:headEnd/>
            <a:tailEnd/>
          </a:ln>
        </p:spPr>
        <p:txBody>
          <a:bodyPr wrap="none" anchor="ctr"/>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defTabSz="514350">
              <a:spcBef>
                <a:spcPct val="50000"/>
              </a:spcBef>
              <a:defRPr/>
            </a:pPr>
            <a:endParaRPr kumimoji="0" lang="ja-JP" altLang="en-US" sz="863" kern="0" dirty="0">
              <a:solidFill>
                <a:srgbClr val="000000"/>
              </a:solidFill>
              <a:latin typeface="Meiryo UI" panose="020B0604030504040204" pitchFamily="50" charset="-128"/>
              <a:ea typeface="Meiryo UI" panose="020B0604030504040204" pitchFamily="50" charset="-128"/>
              <a:cs typeface="Meiryo UI" panose="020B0604030504040204" pitchFamily="50" charset="-128"/>
            </a:endParaRPr>
          </a:p>
        </p:txBody>
      </p:sp>
      <p:sp>
        <p:nvSpPr>
          <p:cNvPr id="268" name="Text Box 231">
            <a:extLst>
              <a:ext uri="{FF2B5EF4-FFF2-40B4-BE49-F238E27FC236}">
                <a16:creationId xmlns:a16="http://schemas.microsoft.com/office/drawing/2014/main" id="{B423DBA8-5C91-4FC2-B986-C3FF43786052}"/>
              </a:ext>
            </a:extLst>
          </p:cNvPr>
          <p:cNvSpPr txBox="1">
            <a:spLocks noChangeArrowheads="1"/>
          </p:cNvSpPr>
          <p:nvPr/>
        </p:nvSpPr>
        <p:spPr bwMode="auto">
          <a:xfrm rot="10800000" flipV="1">
            <a:off x="9939627" y="1447261"/>
            <a:ext cx="1716664"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003F66"/>
              </a:buClr>
              <a:buSzPct val="110000"/>
              <a:buFont typeface="Wingdings" panose="05000000000000000000" pitchFamily="2" charset="2"/>
              <a:buChar char="n"/>
              <a:defRPr kumimoji="1" sz="24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1pPr>
            <a:lvl2pPr marL="742950" indent="-285750">
              <a:spcBef>
                <a:spcPct val="20000"/>
              </a:spcBef>
              <a:buClr>
                <a:srgbClr val="5795BB"/>
              </a:buClr>
              <a:buSzPct val="60000"/>
              <a:buFont typeface="Wingdings" panose="05000000000000000000" pitchFamily="2" charset="2"/>
              <a:buChar char="n"/>
              <a:defRPr kumimoji="1" sz="20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2pPr>
            <a:lvl3pPr marL="1143000" indent="-228600">
              <a:spcBef>
                <a:spcPct val="20000"/>
              </a:spcBef>
              <a:buClr>
                <a:srgbClr val="003F66"/>
              </a:buClr>
              <a:buSzPct val="95000"/>
              <a:buFont typeface="Wingdings" panose="05000000000000000000" pitchFamily="2" charset="2"/>
              <a:buChar char="w"/>
              <a:defRPr kumimoji="1">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3pPr>
            <a:lvl4pPr marL="1600200" indent="-228600">
              <a:spcBef>
                <a:spcPct val="20000"/>
              </a:spcBef>
              <a:buClr>
                <a:srgbClr val="5795BB"/>
              </a:buClr>
              <a:buSzPct val="65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4pPr>
            <a:lvl5pPr marL="2057400" indent="-228600">
              <a:spcBef>
                <a:spcPct val="20000"/>
              </a:spcBef>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5pPr>
            <a:lvl6pPr marL="25146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6pPr>
            <a:lvl7pPr marL="29718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7pPr>
            <a:lvl8pPr marL="34290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8pPr>
            <a:lvl9pPr marL="3886200" indent="-228600" eaLnBrk="0" fontAlgn="base" hangingPunct="0">
              <a:spcBef>
                <a:spcPct val="20000"/>
              </a:spcBef>
              <a:spcAft>
                <a:spcPct val="0"/>
              </a:spcAft>
              <a:buClr>
                <a:srgbClr val="003F66"/>
              </a:buClr>
              <a:buSzPct val="60000"/>
              <a:buFont typeface="Wingdings" panose="05000000000000000000" pitchFamily="2" charset="2"/>
              <a:buChar char="n"/>
              <a:defRPr kumimoji="1" sz="1600">
                <a:solidFill>
                  <a:srgbClr val="000000"/>
                </a:solidFill>
                <a:latin typeface="Verdana" panose="020B0604030504040204" pitchFamily="34" charset="0"/>
                <a:ea typeface="ＭＳ Ｐゴシック" panose="020B0600070205080204" pitchFamily="50" charset="-128"/>
                <a:cs typeface="Verdana" panose="020B0604030504040204" pitchFamily="34" charset="0"/>
              </a:defRPr>
            </a:lvl9pPr>
          </a:lstStyle>
          <a:p>
            <a:pPr algn="ctr" fontAlgn="base">
              <a:spcBef>
                <a:spcPct val="0"/>
              </a:spcBef>
              <a:spcAft>
                <a:spcPct val="0"/>
              </a:spcAft>
              <a:buClrTx/>
              <a:buSzTx/>
              <a:buFontTx/>
              <a:buNone/>
            </a:pPr>
            <a:r>
              <a:rPr lang="en-US" altLang="ja-JP" sz="1050" b="1" dirty="0">
                <a:latin typeface="Meiryo UI" panose="020B0604030504040204" pitchFamily="50" charset="-128"/>
                <a:ea typeface="Meiryo UI" panose="020B0604030504040204" pitchFamily="50" charset="-128"/>
                <a:cs typeface="Meiryo UI" panose="020B0604030504040204" pitchFamily="50" charset="-128"/>
              </a:rPr>
              <a:t>NPI Data Center – Regional system </a:t>
            </a:r>
          </a:p>
        </p:txBody>
      </p:sp>
      <p:pic>
        <p:nvPicPr>
          <p:cNvPr id="270" name="Picture 269"/>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11061867" y="2115808"/>
            <a:ext cx="545873" cy="899185"/>
          </a:xfrm>
          <a:prstGeom prst="rect">
            <a:avLst/>
          </a:prstGeom>
        </p:spPr>
      </p:pic>
      <p:sp>
        <p:nvSpPr>
          <p:cNvPr id="273" name="TextBox 272"/>
          <p:cNvSpPr txBox="1"/>
          <p:nvPr/>
        </p:nvSpPr>
        <p:spPr>
          <a:xfrm>
            <a:off x="11287314" y="2695251"/>
            <a:ext cx="833789" cy="230832"/>
          </a:xfrm>
          <a:prstGeom prst="rect">
            <a:avLst/>
          </a:prstGeom>
          <a:noFill/>
        </p:spPr>
        <p:txBody>
          <a:bodyPr wrap="square" rtlCol="0">
            <a:spAutoFit/>
          </a:bodyPr>
          <a:lstStyle/>
          <a:p>
            <a:r>
              <a:rPr lang="en-US" sz="900" b="1" i="1" dirty="0" smtClean="0">
                <a:solidFill>
                  <a:schemeClr val="accent6">
                    <a:lumMod val="50000"/>
                  </a:schemeClr>
                </a:solidFill>
                <a:latin typeface="Tahoma" panose="020B0604030504040204" pitchFamily="34" charset="0"/>
                <a:ea typeface="メイリオ" panose="020B0604030504040204"/>
                <a:cs typeface="メイリオ" panose="020B0604030504040204"/>
              </a:rPr>
              <a:t>NIMS </a:t>
            </a:r>
            <a:endParaRPr lang="en-IN" sz="900" b="1" i="1" dirty="0">
              <a:solidFill>
                <a:schemeClr val="accent6">
                  <a:lumMod val="50000"/>
                </a:schemeClr>
              </a:solidFill>
              <a:latin typeface="Tahoma" panose="020B0604030504040204" pitchFamily="34" charset="0"/>
              <a:ea typeface="メイリオ" panose="020B0604030504040204"/>
              <a:cs typeface="メイリオ" panose="020B0604030504040204"/>
            </a:endParaRPr>
          </a:p>
        </p:txBody>
      </p:sp>
      <p:sp>
        <p:nvSpPr>
          <p:cNvPr id="274" name="テキスト ボックス 3">
            <a:extLst>
              <a:ext uri="{FF2B5EF4-FFF2-40B4-BE49-F238E27FC236}">
                <a16:creationId xmlns:a16="http://schemas.microsoft.com/office/drawing/2014/main" id="{8DC5B2B1-260B-47B8-A1F9-33843FDE9263}"/>
              </a:ext>
            </a:extLst>
          </p:cNvPr>
          <p:cNvSpPr txBox="1"/>
          <p:nvPr/>
        </p:nvSpPr>
        <p:spPr>
          <a:xfrm>
            <a:off x="4817589" y="3506128"/>
            <a:ext cx="693238" cy="400110"/>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r>
              <a:rPr lang="en-US" altLang="ja-JP" sz="700" dirty="0">
                <a:solidFill>
                  <a:srgbClr val="0000FF"/>
                </a:solidFill>
                <a:latin typeface="Tahoma" panose="020B0604030504040204" pitchFamily="34" charset="0"/>
                <a:ea typeface="ＭＳ Ｐゴシック" panose="020B0600070205080204" pitchFamily="50" charset="-128"/>
              </a:rPr>
              <a:t>REST API</a:t>
            </a:r>
          </a:p>
          <a:p>
            <a:endParaRPr kumimoji="1" lang="ja-JP" altLang="en-US" sz="600" dirty="0"/>
          </a:p>
        </p:txBody>
      </p:sp>
      <p:pic>
        <p:nvPicPr>
          <p:cNvPr id="89" name="Graphic 14"/>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6071499" y="1622801"/>
            <a:ext cx="333441" cy="33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TextBox 110"/>
          <p:cNvSpPr txBox="1">
            <a:spLocks noChangeArrowheads="1"/>
          </p:cNvSpPr>
          <p:nvPr/>
        </p:nvSpPr>
        <p:spPr bwMode="auto">
          <a:xfrm>
            <a:off x="5525451" y="2007240"/>
            <a:ext cx="1246305"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Aws </a:t>
            </a:r>
            <a:r>
              <a:rPr lang="en-US" altLang="en-US" sz="600" dirty="0" smtClean="0">
                <a:latin typeface="Tahoma" panose="020B0604030504040204" pitchFamily="34" charset="0"/>
                <a:ea typeface="メイリオ" panose="020B0604030504040204"/>
                <a:cs typeface="メイリオ" panose="020B0604030504040204"/>
              </a:rPr>
              <a:t>batch</a:t>
            </a:r>
            <a:endParaRPr lang="en-US" altLang="en-US" sz="600" dirty="0">
              <a:latin typeface="Tahoma" panose="020B0604030504040204" pitchFamily="34" charset="0"/>
              <a:ea typeface="メイリオ" panose="020B0604030504040204"/>
              <a:cs typeface="メイリオ" panose="020B0604030504040204"/>
            </a:endParaRPr>
          </a:p>
        </p:txBody>
      </p:sp>
      <p:cxnSp>
        <p:nvCxnSpPr>
          <p:cNvPr id="27" name="Elbow Connector 26"/>
          <p:cNvCxnSpPr>
            <a:stCxn id="31" idx="0"/>
            <a:endCxn id="89" idx="3"/>
          </p:cNvCxnSpPr>
          <p:nvPr/>
        </p:nvCxnSpPr>
        <p:spPr>
          <a:xfrm rot="16200000" flipV="1">
            <a:off x="6406672" y="1787791"/>
            <a:ext cx="247797" cy="25126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sp>
        <p:nvSpPr>
          <p:cNvPr id="111" name="テキスト ボックス 3">
            <a:extLst>
              <a:ext uri="{FF2B5EF4-FFF2-40B4-BE49-F238E27FC236}">
                <a16:creationId xmlns:a16="http://schemas.microsoft.com/office/drawing/2014/main" id="{8DC5B2B1-260B-47B8-A1F9-33843FDE9263}"/>
              </a:ext>
            </a:extLst>
          </p:cNvPr>
          <p:cNvSpPr txBox="1"/>
          <p:nvPr/>
        </p:nvSpPr>
        <p:spPr>
          <a:xfrm>
            <a:off x="6394353" y="1472696"/>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86" name="Graphic 14"/>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5237899" y="2547768"/>
            <a:ext cx="333441" cy="333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 name="テキスト ボックス 3">
            <a:extLst>
              <a:ext uri="{FF2B5EF4-FFF2-40B4-BE49-F238E27FC236}">
                <a16:creationId xmlns:a16="http://schemas.microsoft.com/office/drawing/2014/main" id="{8DC5B2B1-260B-47B8-A1F9-33843FDE9263}"/>
              </a:ext>
            </a:extLst>
          </p:cNvPr>
          <p:cNvSpPr txBox="1"/>
          <p:nvPr/>
        </p:nvSpPr>
        <p:spPr>
          <a:xfrm>
            <a:off x="9975620" y="2306244"/>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sp>
        <p:nvSpPr>
          <p:cNvPr id="94" name="Rectangle 59">
            <a:extLst>
              <a:ext uri="{FF2B5EF4-FFF2-40B4-BE49-F238E27FC236}">
                <a16:creationId xmlns:a16="http://schemas.microsoft.com/office/drawing/2014/main" id="{AF22A284-F40E-4CFB-AA7A-9D49EC350CBF}"/>
              </a:ext>
            </a:extLst>
          </p:cNvPr>
          <p:cNvSpPr>
            <a:spLocks noChangeArrowheads="1"/>
          </p:cNvSpPr>
          <p:nvPr/>
        </p:nvSpPr>
        <p:spPr bwMode="auto">
          <a:xfrm>
            <a:off x="8078479" y="5675833"/>
            <a:ext cx="864732" cy="388546"/>
          </a:xfrm>
          <a:prstGeom prst="rect">
            <a:avLst/>
          </a:prstGeom>
          <a:solidFill>
            <a:srgbClr val="CC66FF"/>
          </a:solidFill>
          <a:ln w="12700" algn="ctr">
            <a:solidFill>
              <a:srgbClr val="7030A0"/>
            </a:solidFill>
            <a:miter lim="800000"/>
            <a:headEnd/>
            <a:tailEnd/>
          </a:ln>
          <a:effectLst>
            <a:outerShdw dist="53882" dir="2700000" algn="ctr" rotWithShape="0">
              <a:schemeClr val="bg2"/>
            </a:outerShdw>
          </a:effectLst>
        </p:spPr>
        <p:txBody>
          <a:bodyPr wrap="none" lIns="86400" tIns="43200" rIns="86400" bIns="43200" anchor="ctr"/>
          <a:lstStyle/>
          <a:p>
            <a:pPr algn="ctr"/>
            <a:r>
              <a:rPr lang="en-US" altLang="ja-JP" sz="923" dirty="0">
                <a:latin typeface="Tahoma" panose="020B0604030504040204" pitchFamily="34" charset="0"/>
              </a:rPr>
              <a:t>ESB</a:t>
            </a:r>
          </a:p>
        </p:txBody>
      </p:sp>
      <p:sp>
        <p:nvSpPr>
          <p:cNvPr id="113" name="Rectangle 59">
            <a:extLst>
              <a:ext uri="{FF2B5EF4-FFF2-40B4-BE49-F238E27FC236}">
                <a16:creationId xmlns:a16="http://schemas.microsoft.com/office/drawing/2014/main" id="{AF22A284-F40E-4CFB-AA7A-9D49EC350CBF}"/>
              </a:ext>
            </a:extLst>
          </p:cNvPr>
          <p:cNvSpPr>
            <a:spLocks noChangeArrowheads="1"/>
          </p:cNvSpPr>
          <p:nvPr/>
        </p:nvSpPr>
        <p:spPr bwMode="auto">
          <a:xfrm>
            <a:off x="9865500" y="3932637"/>
            <a:ext cx="1309010" cy="390799"/>
          </a:xfrm>
          <a:prstGeom prst="rect">
            <a:avLst/>
          </a:prstGeom>
          <a:solidFill>
            <a:srgbClr val="DDDDDD"/>
          </a:solidFill>
          <a:ln w="12700" algn="ctr">
            <a:solidFill>
              <a:srgbClr val="7030A0"/>
            </a:solidFill>
            <a:miter lim="800000"/>
            <a:headEnd/>
            <a:tailEnd/>
          </a:ln>
          <a:effectLst>
            <a:outerShdw dist="53882" dir="2700000" algn="ctr" rotWithShape="0">
              <a:schemeClr val="bg2"/>
            </a:outerShdw>
          </a:effectLst>
        </p:spPr>
        <p:txBody>
          <a:bodyPr wrap="none" lIns="86400" tIns="43200" rIns="86400" bIns="43200" anchor="ctr"/>
          <a:lstStyle/>
          <a:p>
            <a:pPr algn="ctr"/>
            <a:r>
              <a:rPr lang="en-US" altLang="ja-JP" sz="923" dirty="0" smtClean="0">
                <a:latin typeface="Tahoma" panose="020B0604030504040204" pitchFamily="34" charset="0"/>
              </a:rPr>
              <a:t>SFTP Server &amp; Client  </a:t>
            </a:r>
            <a:endParaRPr lang="en-US" altLang="ja-JP" sz="923" dirty="0">
              <a:latin typeface="Tahoma" panose="020B0604030504040204" pitchFamily="34" charset="0"/>
            </a:endParaRPr>
          </a:p>
        </p:txBody>
      </p:sp>
      <p:pic>
        <p:nvPicPr>
          <p:cNvPr id="231" name="Picture 230"/>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9575510" y="2513406"/>
            <a:ext cx="345149" cy="345149"/>
          </a:xfrm>
          <a:prstGeom prst="rect">
            <a:avLst/>
          </a:prstGeom>
        </p:spPr>
      </p:pic>
      <p:pic>
        <p:nvPicPr>
          <p:cNvPr id="130" name="Picture 129"/>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10587999" y="429741"/>
            <a:ext cx="345149" cy="345149"/>
          </a:xfrm>
          <a:prstGeom prst="rect">
            <a:avLst/>
          </a:prstGeom>
        </p:spPr>
      </p:pic>
      <p:sp>
        <p:nvSpPr>
          <p:cNvPr id="133" name="TextBox 184"/>
          <p:cNvSpPr txBox="1">
            <a:spLocks noChangeArrowheads="1"/>
          </p:cNvSpPr>
          <p:nvPr/>
        </p:nvSpPr>
        <p:spPr bwMode="auto">
          <a:xfrm>
            <a:off x="10486025" y="732450"/>
            <a:ext cx="53997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kumimoji="1" sz="2000">
                <a:solidFill>
                  <a:schemeClr val="tx1"/>
                </a:solidFill>
                <a:latin typeface="Meiryo UI"/>
                <a:ea typeface="Meiryo UI"/>
                <a:cs typeface="Meiryo UI"/>
              </a:defRPr>
            </a:lvl1pPr>
            <a:lvl2pPr marL="742950" indent="-285750">
              <a:spcBef>
                <a:spcPct val="20000"/>
              </a:spcBef>
              <a:buFont typeface="Arial" panose="020B0604020202020204" pitchFamily="34" charset="0"/>
              <a:buChar char="–"/>
              <a:defRPr kumimoji="1" sz="2000">
                <a:solidFill>
                  <a:schemeClr val="tx1"/>
                </a:solidFill>
                <a:latin typeface="Meiryo UI"/>
                <a:ea typeface="Meiryo UI"/>
                <a:cs typeface="Meiryo UI"/>
              </a:defRPr>
            </a:lvl2pPr>
            <a:lvl3pPr marL="11430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3pPr>
            <a:lvl4pPr marL="16002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4pPr>
            <a:lvl5pPr marL="2057400" indent="-228600">
              <a:spcBef>
                <a:spcPct val="20000"/>
              </a:spcBef>
              <a:buFont typeface="Arial" panose="020B0604020202020204" pitchFamily="34" charset="0"/>
              <a:buChar char="»"/>
              <a:defRPr kumimoji="1" sz="2000">
                <a:solidFill>
                  <a:schemeClr val="tx1"/>
                </a:solidFill>
                <a:latin typeface="Meiryo UI"/>
                <a:ea typeface="Meiryo UI"/>
                <a:cs typeface="Meiryo UI"/>
              </a:defRPr>
            </a:lvl5pPr>
            <a:lvl6pPr marL="25146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6pPr>
            <a:lvl7pPr marL="29718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7pPr>
            <a:lvl8pPr marL="34290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8pPr>
            <a:lvl9pPr marL="3886200" indent="-228600" eaLnBrk="0" fontAlgn="base" hangingPunct="0">
              <a:spcBef>
                <a:spcPct val="20000"/>
              </a:spcBef>
              <a:spcAft>
                <a:spcPct val="0"/>
              </a:spcAft>
              <a:buFont typeface="Arial" panose="020B0604020202020204" pitchFamily="34" charset="0"/>
              <a:buChar char="»"/>
              <a:defRPr kumimoji="1" sz="2000">
                <a:solidFill>
                  <a:schemeClr val="tx1"/>
                </a:solidFill>
                <a:latin typeface="Meiryo UI"/>
                <a:ea typeface="Meiryo UI"/>
                <a:cs typeface="Meiryo UI"/>
              </a:defRPr>
            </a:lvl9pPr>
          </a:lstStyle>
          <a:p>
            <a:pPr algn="ctr">
              <a:spcBef>
                <a:spcPct val="0"/>
              </a:spcBef>
              <a:buFontTx/>
              <a:buNone/>
            </a:pPr>
            <a:r>
              <a:rPr lang="en-US" altLang="en-US" sz="600" dirty="0">
                <a:latin typeface="Tahoma" panose="020B0604030504040204" pitchFamily="34" charset="0"/>
                <a:ea typeface="メイリオ" panose="020B0604030504040204"/>
                <a:cs typeface="メイリオ" panose="020B0604030504040204"/>
              </a:rPr>
              <a:t>IIS Apache</a:t>
            </a:r>
          </a:p>
        </p:txBody>
      </p:sp>
      <p:grpSp>
        <p:nvGrpSpPr>
          <p:cNvPr id="96" name="Group 95"/>
          <p:cNvGrpSpPr/>
          <p:nvPr/>
        </p:nvGrpSpPr>
        <p:grpSpPr>
          <a:xfrm>
            <a:off x="2817224" y="4114850"/>
            <a:ext cx="5679006" cy="713840"/>
            <a:chOff x="-632389" y="871670"/>
            <a:chExt cx="5298393" cy="2897023"/>
          </a:xfrm>
        </p:grpSpPr>
        <p:sp>
          <p:nvSpPr>
            <p:cNvPr id="97" name="Rectangle 96">
              <a:extLst>
                <a:ext uri="{FF2B5EF4-FFF2-40B4-BE49-F238E27FC236}">
                  <a16:creationId xmlns:a16="http://schemas.microsoft.com/office/drawing/2014/main" id="{CE7F7081-419C-2E4F-A999-2923C4338FC0}"/>
                </a:ext>
              </a:extLst>
            </p:cNvPr>
            <p:cNvSpPr/>
            <p:nvPr/>
          </p:nvSpPr>
          <p:spPr>
            <a:xfrm>
              <a:off x="-632389" y="871670"/>
              <a:ext cx="5298393" cy="289702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0" tIns="91440" rIns="91440" bIns="45720" numCol="1" spcCol="0" rtlCol="0" fromWordArt="0" anchor="t" anchorCtr="0" forceAA="0" compatLnSpc="1">
              <a:prstTxWarp prst="textNoShape">
                <a:avLst/>
              </a:prstTxWarp>
              <a:noAutofit/>
            </a:bodyPr>
            <a:lstStyle/>
            <a:p>
              <a:pPr algn="r"/>
              <a:r>
                <a:rPr lang="en-US" sz="700" dirty="0">
                  <a:solidFill>
                    <a:schemeClr val="accent2">
                      <a:lumMod val="75000"/>
                    </a:schemeClr>
                  </a:solidFill>
                </a:rPr>
                <a:t>NML</a:t>
              </a:r>
              <a:r>
                <a:rPr lang="en-US" sz="800" dirty="0">
                  <a:solidFill>
                    <a:sysClr val="windowText" lastClr="000000"/>
                  </a:solidFill>
                </a:rPr>
                <a:t> </a:t>
              </a:r>
              <a:r>
                <a:rPr lang="en-US" sz="700" dirty="0">
                  <a:solidFill>
                    <a:schemeClr val="accent2">
                      <a:lumMod val="75000"/>
                    </a:schemeClr>
                  </a:solidFill>
                </a:rPr>
                <a:t>Mode 1</a:t>
              </a:r>
            </a:p>
          </p:txBody>
        </p:sp>
        <p:pic>
          <p:nvPicPr>
            <p:cNvPr id="99" name="Graphic 11">
              <a:extLst>
                <a:ext uri="{FF2B5EF4-FFF2-40B4-BE49-F238E27FC236}">
                  <a16:creationId xmlns:a16="http://schemas.microsoft.com/office/drawing/2014/main" id="{B0E20047-53B1-FF44-9CFB-D82DE4A888B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620657" y="944895"/>
              <a:ext cx="677207" cy="927771"/>
            </a:xfrm>
            <a:prstGeom prst="rect">
              <a:avLst/>
            </a:prstGeom>
          </p:spPr>
        </p:pic>
      </p:grpSp>
      <p:pic>
        <p:nvPicPr>
          <p:cNvPr id="106" name="Graphic 18"/>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991618" y="4354491"/>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07" name="Elbow Connector 106"/>
          <p:cNvCxnSpPr>
            <a:stCxn id="86" idx="2"/>
            <a:endCxn id="106" idx="1"/>
          </p:cNvCxnSpPr>
          <p:nvPr/>
        </p:nvCxnSpPr>
        <p:spPr>
          <a:xfrm rot="16200000" flipH="1">
            <a:off x="4847178" y="3438651"/>
            <a:ext cx="1701882" cy="586998"/>
          </a:xfrm>
          <a:prstGeom prst="bentConnector2">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26" name="Rectangle 13">
            <a:extLst>
              <a:ext uri="{FF2B5EF4-FFF2-40B4-BE49-F238E27FC236}">
                <a16:creationId xmlns:a16="http://schemas.microsoft.com/office/drawing/2014/main" id="{EA95AB73-0528-4E0F-83AB-2974F9183763}"/>
              </a:ext>
            </a:extLst>
          </p:cNvPr>
          <p:cNvSpPr>
            <a:spLocks noChangeArrowheads="1"/>
          </p:cNvSpPr>
          <p:nvPr/>
        </p:nvSpPr>
        <p:spPr bwMode="auto">
          <a:xfrm>
            <a:off x="4029422" y="4671345"/>
            <a:ext cx="1424316" cy="166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7255" tIns="8627" rIns="17255" bIns="8627" anchor="ctr" anchorCtr="1"/>
          <a:lstStyle>
            <a:lvl1pPr>
              <a:defRPr kumimoji="1" sz="1200">
                <a:solidFill>
                  <a:schemeClr val="tx1"/>
                </a:solidFill>
                <a:latin typeface="NissanAG-Medium" pitchFamily="50" charset="0"/>
                <a:ea typeface="HGP創英角ｺﾞｼｯｸUB" panose="020B0900000000000000" pitchFamily="50" charset="-128"/>
              </a:defRPr>
            </a:lvl1pPr>
            <a:lvl2pPr marL="742950" indent="-285750">
              <a:defRPr kumimoji="1" sz="1200">
                <a:solidFill>
                  <a:schemeClr val="tx1"/>
                </a:solidFill>
                <a:latin typeface="NissanAG-Medium" pitchFamily="50" charset="0"/>
                <a:ea typeface="HGP創英角ｺﾞｼｯｸUB" panose="020B0900000000000000" pitchFamily="50" charset="-128"/>
              </a:defRPr>
            </a:lvl2pPr>
            <a:lvl3pPr marL="1143000" indent="-228600">
              <a:defRPr kumimoji="1" sz="1200">
                <a:solidFill>
                  <a:schemeClr val="tx1"/>
                </a:solidFill>
                <a:latin typeface="NissanAG-Medium" pitchFamily="50" charset="0"/>
                <a:ea typeface="HGP創英角ｺﾞｼｯｸUB" panose="020B0900000000000000" pitchFamily="50" charset="-128"/>
              </a:defRPr>
            </a:lvl3pPr>
            <a:lvl4pPr marL="1600200" indent="-228600">
              <a:defRPr kumimoji="1" sz="1200">
                <a:solidFill>
                  <a:schemeClr val="tx1"/>
                </a:solidFill>
                <a:latin typeface="NissanAG-Medium" pitchFamily="50" charset="0"/>
                <a:ea typeface="HGP創英角ｺﾞｼｯｸUB" panose="020B0900000000000000" pitchFamily="50" charset="-128"/>
              </a:defRPr>
            </a:lvl4pPr>
            <a:lvl5pPr marL="2057400" indent="-228600">
              <a:defRPr kumimoji="1" sz="1200">
                <a:solidFill>
                  <a:schemeClr val="tx1"/>
                </a:solidFill>
                <a:latin typeface="NissanAG-Medium" pitchFamily="50" charset="0"/>
                <a:ea typeface="HGP創英角ｺﾞｼｯｸUB" panose="020B0900000000000000" pitchFamily="50" charset="-128"/>
              </a:defRPr>
            </a:lvl5pPr>
            <a:lvl6pPr marL="25146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6pPr>
            <a:lvl7pPr marL="29718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7pPr>
            <a:lvl8pPr marL="34290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8pPr>
            <a:lvl9pPr marL="3886200" indent="-228600" eaLnBrk="0" fontAlgn="base" hangingPunct="0">
              <a:spcBef>
                <a:spcPct val="0"/>
              </a:spcBef>
              <a:spcAft>
                <a:spcPct val="0"/>
              </a:spcAft>
              <a:defRPr kumimoji="1" sz="1200">
                <a:solidFill>
                  <a:schemeClr val="tx1"/>
                </a:solidFill>
                <a:latin typeface="NissanAG-Medium" pitchFamily="50" charset="0"/>
                <a:ea typeface="HGP創英角ｺﾞｼｯｸUB" panose="020B0900000000000000" pitchFamily="50" charset="-128"/>
              </a:defRPr>
            </a:lvl9pPr>
          </a:lstStyle>
          <a:p>
            <a:pPr algn="ctr">
              <a:lnSpc>
                <a:spcPts val="623"/>
              </a:lnSpc>
            </a:pPr>
            <a:r>
              <a:rPr kumimoji="0" lang="en-US" altLang="ja-JP" sz="110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Transparent</a:t>
            </a:r>
            <a:r>
              <a:rPr kumimoji="0" lang="en-US" altLang="ja-JP" sz="671"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 </a:t>
            </a:r>
            <a:r>
              <a:rPr kumimoji="0" lang="en-US" altLang="ja-JP" sz="1050" dirty="0">
                <a:solidFill>
                  <a:srgbClr val="000000"/>
                </a:solidFill>
                <a:latin typeface="Meiryo UI" panose="020B0604030504040204" pitchFamily="50" charset="-128"/>
                <a:ea typeface="Meiryo UI" panose="020B0604030504040204" pitchFamily="50" charset="-128"/>
                <a:cs typeface="Meiryo UI" panose="020B0604030504040204" pitchFamily="50" charset="-128"/>
              </a:rPr>
              <a:t>Proxy</a:t>
            </a:r>
          </a:p>
        </p:txBody>
      </p:sp>
      <p:cxnSp>
        <p:nvCxnSpPr>
          <p:cNvPr id="127" name="Elbow Connector 126"/>
          <p:cNvCxnSpPr>
            <a:endCxn id="231" idx="1"/>
          </p:cNvCxnSpPr>
          <p:nvPr/>
        </p:nvCxnSpPr>
        <p:spPr>
          <a:xfrm flipV="1">
            <a:off x="6397994" y="2685981"/>
            <a:ext cx="3177516" cy="1856638"/>
          </a:xfrm>
          <a:prstGeom prst="bentConnector3">
            <a:avLst>
              <a:gd name="adj1" fmla="val 50000"/>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cxnSp>
        <p:nvCxnSpPr>
          <p:cNvPr id="137" name="Elbow Connector 136"/>
          <p:cNvCxnSpPr>
            <a:endCxn id="270" idx="1"/>
          </p:cNvCxnSpPr>
          <p:nvPr/>
        </p:nvCxnSpPr>
        <p:spPr>
          <a:xfrm flipV="1">
            <a:off x="9928442" y="2565401"/>
            <a:ext cx="1133425" cy="128676"/>
          </a:xfrm>
          <a:prstGeom prst="bentConnector3">
            <a:avLst>
              <a:gd name="adj1" fmla="val 50000"/>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pic>
        <p:nvPicPr>
          <p:cNvPr id="140" name="Graphic 18"/>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5182372" y="38020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 name="正方形/長方形 169">
            <a:extLst>
              <a:ext uri="{FF2B5EF4-FFF2-40B4-BE49-F238E27FC236}">
                <a16:creationId xmlns:a16="http://schemas.microsoft.com/office/drawing/2014/main" id="{75E4C870-D7B8-4C90-A408-8E105739ABC7}"/>
              </a:ext>
            </a:extLst>
          </p:cNvPr>
          <p:cNvSpPr/>
          <p:nvPr/>
        </p:nvSpPr>
        <p:spPr>
          <a:xfrm>
            <a:off x="5205738" y="821369"/>
            <a:ext cx="631023" cy="183560"/>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800" kern="0" dirty="0">
                <a:solidFill>
                  <a:schemeClr val="accent5">
                    <a:lumMod val="50000"/>
                  </a:schemeClr>
                </a:solidFill>
                <a:ea typeface="Meiryo UI" pitchFamily="50" charset="-128"/>
                <a:cs typeface="Meiryo UI" pitchFamily="50" charset="-128"/>
              </a:rPr>
              <a:t>CLB</a:t>
            </a:r>
            <a:endParaRPr kumimoji="0" lang="ja-JP" altLang="en-US" sz="800" kern="0" dirty="0">
              <a:solidFill>
                <a:schemeClr val="accent5">
                  <a:lumMod val="50000"/>
                </a:schemeClr>
              </a:solidFill>
              <a:ea typeface="Meiryo UI" pitchFamily="50" charset="-128"/>
              <a:cs typeface="Meiryo UI" pitchFamily="50" charset="-128"/>
            </a:endParaRPr>
          </a:p>
        </p:txBody>
      </p:sp>
      <p:sp>
        <p:nvSpPr>
          <p:cNvPr id="105" name="テキスト ボックス 3">
            <a:extLst>
              <a:ext uri="{FF2B5EF4-FFF2-40B4-BE49-F238E27FC236}">
                <a16:creationId xmlns:a16="http://schemas.microsoft.com/office/drawing/2014/main" id="{8DC5B2B1-260B-47B8-A1F9-33843FDE9263}"/>
              </a:ext>
            </a:extLst>
          </p:cNvPr>
          <p:cNvSpPr txBox="1"/>
          <p:nvPr/>
        </p:nvSpPr>
        <p:spPr>
          <a:xfrm>
            <a:off x="10570740" y="5522039"/>
            <a:ext cx="701294"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SFTP(22)</a:t>
            </a:r>
            <a:endParaRPr lang="en-US" altLang="ja-JP" sz="700" dirty="0">
              <a:solidFill>
                <a:srgbClr val="0000FF"/>
              </a:solidFill>
              <a:latin typeface="Tahoma" panose="020B0604030504040204" pitchFamily="34" charset="0"/>
              <a:ea typeface="ＭＳ Ｐゴシック" panose="020B0600070205080204" pitchFamily="50" charset="-128"/>
            </a:endParaRPr>
          </a:p>
          <a:p>
            <a:endParaRPr kumimoji="1" lang="ja-JP" altLang="en-US" sz="600" dirty="0"/>
          </a:p>
        </p:txBody>
      </p:sp>
      <p:sp>
        <p:nvSpPr>
          <p:cNvPr id="109" name="テキスト ボックス 3">
            <a:extLst>
              <a:ext uri="{FF2B5EF4-FFF2-40B4-BE49-F238E27FC236}">
                <a16:creationId xmlns:a16="http://schemas.microsoft.com/office/drawing/2014/main" id="{8DC5B2B1-260B-47B8-A1F9-33843FDE9263}"/>
              </a:ext>
            </a:extLst>
          </p:cNvPr>
          <p:cNvSpPr txBox="1"/>
          <p:nvPr/>
        </p:nvSpPr>
        <p:spPr>
          <a:xfrm>
            <a:off x="8532839" y="4544290"/>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SFTP(22)</a:t>
            </a:r>
            <a:endParaRPr lang="en-US" altLang="ja-JP" sz="700" dirty="0">
              <a:solidFill>
                <a:srgbClr val="0000FF"/>
              </a:solidFill>
              <a:latin typeface="Tahoma" panose="020B0604030504040204" pitchFamily="34" charset="0"/>
              <a:ea typeface="ＭＳ Ｐゴシック" panose="020B0600070205080204" pitchFamily="50" charset="-128"/>
            </a:endParaRPr>
          </a:p>
          <a:p>
            <a:endParaRPr kumimoji="1" lang="ja-JP" altLang="en-US" sz="600" dirty="0"/>
          </a:p>
        </p:txBody>
      </p:sp>
      <p:pic>
        <p:nvPicPr>
          <p:cNvPr id="114" name="Graphic 27"/>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748590" y="456897"/>
            <a:ext cx="298357" cy="317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 name="正方形/長方形 169">
            <a:extLst>
              <a:ext uri="{FF2B5EF4-FFF2-40B4-BE49-F238E27FC236}">
                <a16:creationId xmlns:a16="http://schemas.microsoft.com/office/drawing/2014/main" id="{75E4C870-D7B8-4C90-A408-8E105739ABC7}"/>
              </a:ext>
            </a:extLst>
          </p:cNvPr>
          <p:cNvSpPr/>
          <p:nvPr/>
        </p:nvSpPr>
        <p:spPr>
          <a:xfrm>
            <a:off x="4699819" y="884902"/>
            <a:ext cx="598081" cy="130837"/>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800" kern="0" dirty="0" smtClean="0">
                <a:solidFill>
                  <a:schemeClr val="accent5">
                    <a:lumMod val="50000"/>
                  </a:schemeClr>
                </a:solidFill>
                <a:ea typeface="Meiryo UI" pitchFamily="50" charset="-128"/>
                <a:cs typeface="Meiryo UI" pitchFamily="50" charset="-128"/>
              </a:rPr>
              <a:t>EC2</a:t>
            </a:r>
            <a:endParaRPr kumimoji="0" lang="ja-JP" altLang="en-US" sz="800" kern="0" dirty="0">
              <a:solidFill>
                <a:schemeClr val="accent5">
                  <a:lumMod val="50000"/>
                </a:schemeClr>
              </a:solidFill>
              <a:ea typeface="Meiryo UI" pitchFamily="50" charset="-128"/>
              <a:cs typeface="Meiryo UI" pitchFamily="50" charset="-128"/>
            </a:endParaRPr>
          </a:p>
        </p:txBody>
      </p:sp>
      <p:sp>
        <p:nvSpPr>
          <p:cNvPr id="119" name="テキスト ボックス 3">
            <a:extLst>
              <a:ext uri="{FF2B5EF4-FFF2-40B4-BE49-F238E27FC236}">
                <a16:creationId xmlns:a16="http://schemas.microsoft.com/office/drawing/2014/main" id="{8DC5B2B1-260B-47B8-A1F9-33843FDE9263}"/>
              </a:ext>
            </a:extLst>
          </p:cNvPr>
          <p:cNvSpPr txBox="1"/>
          <p:nvPr/>
        </p:nvSpPr>
        <p:spPr>
          <a:xfrm>
            <a:off x="7266312" y="3046618"/>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121" name="Graphic 17"/>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8943211" y="435107"/>
            <a:ext cx="245463" cy="24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3" name="Graphic 27"/>
          <p:cNvPicPr>
            <a:picLocks noChangeAspect="1"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8078479" y="3544069"/>
            <a:ext cx="298357" cy="317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9" name="Elbow Connector 18"/>
          <p:cNvCxnSpPr>
            <a:stCxn id="113" idx="0"/>
          </p:cNvCxnSpPr>
          <p:nvPr/>
        </p:nvCxnSpPr>
        <p:spPr>
          <a:xfrm rot="5400000" flipH="1" flipV="1">
            <a:off x="10308921" y="2954245"/>
            <a:ext cx="1189477" cy="767308"/>
          </a:xfrm>
          <a:prstGeom prst="bentConnector3">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8" name="テキスト ボックス 3">
            <a:extLst>
              <a:ext uri="{FF2B5EF4-FFF2-40B4-BE49-F238E27FC236}">
                <a16:creationId xmlns:a16="http://schemas.microsoft.com/office/drawing/2014/main" id="{8DC5B2B1-260B-47B8-A1F9-33843FDE9263}"/>
              </a:ext>
            </a:extLst>
          </p:cNvPr>
          <p:cNvSpPr txBox="1"/>
          <p:nvPr/>
        </p:nvSpPr>
        <p:spPr>
          <a:xfrm>
            <a:off x="3736697" y="2455022"/>
            <a:ext cx="693238" cy="292388"/>
          </a:xfrm>
          <a:prstGeom prst="rect">
            <a:avLst/>
          </a:prstGeom>
          <a:noFill/>
        </p:spPr>
        <p:txBody>
          <a:bodyPr wrap="square" rtlCol="0">
            <a:spAutoFit/>
          </a:bodyPr>
          <a:lstStyle/>
          <a:p>
            <a:r>
              <a:rPr lang="en-US" altLang="ja-JP" sz="700" b="1" dirty="0" smtClean="0">
                <a:latin typeface="Tahoma" panose="020B0604030504040204" pitchFamily="34" charset="0"/>
                <a:ea typeface="ＭＳ Ｐゴシック" panose="020B0600070205080204" pitchFamily="50" charset="-128"/>
              </a:rPr>
              <a:t>VPC</a:t>
            </a:r>
            <a:r>
              <a:rPr lang="en-US" altLang="ja-JP" sz="700" dirty="0" smtClean="0">
                <a:solidFill>
                  <a:srgbClr val="0000FF"/>
                </a:solidFill>
                <a:latin typeface="Tahoma" panose="020B0604030504040204" pitchFamily="34" charset="0"/>
                <a:ea typeface="ＭＳ Ｐゴシック" panose="020B0600070205080204" pitchFamily="50" charset="-128"/>
              </a:rPr>
              <a:t> </a:t>
            </a:r>
            <a:r>
              <a:rPr lang="en-US" altLang="ja-JP" sz="700" b="1" dirty="0">
                <a:latin typeface="Tahoma" panose="020B0604030504040204" pitchFamily="34" charset="0"/>
                <a:ea typeface="ＭＳ Ｐゴシック" panose="020B0600070205080204" pitchFamily="50" charset="-128"/>
              </a:rPr>
              <a:t>Link</a:t>
            </a:r>
          </a:p>
          <a:p>
            <a:endParaRPr kumimoji="1" lang="ja-JP" altLang="en-US" sz="600" dirty="0"/>
          </a:p>
        </p:txBody>
      </p:sp>
      <p:cxnSp>
        <p:nvCxnSpPr>
          <p:cNvPr id="134" name="AutoShape 14">
            <a:extLst>
              <a:ext uri="{FF2B5EF4-FFF2-40B4-BE49-F238E27FC236}">
                <a16:creationId xmlns:a16="http://schemas.microsoft.com/office/drawing/2014/main" id="{B1D6248A-2DF7-46A6-AEC2-15FD4D4556A0}"/>
              </a:ext>
            </a:extLst>
          </p:cNvPr>
          <p:cNvCxnSpPr>
            <a:cxnSpLocks noChangeShapeType="1"/>
            <a:stCxn id="199" idx="3"/>
          </p:cNvCxnSpPr>
          <p:nvPr/>
        </p:nvCxnSpPr>
        <p:spPr bwMode="auto">
          <a:xfrm>
            <a:off x="3753604" y="2695252"/>
            <a:ext cx="440425" cy="11775"/>
          </a:xfrm>
          <a:prstGeom prst="straightConnector1">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139" name="テキスト ボックス 3">
            <a:extLst>
              <a:ext uri="{FF2B5EF4-FFF2-40B4-BE49-F238E27FC236}">
                <a16:creationId xmlns:a16="http://schemas.microsoft.com/office/drawing/2014/main" id="{8DC5B2B1-260B-47B8-A1F9-33843FDE9263}"/>
              </a:ext>
            </a:extLst>
          </p:cNvPr>
          <p:cNvSpPr txBox="1"/>
          <p:nvPr/>
        </p:nvSpPr>
        <p:spPr>
          <a:xfrm>
            <a:off x="5498138" y="3100671"/>
            <a:ext cx="1017447" cy="292388"/>
          </a:xfrm>
          <a:prstGeom prst="rect">
            <a:avLst/>
          </a:prstGeom>
          <a:noFill/>
        </p:spPr>
        <p:txBody>
          <a:bodyPr wrap="square" rtlCol="0">
            <a:spAutoFit/>
          </a:bodyPr>
          <a:lstStyle/>
          <a:p>
            <a:r>
              <a:rPr lang="en-US" altLang="ja-JP" sz="700" dirty="0" err="1" smtClean="0">
                <a:solidFill>
                  <a:srgbClr val="0000FF"/>
                </a:solidFill>
                <a:latin typeface="Tahoma" panose="020B0604030504040204" pitchFamily="34" charset="0"/>
                <a:ea typeface="ＭＳ Ｐゴシック" panose="020B0600070205080204" pitchFamily="50" charset="-128"/>
              </a:rPr>
              <a:t>Postgres</a:t>
            </a:r>
            <a:r>
              <a:rPr lang="en-US" altLang="ja-JP" sz="700" dirty="0" smtClean="0">
                <a:solidFill>
                  <a:srgbClr val="0000FF"/>
                </a:solidFill>
                <a:latin typeface="Tahoma" panose="020B0604030504040204" pitchFamily="34" charset="0"/>
                <a:ea typeface="ＭＳ Ｐゴシック" panose="020B0600070205080204" pitchFamily="50" charset="-128"/>
              </a:rPr>
              <a:t> (5432</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sp>
        <p:nvSpPr>
          <p:cNvPr id="144" name="正方形/長方形 169">
            <a:extLst>
              <a:ext uri="{FF2B5EF4-FFF2-40B4-BE49-F238E27FC236}">
                <a16:creationId xmlns:a16="http://schemas.microsoft.com/office/drawing/2014/main" id="{75E4C870-D7B8-4C90-A408-8E105739ABC7}"/>
              </a:ext>
            </a:extLst>
          </p:cNvPr>
          <p:cNvSpPr/>
          <p:nvPr/>
        </p:nvSpPr>
        <p:spPr>
          <a:xfrm>
            <a:off x="4162257" y="849977"/>
            <a:ext cx="598081" cy="130837"/>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800" kern="0" dirty="0" smtClean="0">
                <a:solidFill>
                  <a:schemeClr val="accent5">
                    <a:lumMod val="50000"/>
                  </a:schemeClr>
                </a:solidFill>
                <a:ea typeface="Meiryo UI" pitchFamily="50" charset="-128"/>
                <a:cs typeface="Meiryo UI" pitchFamily="50" charset="-128"/>
              </a:rPr>
              <a:t>NLB</a:t>
            </a:r>
            <a:endParaRPr kumimoji="0" lang="ja-JP" altLang="en-US" sz="800" kern="0" dirty="0">
              <a:solidFill>
                <a:schemeClr val="accent5">
                  <a:lumMod val="50000"/>
                </a:schemeClr>
              </a:solidFill>
              <a:ea typeface="Meiryo UI" pitchFamily="50" charset="-128"/>
              <a:cs typeface="Meiryo UI" pitchFamily="50" charset="-128"/>
            </a:endParaRPr>
          </a:p>
        </p:txBody>
      </p:sp>
      <p:pic>
        <p:nvPicPr>
          <p:cNvPr id="162" name="Graphic 24"/>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4202283" y="2489963"/>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5" name="Graphic 24"/>
          <p:cNvPicPr>
            <a:picLocks noChangeAspect="1" noChangeArrowheads="1"/>
          </p:cNvPicPr>
          <p:nvPr/>
        </p:nvPicPr>
        <p:blipFill>
          <a:blip r:embed="rId24" cstate="print">
            <a:extLst>
              <a:ext uri="{28A0092B-C50C-407E-A947-70E740481C1C}">
                <a14:useLocalDpi xmlns:a14="http://schemas.microsoft.com/office/drawing/2010/main" val="0"/>
              </a:ext>
            </a:extLst>
          </a:blip>
          <a:srcRect/>
          <a:stretch>
            <a:fillRect/>
          </a:stretch>
        </p:blipFill>
        <p:spPr bwMode="auto">
          <a:xfrm>
            <a:off x="4124750" y="344225"/>
            <a:ext cx="457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67" name="Elbow Connector 166"/>
          <p:cNvCxnSpPr>
            <a:endCxn id="110" idx="2"/>
          </p:cNvCxnSpPr>
          <p:nvPr/>
        </p:nvCxnSpPr>
        <p:spPr>
          <a:xfrm rot="5400000" flipH="1" flipV="1">
            <a:off x="7951775" y="2589586"/>
            <a:ext cx="1196842" cy="660103"/>
          </a:xfrm>
          <a:prstGeom prst="bentConnector3">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8" name="Elbow Connector 167"/>
          <p:cNvCxnSpPr>
            <a:endCxn id="123" idx="3"/>
          </p:cNvCxnSpPr>
          <p:nvPr/>
        </p:nvCxnSpPr>
        <p:spPr>
          <a:xfrm rot="16200000" flipV="1">
            <a:off x="7499138" y="4580314"/>
            <a:ext cx="1957575" cy="202178"/>
          </a:xfrm>
          <a:prstGeom prst="bentConnector2">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71" name="テキスト ボックス 3">
            <a:extLst>
              <a:ext uri="{FF2B5EF4-FFF2-40B4-BE49-F238E27FC236}">
                <a16:creationId xmlns:a16="http://schemas.microsoft.com/office/drawing/2014/main" id="{8DC5B2B1-260B-47B8-A1F9-33843FDE9263}"/>
              </a:ext>
            </a:extLst>
          </p:cNvPr>
          <p:cNvSpPr txBox="1"/>
          <p:nvPr/>
        </p:nvSpPr>
        <p:spPr>
          <a:xfrm>
            <a:off x="8439604" y="3009759"/>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116" name="Graphic 12"/>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8366356" y="434662"/>
            <a:ext cx="267314" cy="267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89" name="Elbow Connector 188"/>
          <p:cNvCxnSpPr>
            <a:stCxn id="94" idx="3"/>
            <a:endCxn id="113" idx="2"/>
          </p:cNvCxnSpPr>
          <p:nvPr/>
        </p:nvCxnSpPr>
        <p:spPr>
          <a:xfrm flipV="1">
            <a:off x="8943211" y="4323436"/>
            <a:ext cx="1576794" cy="1546670"/>
          </a:xfrm>
          <a:prstGeom prst="bentConnector2">
            <a:avLst/>
          </a:prstGeom>
          <a:solidFill>
            <a:schemeClr val="accent1"/>
          </a:solidFill>
          <a:ln w="19050" cap="flat" cmpd="sng" algn="ctr">
            <a:solidFill>
              <a:srgbClr val="FF0000"/>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2" name="テキスト ボックス 3">
            <a:extLst>
              <a:ext uri="{FF2B5EF4-FFF2-40B4-BE49-F238E27FC236}">
                <a16:creationId xmlns:a16="http://schemas.microsoft.com/office/drawing/2014/main" id="{8DC5B2B1-260B-47B8-A1F9-33843FDE9263}"/>
              </a:ext>
            </a:extLst>
          </p:cNvPr>
          <p:cNvSpPr txBox="1"/>
          <p:nvPr/>
        </p:nvSpPr>
        <p:spPr>
          <a:xfrm>
            <a:off x="10529534" y="3416018"/>
            <a:ext cx="693238" cy="292388"/>
          </a:xfrm>
          <a:prstGeom prst="rect">
            <a:avLst/>
          </a:prstGeom>
          <a:noFill/>
        </p:spPr>
        <p:txBody>
          <a:bodyPr wrap="square" rtlCol="0">
            <a:spAutoFit/>
          </a:bodyPr>
          <a:lstStyle/>
          <a:p>
            <a:r>
              <a:rPr lang="en-US" altLang="ja-JP" sz="700" dirty="0" smtClean="0">
                <a:solidFill>
                  <a:srgbClr val="0000FF"/>
                </a:solidFill>
                <a:latin typeface="Tahoma" panose="020B0604030504040204" pitchFamily="34" charset="0"/>
                <a:ea typeface="ＭＳ Ｐゴシック" panose="020B0600070205080204" pitchFamily="50" charset="-128"/>
              </a:rPr>
              <a:t>HTTPS(443</a:t>
            </a:r>
            <a:r>
              <a:rPr lang="en-US" altLang="ja-JP" sz="700" dirty="0">
                <a:solidFill>
                  <a:srgbClr val="0000FF"/>
                </a:solidFill>
                <a:latin typeface="Tahoma" panose="020B0604030504040204" pitchFamily="34" charset="0"/>
                <a:ea typeface="ＭＳ Ｐゴシック" panose="020B0600070205080204" pitchFamily="50" charset="-128"/>
              </a:rPr>
              <a:t>)</a:t>
            </a:r>
          </a:p>
          <a:p>
            <a:endParaRPr kumimoji="1" lang="ja-JP" altLang="en-US" sz="600" dirty="0"/>
          </a:p>
        </p:txBody>
      </p:sp>
      <p:pic>
        <p:nvPicPr>
          <p:cNvPr id="206" name="Graphic 11">
            <a:extLst>
              <a:ext uri="{FF2B5EF4-FFF2-40B4-BE49-F238E27FC236}">
                <a16:creationId xmlns:a16="http://schemas.microsoft.com/office/drawing/2014/main" id="{B0E20047-53B1-FF44-9CFB-D82DE4A888BD}"/>
              </a:ext>
            </a:extLst>
          </p:cNvPr>
          <p:cNvPicPr>
            <a:picLocks noChangeAspect="1"/>
          </p:cNvPicPr>
          <p:nvPr/>
        </p:nvPicPr>
        <p:blipFill>
          <a:blip r:embed="rId3">
            <a:extLst>
              <a:ext uri="{96DAC541-7B7A-43D3-8B79-37D633B846F1}">
                <asvg:svgBlip xmlns="" xmlns:asvg="http://schemas.microsoft.com/office/drawing/2016/SVG/main" r:embed="rId4"/>
              </a:ext>
            </a:extLst>
          </a:blip>
          <a:stretch>
            <a:fillRect/>
          </a:stretch>
        </p:blipFill>
        <p:spPr>
          <a:xfrm>
            <a:off x="2404717" y="1146353"/>
            <a:ext cx="674193" cy="352785"/>
          </a:xfrm>
          <a:prstGeom prst="rect">
            <a:avLst/>
          </a:prstGeom>
        </p:spPr>
      </p:pic>
      <p:cxnSp>
        <p:nvCxnSpPr>
          <p:cNvPr id="209" name="AutoShape 14">
            <a:extLst>
              <a:ext uri="{FF2B5EF4-FFF2-40B4-BE49-F238E27FC236}">
                <a16:creationId xmlns:a16="http://schemas.microsoft.com/office/drawing/2014/main" id="{B1D6248A-2DF7-46A6-AEC2-15FD4D4556A0}"/>
              </a:ext>
            </a:extLst>
          </p:cNvPr>
          <p:cNvCxnSpPr>
            <a:cxnSpLocks noChangeShapeType="1"/>
          </p:cNvCxnSpPr>
          <p:nvPr/>
        </p:nvCxnSpPr>
        <p:spPr bwMode="auto">
          <a:xfrm>
            <a:off x="3470928" y="643311"/>
            <a:ext cx="440425" cy="11775"/>
          </a:xfrm>
          <a:prstGeom prst="straightConnector1">
            <a:avLst/>
          </a:prstGeom>
          <a:ln w="19050">
            <a:solidFill>
              <a:srgbClr val="002060"/>
            </a:solidFill>
            <a:tailEnd type="triangle"/>
          </a:ln>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alpha val="50000"/>
                    </a:schemeClr>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12" name="正方形/長方形 169">
            <a:extLst>
              <a:ext uri="{FF2B5EF4-FFF2-40B4-BE49-F238E27FC236}">
                <a16:creationId xmlns:a16="http://schemas.microsoft.com/office/drawing/2014/main" id="{75E4C870-D7B8-4C90-A408-8E105739ABC7}"/>
              </a:ext>
            </a:extLst>
          </p:cNvPr>
          <p:cNvSpPr/>
          <p:nvPr/>
        </p:nvSpPr>
        <p:spPr>
          <a:xfrm>
            <a:off x="3438335" y="793732"/>
            <a:ext cx="631023" cy="183560"/>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800" kern="0" dirty="0" smtClean="0">
                <a:solidFill>
                  <a:schemeClr val="accent5">
                    <a:lumMod val="50000"/>
                  </a:schemeClr>
                </a:solidFill>
                <a:ea typeface="Meiryo UI" pitchFamily="50" charset="-128"/>
                <a:cs typeface="Meiryo UI" pitchFamily="50" charset="-128"/>
              </a:rPr>
              <a:t>One way</a:t>
            </a:r>
            <a:endParaRPr kumimoji="0" lang="ja-JP" altLang="en-US" sz="800" kern="0" dirty="0">
              <a:solidFill>
                <a:schemeClr val="accent5">
                  <a:lumMod val="50000"/>
                </a:schemeClr>
              </a:solidFill>
              <a:ea typeface="Meiryo UI" pitchFamily="50" charset="-128"/>
              <a:cs typeface="Meiryo UI" pitchFamily="50" charset="-128"/>
            </a:endParaRPr>
          </a:p>
        </p:txBody>
      </p:sp>
      <p:cxnSp>
        <p:nvCxnSpPr>
          <p:cNvPr id="58" name="Straight Arrow Connector 57"/>
          <p:cNvCxnSpPr/>
          <p:nvPr/>
        </p:nvCxnSpPr>
        <p:spPr>
          <a:xfrm flipV="1">
            <a:off x="2741813" y="615442"/>
            <a:ext cx="602217" cy="7333"/>
          </a:xfrm>
          <a:prstGeom prst="straightConnector1">
            <a:avLst/>
          </a:prstGeom>
          <a:ln>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13" name="正方形/長方形 169">
            <a:extLst>
              <a:ext uri="{FF2B5EF4-FFF2-40B4-BE49-F238E27FC236}">
                <a16:creationId xmlns:a16="http://schemas.microsoft.com/office/drawing/2014/main" id="{75E4C870-D7B8-4C90-A408-8E105739ABC7}"/>
              </a:ext>
            </a:extLst>
          </p:cNvPr>
          <p:cNvSpPr/>
          <p:nvPr/>
        </p:nvSpPr>
        <p:spPr>
          <a:xfrm>
            <a:off x="2661922" y="723175"/>
            <a:ext cx="830388" cy="268011"/>
          </a:xfrm>
          <a:prstGeom prst="rect">
            <a:avLst/>
          </a:prstGeom>
          <a:noFill/>
          <a:ln w="9525" cap="flat" cmpd="sng" algn="ctr">
            <a:noFill/>
            <a:prstDash val="dash"/>
            <a:miter lim="800000"/>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nSpc>
                <a:spcPct val="90000"/>
              </a:lnSpc>
              <a:spcAft>
                <a:spcPts val="1000"/>
              </a:spcAft>
              <a:defRPr/>
            </a:pPr>
            <a:r>
              <a:rPr kumimoji="0" lang="en-US" altLang="ja-JP" sz="800" kern="0" dirty="0" smtClean="0">
                <a:solidFill>
                  <a:schemeClr val="accent5">
                    <a:lumMod val="50000"/>
                  </a:schemeClr>
                </a:solidFill>
                <a:ea typeface="Meiryo UI" pitchFamily="50" charset="-128"/>
                <a:cs typeface="Meiryo UI" pitchFamily="50" charset="-128"/>
              </a:rPr>
              <a:t>Bi directional</a:t>
            </a:r>
            <a:endParaRPr kumimoji="0" lang="ja-JP" altLang="en-US" sz="800" kern="0" dirty="0">
              <a:solidFill>
                <a:schemeClr val="accent5">
                  <a:lumMod val="50000"/>
                </a:schemeClr>
              </a:solidFill>
              <a:ea typeface="Meiryo UI" pitchFamily="50" charset="-128"/>
              <a:cs typeface="Meiryo UI" pitchFamily="50" charset="-128"/>
            </a:endParaRPr>
          </a:p>
        </p:txBody>
      </p:sp>
    </p:spTree>
    <p:extLst>
      <p:ext uri="{BB962C8B-B14F-4D97-AF65-F5344CB8AC3E}">
        <p14:creationId xmlns:p14="http://schemas.microsoft.com/office/powerpoint/2010/main" val="3468460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900525" y="1130711"/>
            <a:ext cx="9570830" cy="769441"/>
          </a:xfrm>
          <a:prstGeom prst="rect">
            <a:avLst/>
          </a:prstGeom>
        </p:spPr>
        <p:txBody>
          <a:bodyPr wrap="square">
            <a:spAutoFit/>
          </a:bodyPr>
          <a:lstStyle/>
          <a:p>
            <a:pPr lvl="3">
              <a:spcBef>
                <a:spcPct val="20000"/>
              </a:spcBef>
              <a:buClr>
                <a:prstClr val="black"/>
              </a:buClr>
              <a:defRPr/>
            </a:pPr>
            <a:endParaRPr lang="en-US" altLang="ja-JP" dirty="0"/>
          </a:p>
          <a:p>
            <a:pPr lvl="1" fontAlgn="base">
              <a:spcBef>
                <a:spcPct val="20000"/>
              </a:spcBef>
              <a:spcAft>
                <a:spcPct val="0"/>
              </a:spcAft>
              <a:buClr>
                <a:schemeClr val="tx1"/>
              </a:buClr>
            </a:pPr>
            <a:endParaRPr lang="en-US" altLang="ja-JP" dirty="0"/>
          </a:p>
        </p:txBody>
      </p:sp>
      <p:graphicFrame>
        <p:nvGraphicFramePr>
          <p:cNvPr id="10" name="Table 9"/>
          <p:cNvGraphicFramePr>
            <a:graphicFrameLocks noGrp="1"/>
          </p:cNvGraphicFramePr>
          <p:nvPr>
            <p:extLst>
              <p:ext uri="{D42A27DB-BD31-4B8C-83A1-F6EECF244321}">
                <p14:modId xmlns:p14="http://schemas.microsoft.com/office/powerpoint/2010/main" val="638739443"/>
              </p:ext>
            </p:extLst>
          </p:nvPr>
        </p:nvGraphicFramePr>
        <p:xfrm>
          <a:off x="249381" y="733032"/>
          <a:ext cx="11170458" cy="4046652"/>
        </p:xfrm>
        <a:graphic>
          <a:graphicData uri="http://schemas.openxmlformats.org/drawingml/2006/table">
            <a:tbl>
              <a:tblPr firstRow="1" bandRow="1">
                <a:tableStyleId>{5C22544A-7EE6-4342-B048-85BDC9FD1C3A}</a:tableStyleId>
              </a:tblPr>
              <a:tblGrid>
                <a:gridCol w="365233">
                  <a:extLst>
                    <a:ext uri="{9D8B030D-6E8A-4147-A177-3AD203B41FA5}">
                      <a16:colId xmlns:a16="http://schemas.microsoft.com/office/drawing/2014/main" val="1356461645"/>
                    </a:ext>
                  </a:extLst>
                </a:gridCol>
                <a:gridCol w="1371255">
                  <a:extLst>
                    <a:ext uri="{9D8B030D-6E8A-4147-A177-3AD203B41FA5}">
                      <a16:colId xmlns:a16="http://schemas.microsoft.com/office/drawing/2014/main" val="1503874686"/>
                    </a:ext>
                  </a:extLst>
                </a:gridCol>
                <a:gridCol w="1347710">
                  <a:extLst>
                    <a:ext uri="{9D8B030D-6E8A-4147-A177-3AD203B41FA5}">
                      <a16:colId xmlns:a16="http://schemas.microsoft.com/office/drawing/2014/main" val="2137959635"/>
                    </a:ext>
                  </a:extLst>
                </a:gridCol>
                <a:gridCol w="1347710">
                  <a:extLst>
                    <a:ext uri="{9D8B030D-6E8A-4147-A177-3AD203B41FA5}">
                      <a16:colId xmlns:a16="http://schemas.microsoft.com/office/drawing/2014/main" val="2854670969"/>
                    </a:ext>
                  </a:extLst>
                </a:gridCol>
                <a:gridCol w="1347710">
                  <a:extLst>
                    <a:ext uri="{9D8B030D-6E8A-4147-A177-3AD203B41FA5}">
                      <a16:colId xmlns:a16="http://schemas.microsoft.com/office/drawing/2014/main" val="906457888"/>
                    </a:ext>
                  </a:extLst>
                </a:gridCol>
                <a:gridCol w="1347710">
                  <a:extLst>
                    <a:ext uri="{9D8B030D-6E8A-4147-A177-3AD203B41FA5}">
                      <a16:colId xmlns:a16="http://schemas.microsoft.com/office/drawing/2014/main" val="625370446"/>
                    </a:ext>
                  </a:extLst>
                </a:gridCol>
                <a:gridCol w="1347710">
                  <a:extLst>
                    <a:ext uri="{9D8B030D-6E8A-4147-A177-3AD203B41FA5}">
                      <a16:colId xmlns:a16="http://schemas.microsoft.com/office/drawing/2014/main" val="3555909556"/>
                    </a:ext>
                  </a:extLst>
                </a:gridCol>
                <a:gridCol w="1347710">
                  <a:extLst>
                    <a:ext uri="{9D8B030D-6E8A-4147-A177-3AD203B41FA5}">
                      <a16:colId xmlns:a16="http://schemas.microsoft.com/office/drawing/2014/main" val="2217973467"/>
                    </a:ext>
                  </a:extLst>
                </a:gridCol>
                <a:gridCol w="1347710">
                  <a:extLst>
                    <a:ext uri="{9D8B030D-6E8A-4147-A177-3AD203B41FA5}">
                      <a16:colId xmlns:a16="http://schemas.microsoft.com/office/drawing/2014/main" val="2136069908"/>
                    </a:ext>
                  </a:extLst>
                </a:gridCol>
              </a:tblGrid>
              <a:tr h="694278">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No</a:t>
                      </a: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Source (From)</a:t>
                      </a: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Destination (To)</a:t>
                      </a: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VIA</a:t>
                      </a: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Synchronous</a:t>
                      </a:r>
                    </a:p>
                    <a:p>
                      <a:pPr algn="ctr" fontAlgn="ctr"/>
                      <a:r>
                        <a:rPr kumimoji="1" lang="en-IN" sz="1200" b="1" i="0" u="none" strike="noStrike" kern="1200" dirty="0">
                          <a:solidFill>
                            <a:schemeClr val="bg1"/>
                          </a:solidFill>
                          <a:effectLst/>
                          <a:latin typeface="Calibri" panose="020F0502020204030204" pitchFamily="34" charset="0"/>
                          <a:ea typeface="+mn-ea"/>
                          <a:cs typeface="+mn-cs"/>
                        </a:rPr>
                        <a:t>or </a:t>
                      </a:r>
                      <a:r>
                        <a:rPr kumimoji="1" lang="en-US" altLang="ja-JP" sz="1200" b="1" i="0" u="none" strike="noStrike" kern="1200" dirty="0">
                          <a:solidFill>
                            <a:schemeClr val="bg1"/>
                          </a:solidFill>
                          <a:effectLst/>
                          <a:latin typeface="Calibri" panose="020F0502020204030204" pitchFamily="34" charset="0"/>
                          <a:ea typeface="+mn-ea"/>
                          <a:cs typeface="+mn-cs"/>
                        </a:rPr>
                        <a:t>Asynchronous</a:t>
                      </a:r>
                      <a:endParaRPr kumimoji="1" lang="en-IN" sz="1200" b="1" i="0" u="none" strike="noStrike" kern="1200" dirty="0">
                        <a:solidFill>
                          <a:schemeClr val="bg1"/>
                        </a:solidFill>
                        <a:effectLst/>
                        <a:latin typeface="Calibri" panose="020F0502020204030204" pitchFamily="34" charset="0"/>
                        <a:ea typeface="+mn-ea"/>
                        <a:cs typeface="+mn-cs"/>
                      </a:endParaRP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Communication Protocol</a:t>
                      </a:r>
                    </a:p>
                  </a:txBody>
                  <a:tcPr marL="4763" marR="4763" marT="4763" marB="0" anchor="ctr"/>
                </a:tc>
                <a:tc>
                  <a:txBody>
                    <a:bodyPr/>
                    <a:lstStyle/>
                    <a:p>
                      <a:pPr algn="ctr" fontAlgn="ctr"/>
                      <a:r>
                        <a:rPr kumimoji="1" lang="en-US" sz="1200" b="1" i="0" u="none" strike="noStrike" kern="1200" dirty="0">
                          <a:solidFill>
                            <a:schemeClr val="bg1"/>
                          </a:solidFill>
                          <a:effectLst/>
                          <a:latin typeface="Calibri" panose="020F0502020204030204" pitchFamily="34" charset="0"/>
                          <a:ea typeface="+mn-ea"/>
                          <a:cs typeface="+mn-cs"/>
                        </a:rPr>
                        <a:t>Message format</a:t>
                      </a:r>
                      <a:endParaRPr kumimoji="1" lang="en-IN" sz="1200" b="1" i="0" u="none" strike="noStrike" kern="1200" dirty="0">
                        <a:solidFill>
                          <a:schemeClr val="bg1"/>
                        </a:solidFill>
                        <a:effectLst/>
                        <a:latin typeface="Calibri" panose="020F0502020204030204" pitchFamily="34" charset="0"/>
                        <a:ea typeface="+mn-ea"/>
                        <a:cs typeface="+mn-cs"/>
                      </a:endParaRPr>
                    </a:p>
                  </a:txBody>
                  <a:tcPr marL="4763" marR="4763" marT="4763" marB="0" anchor="ctr"/>
                </a:tc>
                <a:tc>
                  <a:txBody>
                    <a:bodyPr/>
                    <a:lstStyle/>
                    <a:p>
                      <a:pPr algn="ctr" fontAlgn="ctr"/>
                      <a:r>
                        <a:rPr kumimoji="1" lang="en-IN" sz="1200" b="1" i="0" u="none" strike="noStrike" kern="1200" dirty="0">
                          <a:solidFill>
                            <a:schemeClr val="bg1"/>
                          </a:solidFill>
                          <a:effectLst/>
                          <a:latin typeface="Calibri" panose="020F0502020204030204" pitchFamily="34" charset="0"/>
                          <a:ea typeface="+mn-ea"/>
                          <a:cs typeface="+mn-cs"/>
                        </a:rPr>
                        <a:t>One way/Bi-Directional</a:t>
                      </a:r>
                    </a:p>
                  </a:txBody>
                  <a:tcPr marL="4763" marR="4763" marT="4763" marB="0" anchor="ctr"/>
                </a:tc>
                <a:tc>
                  <a:txBody>
                    <a:bodyPr/>
                    <a:lstStyle/>
                    <a:p>
                      <a:pPr algn="ctr" fontAlgn="ctr"/>
                      <a:r>
                        <a:rPr kumimoji="1" lang="en-US" sz="1200" b="1" i="0" u="none" strike="noStrike" kern="1200" dirty="0" smtClean="0">
                          <a:solidFill>
                            <a:schemeClr val="bg1"/>
                          </a:solidFill>
                          <a:effectLst/>
                          <a:latin typeface="Calibri" panose="020F0502020204030204" pitchFamily="34" charset="0"/>
                          <a:ea typeface="+mn-ea"/>
                          <a:cs typeface="+mn-cs"/>
                        </a:rPr>
                        <a:t>Description</a:t>
                      </a:r>
                      <a:endParaRPr kumimoji="1" lang="en-IN" sz="1200" b="1" i="0" u="none" strike="noStrike" kern="1200" dirty="0">
                        <a:solidFill>
                          <a:schemeClr val="bg1"/>
                        </a:solidFill>
                        <a:effectLst/>
                        <a:latin typeface="Calibri" panose="020F0502020204030204" pitchFamily="34" charset="0"/>
                        <a:ea typeface="+mn-ea"/>
                        <a:cs typeface="+mn-cs"/>
                      </a:endParaRPr>
                    </a:p>
                  </a:txBody>
                  <a:tcPr marL="4763" marR="4763" marT="4763" marB="0" anchor="ctr"/>
                </a:tc>
                <a:extLst>
                  <a:ext uri="{0D108BD9-81ED-4DB2-BD59-A6C34878D82A}">
                    <a16:rowId xmlns:a16="http://schemas.microsoft.com/office/drawing/2014/main" val="3221081355"/>
                  </a:ext>
                </a:extLst>
              </a:tr>
              <a:tr h="584468">
                <a:tc>
                  <a:txBody>
                    <a:bodyPr/>
                    <a:lstStyle/>
                    <a:p>
                      <a:r>
                        <a:rPr lang="en-US" dirty="0"/>
                        <a:t>1</a:t>
                      </a:r>
                      <a:endParaRPr lang="en-IN" dirty="0"/>
                    </a:p>
                  </a:txBody>
                  <a:tcPr/>
                </a:tc>
                <a:tc>
                  <a:txBody>
                    <a:bodyPr/>
                    <a:lstStyle/>
                    <a:p>
                      <a:pPr marL="0" algn="l" defTabSz="914400" rtl="0" eaLnBrk="1" fontAlgn="b" latinLnBrk="0" hangingPunct="1"/>
                      <a:r>
                        <a:rPr kumimoji="1" lang="en-US" sz="1400" kern="1200" dirty="0" smtClean="0">
                          <a:solidFill>
                            <a:schemeClr val="dk1"/>
                          </a:solidFill>
                          <a:latin typeface="Calibri" panose="020F0502020204030204" pitchFamily="34" charset="0"/>
                          <a:ea typeface="+mn-ea"/>
                          <a:cs typeface="Calibri" panose="020F0502020204030204" pitchFamily="34" charset="0"/>
                        </a:rPr>
                        <a:t>YANA System</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algn="l" defTabSz="914400" rtl="0" eaLnBrk="1" fontAlgn="b" latinLnBrk="0" hangingPunct="1"/>
                      <a:r>
                        <a:rPr kumimoji="1" lang="en-IN" sz="1400" kern="1200" dirty="0" smtClean="0">
                          <a:solidFill>
                            <a:schemeClr val="dk1"/>
                          </a:solidFill>
                          <a:latin typeface="Calibri" panose="020F0502020204030204" pitchFamily="34" charset="0"/>
                          <a:ea typeface="+mn-ea"/>
                          <a:cs typeface="Calibri" panose="020F0502020204030204" pitchFamily="34" charset="0"/>
                        </a:rPr>
                        <a:t>AWS Fargate (API Services)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Apigee, AWS  API gateway &amp; NLB</a:t>
                      </a:r>
                      <a:endParaRPr kumimoji="1" lang="en-IN" sz="1400" kern="1200" dirty="0">
                        <a:solidFill>
                          <a:schemeClr val="dk1"/>
                        </a:solidFill>
                        <a:latin typeface="Calibri" panose="020F0502020204030204" pitchFamily="34" charset="0"/>
                        <a:ea typeface="+mn-ea"/>
                        <a:cs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HTTPS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JSON</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Bi-Directional</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API access</a:t>
                      </a:r>
                      <a:r>
                        <a:rPr kumimoji="1" lang="en-US" sz="1400" kern="1200" baseline="0" dirty="0" smtClean="0">
                          <a:solidFill>
                            <a:schemeClr val="dk1"/>
                          </a:solidFill>
                          <a:latin typeface="Calibri" panose="020F0502020204030204" pitchFamily="34" charset="0"/>
                          <a:ea typeface="+mn-ea"/>
                          <a:cs typeface="Calibri" panose="020F0502020204030204" pitchFamily="34" charset="0"/>
                        </a:rPr>
                        <a:t>.</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3557729392"/>
                  </a:ext>
                </a:extLst>
              </a:tr>
              <a:tr h="515672">
                <a:tc>
                  <a:txBody>
                    <a:bodyPr/>
                    <a:lstStyle/>
                    <a:p>
                      <a:r>
                        <a:rPr lang="en-US" dirty="0" smtClean="0"/>
                        <a:t>2</a:t>
                      </a:r>
                      <a:endParaRPr lang="en-IN" dirty="0"/>
                    </a:p>
                  </a:txBody>
                  <a:tcPr/>
                </a:tc>
                <a:tc>
                  <a:txBody>
                    <a:bodyPr/>
                    <a:lstStyle/>
                    <a:p>
                      <a:pPr marL="0" algn="l" defTabSz="914400" rtl="0" eaLnBrk="1" fontAlgn="b" latinLnBrk="0" hangingPunct="1"/>
                      <a:r>
                        <a:rPr kumimoji="1" lang="en-IN" sz="1400" kern="1200" dirty="0" smtClean="0">
                          <a:solidFill>
                            <a:schemeClr val="dk1"/>
                          </a:solidFill>
                          <a:latin typeface="Calibri" panose="020F0502020204030204" pitchFamily="34" charset="0"/>
                          <a:ea typeface="+mn-ea"/>
                          <a:cs typeface="Calibri" panose="020F0502020204030204" pitchFamily="34" charset="0"/>
                        </a:rPr>
                        <a:t>AWS Fargate (API Services)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NIMS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CLB(Mod1</a:t>
                      </a:r>
                      <a:r>
                        <a:rPr kumimoji="1" lang="en-US" sz="1400" kern="1200" baseline="0" dirty="0" smtClean="0">
                          <a:solidFill>
                            <a:schemeClr val="dk1"/>
                          </a:solidFill>
                          <a:latin typeface="Calibri" panose="020F0502020204030204" pitchFamily="34" charset="0"/>
                          <a:ea typeface="+mn-ea"/>
                          <a:cs typeface="Calibri" panose="020F0502020204030204" pitchFamily="34" charset="0"/>
                        </a:rPr>
                        <a:t> Transparent proxy)</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HTTPS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JSON</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Bi-Directional</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NIMS</a:t>
                      </a:r>
                      <a:r>
                        <a:rPr kumimoji="1" lang="en-US" sz="1400" kern="1200" baseline="0" dirty="0" smtClean="0">
                          <a:solidFill>
                            <a:schemeClr val="dk1"/>
                          </a:solidFill>
                          <a:latin typeface="Calibri" panose="020F0502020204030204" pitchFamily="34" charset="0"/>
                          <a:ea typeface="+mn-ea"/>
                          <a:cs typeface="Calibri" panose="020F0502020204030204" pitchFamily="34" charset="0"/>
                        </a:rPr>
                        <a:t> Api access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2515489116"/>
                  </a:ext>
                </a:extLst>
              </a:tr>
              <a:tr h="515672">
                <a:tc>
                  <a:txBody>
                    <a:bodyPr/>
                    <a:lstStyle/>
                    <a:p>
                      <a:r>
                        <a:rPr lang="en-US" dirty="0" smtClean="0"/>
                        <a:t>3</a:t>
                      </a:r>
                      <a:endParaRPr lang="en-IN" dirty="0"/>
                    </a:p>
                  </a:txBody>
                  <a:tcPr/>
                </a:tc>
                <a:tc>
                  <a:txBody>
                    <a:bodyPr/>
                    <a:lstStyle/>
                    <a:p>
                      <a:pPr marL="0" algn="l" defTabSz="914400" rtl="0" eaLnBrk="1" fontAlgn="b" latinLnBrk="0" hangingPunct="1"/>
                      <a:r>
                        <a:rPr kumimoji="1" lang="en-US" sz="1400" kern="1200" dirty="0">
                          <a:solidFill>
                            <a:schemeClr val="dk1"/>
                          </a:solidFill>
                          <a:latin typeface="Calibri" panose="020F0502020204030204" pitchFamily="34" charset="0"/>
                          <a:ea typeface="+mn-ea"/>
                          <a:cs typeface="Calibri" panose="020F0502020204030204" pitchFamily="34" charset="0"/>
                        </a:rPr>
                        <a:t>NIMS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AWS EC2</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ESB</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SFTP</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JSON files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Bi-Directional</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Transfer JSON files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116665392"/>
                  </a:ext>
                </a:extLst>
              </a:tr>
              <a:tr h="515672">
                <a:tc>
                  <a:txBody>
                    <a:bodyPr/>
                    <a:lstStyle/>
                    <a:p>
                      <a:r>
                        <a:rPr lang="en-US" dirty="0" smtClean="0"/>
                        <a:t>4</a:t>
                      </a:r>
                      <a:endParaRPr lang="en-IN" dirty="0"/>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AWS EC2</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AWS S3</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HTTPS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JSON files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Bi-Directional</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Transfer JSON files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1210187757"/>
                  </a:ext>
                </a:extLst>
              </a:tr>
              <a:tr h="515672">
                <a:tc>
                  <a:txBody>
                    <a:bodyPr/>
                    <a:lstStyle/>
                    <a:p>
                      <a:r>
                        <a:rPr lang="en-US" dirty="0" smtClean="0"/>
                        <a:t>5</a:t>
                      </a:r>
                      <a:endParaRPr lang="en-IN" dirty="0"/>
                    </a:p>
                  </a:txBody>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AWS S3</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Aurora Database</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AWS Fargate batch</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HTTPS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JSON</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a:solidFill>
                            <a:schemeClr val="dk1"/>
                          </a:solidFill>
                          <a:latin typeface="Calibri" panose="020F0502020204030204" pitchFamily="34" charset="0"/>
                          <a:ea typeface="+mn-ea"/>
                          <a:cs typeface="Calibri" panose="020F0502020204030204" pitchFamily="34" charset="0"/>
                        </a:rPr>
                        <a:t>One Way</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840423546"/>
                  </a:ext>
                </a:extLst>
              </a:tr>
              <a:tr h="515672">
                <a:tc>
                  <a:txBody>
                    <a:bodyPr/>
                    <a:lstStyle/>
                    <a:p>
                      <a:r>
                        <a:rPr lang="en-US" dirty="0" smtClean="0"/>
                        <a:t>6</a:t>
                      </a:r>
                      <a:endParaRPr lang="en-IN" dirty="0"/>
                    </a:p>
                  </a:txBody>
                  <a:tcPr/>
                </a:tc>
                <a:tc>
                  <a:txBody>
                    <a:bodyPr/>
                    <a:lstStyle/>
                    <a:p>
                      <a:pPr marL="0" algn="l" defTabSz="914400" rtl="0" eaLnBrk="1" fontAlgn="b" latinLnBrk="0" hangingPunct="1"/>
                      <a:r>
                        <a:rPr kumimoji="1" lang="en-US" sz="1400" kern="1200" dirty="0" smtClean="0">
                          <a:solidFill>
                            <a:schemeClr val="dk1"/>
                          </a:solidFill>
                          <a:latin typeface="Calibri" panose="020F0502020204030204" pitchFamily="34" charset="0"/>
                          <a:ea typeface="+mn-ea"/>
                          <a:cs typeface="Calibri" panose="020F0502020204030204" pitchFamily="34" charset="0"/>
                        </a:rPr>
                        <a:t>AWS Fargate</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SMTP Server</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Asynchronous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HTTPS</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JSON</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One Way</a:t>
                      </a:r>
                      <a:endParaRPr kumimoji="1" lang="en-IN" sz="1400" kern="1200" dirty="0" smtClean="0">
                        <a:solidFill>
                          <a:schemeClr val="dk1"/>
                        </a:solidFill>
                        <a:latin typeface="Calibri" panose="020F0502020204030204" pitchFamily="34" charset="0"/>
                        <a:ea typeface="+mn-ea"/>
                        <a:cs typeface="Calibri" panose="020F0502020204030204" pitchFamily="34"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400" kern="1200" dirty="0" smtClean="0">
                          <a:solidFill>
                            <a:schemeClr val="dk1"/>
                          </a:solidFill>
                          <a:latin typeface="Calibri" panose="020F0502020204030204" pitchFamily="34" charset="0"/>
                          <a:ea typeface="+mn-ea"/>
                          <a:cs typeface="Calibri" panose="020F0502020204030204" pitchFamily="34" charset="0"/>
                        </a:rPr>
                        <a:t>Email service</a:t>
                      </a:r>
                      <a:endParaRPr kumimoji="1" lang="en-IN" sz="1400" kern="1200" dirty="0">
                        <a:solidFill>
                          <a:schemeClr val="dk1"/>
                        </a:solidFill>
                        <a:latin typeface="Calibri" panose="020F0502020204030204" pitchFamily="34" charset="0"/>
                        <a:ea typeface="+mn-ea"/>
                        <a:cs typeface="Calibri" panose="020F0502020204030204" pitchFamily="34" charset="0"/>
                      </a:endParaRPr>
                    </a:p>
                  </a:txBody>
                  <a:tcPr marL="36000" marR="4763" marT="4763" marB="0"/>
                </a:tc>
                <a:extLst>
                  <a:ext uri="{0D108BD9-81ED-4DB2-BD59-A6C34878D82A}">
                    <a16:rowId xmlns:a16="http://schemas.microsoft.com/office/drawing/2014/main" val="2010671428"/>
                  </a:ext>
                </a:extLst>
              </a:tr>
            </a:tbl>
          </a:graphicData>
        </a:graphic>
      </p:graphicFrame>
      <p:sp>
        <p:nvSpPr>
          <p:cNvPr id="7" name="タイトル 28">
            <a:extLst>
              <a:ext uri="{FF2B5EF4-FFF2-40B4-BE49-F238E27FC236}">
                <a16:creationId xmlns:a16="http://schemas.microsoft.com/office/drawing/2014/main" id="{C996F0D3-AC84-4B07-86E8-FA04FD953746}"/>
              </a:ext>
            </a:extLst>
          </p:cNvPr>
          <p:cNvSpPr txBox="1">
            <a:spLocks noGrp="1"/>
          </p:cNvSpPr>
          <p:nvPr>
            <p:ph type="title"/>
          </p:nvPr>
        </p:nvSpPr>
        <p:spPr>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kumimoji="1" lang="en-US" sz="2400" kern="1200" baseline="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altLang="ja-JP" sz="3200" dirty="0">
                <a:solidFill>
                  <a:schemeClr val="tx1"/>
                </a:solidFill>
                <a:latin typeface="+mj-lt"/>
              </a:rPr>
              <a:t>System Architecture – IF list</a:t>
            </a:r>
            <a:endParaRPr lang="ja-JP" altLang="en-US" sz="3200" dirty="0">
              <a:solidFill>
                <a:schemeClr val="tx1"/>
              </a:solidFill>
              <a:latin typeface="+mj-lt"/>
            </a:endParaRPr>
          </a:p>
        </p:txBody>
      </p:sp>
    </p:spTree>
    <p:extLst>
      <p:ext uri="{BB962C8B-B14F-4D97-AF65-F5344CB8AC3E}">
        <p14:creationId xmlns:p14="http://schemas.microsoft.com/office/powerpoint/2010/main" val="270665345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4401" y="207187"/>
            <a:ext cx="8996484" cy="669925"/>
          </a:xfrm>
        </p:spPr>
        <p:txBody>
          <a:bodyPr/>
          <a:lstStyle/>
          <a:p>
            <a:r>
              <a:rPr lang="en-US" sz="2585" dirty="0">
                <a:latin typeface="NissanAG-Bold" pitchFamily="50" charset="0"/>
                <a:ea typeface="NissanAG-Bold" pitchFamily="50" charset="0"/>
                <a:cs typeface="Verdana" pitchFamily="34" charset="0"/>
                <a:sym typeface="Verdana" panose="020B0604030504040204" pitchFamily="34" charset="0"/>
              </a:rPr>
              <a:t>Security &amp; Data privacy</a:t>
            </a:r>
            <a:endParaRPr lang="ja-JP" altLang="en-US" sz="2585" u="sng" dirty="0">
              <a:solidFill>
                <a:srgbClr val="FF0000"/>
              </a:solidFill>
              <a:latin typeface="NissanAG-Bold" pitchFamily="50" charset="0"/>
              <a:ea typeface="NissanAG-Bold" pitchFamily="50" charset="0"/>
              <a:cs typeface="Verdana" pitchFamily="34" charset="0"/>
            </a:endParaRPr>
          </a:p>
        </p:txBody>
      </p:sp>
      <p:sp>
        <p:nvSpPr>
          <p:cNvPr id="5" name="Rectangle 4"/>
          <p:cNvSpPr/>
          <p:nvPr/>
        </p:nvSpPr>
        <p:spPr>
          <a:xfrm>
            <a:off x="423334" y="877112"/>
            <a:ext cx="10972799" cy="400110"/>
          </a:xfrm>
          <a:prstGeom prst="rect">
            <a:avLst/>
          </a:prstGeom>
        </p:spPr>
        <p:txBody>
          <a:bodyPr wrap="square">
            <a:spAutoFit/>
          </a:bodyPr>
          <a:lstStyle/>
          <a:p>
            <a:pPr lvl="1" fontAlgn="base">
              <a:spcBef>
                <a:spcPct val="20000"/>
              </a:spcBef>
              <a:spcAft>
                <a:spcPct val="0"/>
              </a:spcAft>
              <a:buClr>
                <a:schemeClr val="tx1"/>
              </a:buClr>
            </a:pPr>
            <a:endParaRPr lang="en-US" altLang="ja-JP" dirty="0"/>
          </a:p>
        </p:txBody>
      </p:sp>
      <p:sp>
        <p:nvSpPr>
          <p:cNvPr id="7" name="TextBox 6"/>
          <p:cNvSpPr txBox="1"/>
          <p:nvPr/>
        </p:nvSpPr>
        <p:spPr>
          <a:xfrm>
            <a:off x="653934" y="794787"/>
            <a:ext cx="11102110" cy="4462760"/>
          </a:xfrm>
          <a:prstGeom prst="rect">
            <a:avLst/>
          </a:prstGeom>
          <a:noFill/>
        </p:spPr>
        <p:txBody>
          <a:bodyPr wrap="square" rtlCol="0">
            <a:spAutoFit/>
          </a:bodyPr>
          <a:lstStyle/>
          <a:p>
            <a:r>
              <a:rPr lang="en-US" sz="1400" dirty="0" smtClean="0">
                <a:latin typeface="Segoe UI" panose="020B0502040204020203" pitchFamily="34" charset="0"/>
                <a:cs typeface="Segoe UI" panose="020B0502040204020203" pitchFamily="34" charset="0"/>
              </a:rPr>
              <a:t> </a:t>
            </a:r>
            <a:r>
              <a:rPr lang="en-US" sz="1400" b="1" u="sng" dirty="0" smtClean="0">
                <a:latin typeface="Segoe UI" panose="020B0502040204020203" pitchFamily="34" charset="0"/>
                <a:cs typeface="Segoe UI" panose="020B0502040204020203" pitchFamily="34" charset="0"/>
              </a:rPr>
              <a:t> Authentication</a:t>
            </a:r>
          </a:p>
          <a:p>
            <a:endParaRPr lang="en-US" sz="1400" b="1" u="sng" dirty="0">
              <a:latin typeface="Segoe UI" panose="020B0502040204020203" pitchFamily="34" charset="0"/>
              <a:cs typeface="Segoe UI" panose="020B0502040204020203" pitchFamily="34" charset="0"/>
            </a:endParaRPr>
          </a:p>
          <a:p>
            <a:pPr marL="342900" indent="-342900">
              <a:buFont typeface="+mj-lt"/>
              <a:buAutoNum type="arabicPeriod"/>
            </a:pPr>
            <a:r>
              <a:rPr lang="en-US" sz="1400" dirty="0" smtClean="0">
                <a:latin typeface="Segoe UI" panose="020B0502040204020203" pitchFamily="34" charset="0"/>
                <a:cs typeface="Segoe UI" panose="020B0502040204020203" pitchFamily="34" charset="0"/>
              </a:rPr>
              <a:t>DDI </a:t>
            </a:r>
            <a:r>
              <a:rPr lang="en-US" sz="1400" dirty="0">
                <a:latin typeface="Segoe UI" panose="020B0502040204020203" pitchFamily="34" charset="0"/>
                <a:cs typeface="Segoe UI" panose="020B0502040204020203" pitchFamily="34" charset="0"/>
              </a:rPr>
              <a:t>is an internet based application and </a:t>
            </a:r>
            <a:r>
              <a:rPr lang="en-US" sz="1400" dirty="0" smtClean="0">
                <a:latin typeface="Segoe UI" panose="020B0502040204020203" pitchFamily="34" charset="0"/>
                <a:cs typeface="Segoe UI" panose="020B0502040204020203" pitchFamily="34" charset="0"/>
              </a:rPr>
              <a:t>YANA </a:t>
            </a:r>
            <a:r>
              <a:rPr lang="en-US" sz="1400" dirty="0">
                <a:latin typeface="Segoe UI" panose="020B0502040204020203" pitchFamily="34" charset="0"/>
                <a:cs typeface="Segoe UI" panose="020B0502040204020203" pitchFamily="34" charset="0"/>
              </a:rPr>
              <a:t>system is the user for this application.</a:t>
            </a:r>
          </a:p>
          <a:p>
            <a:pPr marL="342900" indent="-342900">
              <a:buFont typeface="+mj-lt"/>
              <a:buAutoNum type="arabicPeriod"/>
            </a:pPr>
            <a:r>
              <a:rPr lang="en-US" sz="1400" b="1" dirty="0" smtClean="0">
                <a:latin typeface="Segoe UI" panose="020B0502040204020203" pitchFamily="34" charset="0"/>
                <a:cs typeface="Segoe UI" panose="020B0502040204020203" pitchFamily="34" charset="0"/>
              </a:rPr>
              <a:t>Oauth2 </a:t>
            </a:r>
            <a:r>
              <a:rPr lang="en-US" sz="1400" b="1" dirty="0">
                <a:latin typeface="Segoe UI" panose="020B0502040204020203" pitchFamily="34" charset="0"/>
                <a:cs typeface="Segoe UI" panose="020B0502040204020203" pitchFamily="34" charset="0"/>
              </a:rPr>
              <a:t>client credentials</a:t>
            </a:r>
            <a:r>
              <a:rPr lang="en-US" sz="1400" dirty="0">
                <a:latin typeface="Segoe UI" panose="020B0502040204020203" pitchFamily="34" charset="0"/>
                <a:cs typeface="Segoe UI" panose="020B0502040204020203" pitchFamily="34" charset="0"/>
              </a:rPr>
              <a:t> is the authentication mechanism followed in DDI.</a:t>
            </a:r>
          </a:p>
          <a:p>
            <a:pPr marL="342900" indent="-342900">
              <a:buFont typeface="+mj-lt"/>
              <a:buAutoNum type="arabicPeriod"/>
            </a:pPr>
            <a:r>
              <a:rPr lang="en-US" sz="1400" dirty="0">
                <a:latin typeface="Segoe UI" panose="020B0502040204020203" pitchFamily="34" charset="0"/>
                <a:cs typeface="Segoe UI" panose="020B0502040204020203" pitchFamily="34" charset="0"/>
              </a:rPr>
              <a:t>Yana DMS will be on boarded to Apigee edge and provide client credentials to connect to Nissan cloud systems</a:t>
            </a:r>
            <a:r>
              <a:rPr lang="en-US" sz="1400" dirty="0" smtClean="0">
                <a:latin typeface="Segoe UI" panose="020B0502040204020203" pitchFamily="34" charset="0"/>
                <a:cs typeface="Segoe UI" panose="020B0502040204020203" pitchFamily="34" charset="0"/>
              </a:rPr>
              <a:t>.</a:t>
            </a:r>
            <a:endParaRPr lang="en-US" sz="1400" dirty="0">
              <a:latin typeface="Segoe UI" panose="020B0502040204020203" pitchFamily="34" charset="0"/>
              <a:cs typeface="Segoe UI" panose="020B0502040204020203" pitchFamily="34" charset="0"/>
            </a:endParaRPr>
          </a:p>
          <a:p>
            <a:pPr marL="342900" indent="-342900">
              <a:buFont typeface="+mj-lt"/>
              <a:buAutoNum type="arabicPeriod"/>
            </a:pPr>
            <a:r>
              <a:rPr lang="en-US" sz="1400" dirty="0" smtClean="0">
                <a:latin typeface="Segoe UI" panose="020B0502040204020203" pitchFamily="34" charset="0"/>
                <a:cs typeface="Segoe UI" panose="020B0502040204020203" pitchFamily="34" charset="0"/>
              </a:rPr>
              <a:t>SFTP communication between ESB &amp; SFTP server’s is through key pairs i.e. public key &amp; private keys</a:t>
            </a:r>
          </a:p>
          <a:p>
            <a:pPr marL="342900" indent="-342900">
              <a:buFont typeface="+mj-lt"/>
              <a:buAutoNum type="arabicPeriod"/>
            </a:pPr>
            <a:r>
              <a:rPr lang="en-US" sz="1400" dirty="0" smtClean="0">
                <a:latin typeface="Segoe UI" panose="020B0502040204020203" pitchFamily="34" charset="0"/>
                <a:cs typeface="Segoe UI" panose="020B0502040204020203" pitchFamily="34" charset="0"/>
              </a:rPr>
              <a:t>Authentication between EC2 &amp; S3 is through IAM roles.</a:t>
            </a:r>
          </a:p>
          <a:p>
            <a:pPr marL="342900" indent="-342900">
              <a:buFont typeface="+mj-lt"/>
              <a:buAutoNum type="arabicPeriod"/>
            </a:pPr>
            <a:r>
              <a:rPr lang="en-US" sz="1400" dirty="0" smtClean="0">
                <a:latin typeface="Segoe UI" panose="020B0502040204020203" pitchFamily="34" charset="0"/>
                <a:cs typeface="Segoe UI" panose="020B0502040204020203" pitchFamily="34" charset="0"/>
              </a:rPr>
              <a:t>NIMS supports basic authentication for REST API’s.</a:t>
            </a:r>
          </a:p>
          <a:p>
            <a:pPr marL="342900" indent="-342900">
              <a:buFont typeface="+mj-lt"/>
              <a:buAutoNum type="arabicPeriod"/>
            </a:pPr>
            <a:endParaRPr lang="en-US" sz="1400" b="1" dirty="0">
              <a:latin typeface="Segoe UI" panose="020B0502040204020203" pitchFamily="34" charset="0"/>
              <a:cs typeface="Segoe UI" panose="020B0502040204020203" pitchFamily="34" charset="0"/>
            </a:endParaRPr>
          </a:p>
          <a:p>
            <a:r>
              <a:rPr lang="en-US" sz="1600" b="1" u="sng" dirty="0"/>
              <a:t>Other Security </a:t>
            </a:r>
            <a:r>
              <a:rPr lang="en-US" sz="1600" b="1" u="sng" dirty="0" smtClean="0"/>
              <a:t>measures</a:t>
            </a:r>
          </a:p>
          <a:p>
            <a:endParaRPr lang="en-US" sz="1600" b="1" u="sng" dirty="0"/>
          </a:p>
          <a:p>
            <a:pPr marL="342900" indent="-342900">
              <a:buFontTx/>
              <a:buAutoNum type="arabicPeriod"/>
            </a:pPr>
            <a:r>
              <a:rPr lang="en-US" sz="1400" dirty="0" smtClean="0">
                <a:latin typeface="Segoe UI" panose="020B0502040204020203" pitchFamily="34" charset="0"/>
                <a:cs typeface="Segoe UI" panose="020B0502040204020203" pitchFamily="34" charset="0"/>
              </a:rPr>
              <a:t>Uses </a:t>
            </a:r>
            <a:r>
              <a:rPr lang="en-US" sz="1400" dirty="0">
                <a:latin typeface="Segoe UI" panose="020B0502040204020203" pitchFamily="34" charset="0"/>
                <a:cs typeface="Segoe UI" panose="020B0502040204020203" pitchFamily="34" charset="0"/>
              </a:rPr>
              <a:t>only secure communication protocols like HTTPS</a:t>
            </a:r>
          </a:p>
          <a:p>
            <a:pPr marL="342900" indent="-342900">
              <a:buFontTx/>
              <a:buAutoNum type="arabicPeriod"/>
            </a:pPr>
            <a:r>
              <a:rPr lang="en-US" sz="1400" dirty="0">
                <a:latin typeface="Segoe UI" panose="020B0502040204020203" pitchFamily="34" charset="0"/>
                <a:cs typeface="Segoe UI" panose="020B0502040204020203" pitchFamily="34" charset="0"/>
              </a:rPr>
              <a:t>Encryption at rest shall be configured for all data stores.</a:t>
            </a:r>
          </a:p>
          <a:p>
            <a:pPr marL="342900" indent="-342900">
              <a:buFontTx/>
              <a:buAutoNum type="arabicPeriod"/>
            </a:pPr>
            <a:r>
              <a:rPr lang="fr-FR" sz="1400" dirty="0">
                <a:latin typeface="Segoe UI" panose="020B0502040204020203" pitchFamily="34" charset="0"/>
                <a:cs typeface="Segoe UI" panose="020B0502040204020203" pitchFamily="34" charset="0"/>
              </a:rPr>
              <a:t>AWS API Gateway </a:t>
            </a:r>
            <a:r>
              <a:rPr lang="fr-FR" sz="1400" dirty="0" err="1" smtClean="0">
                <a:latin typeface="Segoe UI" panose="020B0502040204020203" pitchFamily="34" charset="0"/>
                <a:cs typeface="Segoe UI" panose="020B0502040204020203" pitchFamily="34" charset="0"/>
              </a:rPr>
              <a:t>will</a:t>
            </a:r>
            <a:r>
              <a:rPr lang="fr-FR" sz="1400" dirty="0" smtClean="0">
                <a:latin typeface="Segoe UI" panose="020B0502040204020203" pitchFamily="34" charset="0"/>
                <a:cs typeface="Segoe UI" panose="020B0502040204020203" pitchFamily="34" charset="0"/>
              </a:rPr>
              <a:t> accept </a:t>
            </a:r>
            <a:r>
              <a:rPr lang="fr-FR" sz="1400" dirty="0">
                <a:latin typeface="Segoe UI" panose="020B0502040204020203" pitchFamily="34" charset="0"/>
                <a:cs typeface="Segoe UI" panose="020B0502040204020203" pitchFamily="34" charset="0"/>
              </a:rPr>
              <a:t>requests </a:t>
            </a:r>
            <a:r>
              <a:rPr lang="fr-FR" sz="1400" dirty="0" smtClean="0">
                <a:latin typeface="Segoe UI" panose="020B0502040204020203" pitchFamily="34" charset="0"/>
                <a:cs typeface="Segoe UI" panose="020B0502040204020203" pitchFamily="34" charset="0"/>
              </a:rPr>
              <a:t>only </a:t>
            </a:r>
            <a:r>
              <a:rPr lang="fr-FR" sz="1400" dirty="0" err="1" smtClean="0">
                <a:latin typeface="Segoe UI" panose="020B0502040204020203" pitchFamily="34" charset="0"/>
                <a:cs typeface="Segoe UI" panose="020B0502040204020203" pitchFamily="34" charset="0"/>
              </a:rPr>
              <a:t>from</a:t>
            </a:r>
            <a:r>
              <a:rPr lang="fr-FR" sz="1400" dirty="0" smtClean="0">
                <a:latin typeface="Segoe UI" panose="020B0502040204020203" pitchFamily="34" charset="0"/>
                <a:cs typeface="Segoe UI" panose="020B0502040204020203" pitchFamily="34" charset="0"/>
              </a:rPr>
              <a:t> </a:t>
            </a:r>
            <a:r>
              <a:rPr lang="fr-FR" sz="1400" dirty="0" err="1">
                <a:latin typeface="Segoe UI" panose="020B0502040204020203" pitchFamily="34" charset="0"/>
                <a:cs typeface="Segoe UI" panose="020B0502040204020203" pitchFamily="34" charset="0"/>
              </a:rPr>
              <a:t>Apigee</a:t>
            </a:r>
            <a:r>
              <a:rPr lang="fr-FR" sz="1400" dirty="0">
                <a:latin typeface="Segoe UI" panose="020B0502040204020203" pitchFamily="34" charset="0"/>
                <a:cs typeface="Segoe UI" panose="020B0502040204020203" pitchFamily="34" charset="0"/>
              </a:rPr>
              <a:t> (WAF white listing)</a:t>
            </a:r>
          </a:p>
          <a:p>
            <a:pPr marL="342900" indent="-342900">
              <a:buFontTx/>
              <a:buAutoNum type="arabicPeriod"/>
            </a:pPr>
            <a:r>
              <a:rPr lang="en-US" sz="1400" dirty="0">
                <a:latin typeface="Segoe UI" panose="020B0502040204020203" pitchFamily="34" charset="0"/>
                <a:cs typeface="Segoe UI" panose="020B0502040204020203" pitchFamily="34" charset="0"/>
              </a:rPr>
              <a:t>All public endpoints are protected against </a:t>
            </a:r>
            <a:r>
              <a:rPr lang="en-US" sz="1400" dirty="0" err="1">
                <a:latin typeface="Segoe UI" panose="020B0502040204020203" pitchFamily="34" charset="0"/>
                <a:cs typeface="Segoe UI" panose="020B0502040204020203" pitchFamily="34" charset="0"/>
              </a:rPr>
              <a:t>DoS</a:t>
            </a:r>
            <a:r>
              <a:rPr lang="en-US" sz="1400" dirty="0">
                <a:latin typeface="Segoe UI" panose="020B0502040204020203" pitchFamily="34" charset="0"/>
                <a:cs typeface="Segoe UI" panose="020B0502040204020203" pitchFamily="34" charset="0"/>
              </a:rPr>
              <a:t> and </a:t>
            </a:r>
            <a:r>
              <a:rPr lang="en-US" sz="1400" dirty="0" err="1">
                <a:latin typeface="Segoe UI" panose="020B0502040204020203" pitchFamily="34" charset="0"/>
                <a:cs typeface="Segoe UI" panose="020B0502040204020203" pitchFamily="34" charset="0"/>
              </a:rPr>
              <a:t>DDoS</a:t>
            </a:r>
            <a:r>
              <a:rPr lang="en-US" sz="1400" dirty="0">
                <a:latin typeface="Segoe UI" panose="020B0502040204020203" pitchFamily="34" charset="0"/>
                <a:cs typeface="Segoe UI" panose="020B0502040204020203" pitchFamily="34" charset="0"/>
              </a:rPr>
              <a:t> attacks with the help of AWS WAF.</a:t>
            </a:r>
          </a:p>
          <a:p>
            <a:endParaRPr lang="en-US" sz="1400" dirty="0" smtClean="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endParaRPr lang="en-US" sz="1400" dirty="0">
              <a:latin typeface="Segoe UI" panose="020B0502040204020203" pitchFamily="34" charset="0"/>
              <a:cs typeface="Segoe UI" panose="020B0502040204020203" pitchFamily="34" charset="0"/>
            </a:endParaRPr>
          </a:p>
          <a:p>
            <a:endParaRPr lang="en-IN" sz="14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24882923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914401" y="207187"/>
            <a:ext cx="8996484" cy="669925"/>
          </a:xfrm>
        </p:spPr>
        <p:txBody>
          <a:bodyPr/>
          <a:lstStyle/>
          <a:p>
            <a:r>
              <a:rPr lang="en-US" sz="2585" dirty="0">
                <a:latin typeface="NissanAG-Bold" pitchFamily="50" charset="0"/>
                <a:ea typeface="NissanAG-Bold" pitchFamily="50" charset="0"/>
                <a:cs typeface="Verdana" pitchFamily="34" charset="0"/>
                <a:sym typeface="Verdana" panose="020B0604030504040204" pitchFamily="34" charset="0"/>
              </a:rPr>
              <a:t>Authentication Flow between </a:t>
            </a:r>
            <a:r>
              <a:rPr lang="en-US" sz="2585" dirty="0" smtClean="0">
                <a:latin typeface="NissanAG-Bold" pitchFamily="50" charset="0"/>
                <a:ea typeface="NissanAG-Bold" pitchFamily="50" charset="0"/>
                <a:cs typeface="Verdana" pitchFamily="34" charset="0"/>
                <a:sym typeface="Verdana" panose="020B0604030504040204" pitchFamily="34" charset="0"/>
              </a:rPr>
              <a:t>YANA </a:t>
            </a:r>
            <a:r>
              <a:rPr lang="en-US" sz="2585" dirty="0">
                <a:latin typeface="NissanAG-Bold" pitchFamily="50" charset="0"/>
                <a:ea typeface="NissanAG-Bold" pitchFamily="50" charset="0"/>
                <a:cs typeface="Verdana" pitchFamily="34" charset="0"/>
                <a:sym typeface="Verdana" panose="020B0604030504040204" pitchFamily="34" charset="0"/>
              </a:rPr>
              <a:t>&amp; Apigee</a:t>
            </a:r>
            <a:endParaRPr lang="ja-JP" altLang="en-US" sz="2585" u="sng" dirty="0">
              <a:solidFill>
                <a:srgbClr val="FF0000"/>
              </a:solidFill>
              <a:latin typeface="NissanAG-Bold" pitchFamily="50" charset="0"/>
              <a:ea typeface="NissanAG-Bold" pitchFamily="50" charset="0"/>
              <a:cs typeface="Verdana" pitchFamily="34" charset="0"/>
            </a:endParaRPr>
          </a:p>
        </p:txBody>
      </p:sp>
      <p:sp>
        <p:nvSpPr>
          <p:cNvPr id="5" name="Rectangle 4"/>
          <p:cNvSpPr/>
          <p:nvPr/>
        </p:nvSpPr>
        <p:spPr>
          <a:xfrm>
            <a:off x="423334" y="877112"/>
            <a:ext cx="10972799" cy="400110"/>
          </a:xfrm>
          <a:prstGeom prst="rect">
            <a:avLst/>
          </a:prstGeom>
        </p:spPr>
        <p:txBody>
          <a:bodyPr wrap="square">
            <a:spAutoFit/>
          </a:bodyPr>
          <a:lstStyle/>
          <a:p>
            <a:pPr lvl="1" fontAlgn="base">
              <a:spcBef>
                <a:spcPct val="20000"/>
              </a:spcBef>
              <a:spcAft>
                <a:spcPct val="0"/>
              </a:spcAft>
              <a:buClr>
                <a:schemeClr val="tx1"/>
              </a:buClr>
            </a:pPr>
            <a:endParaRPr lang="en-US" altLang="ja-JP" dirty="0"/>
          </a:p>
        </p:txBody>
      </p:sp>
      <p:sp>
        <p:nvSpPr>
          <p:cNvPr id="40" name="TextBox 39"/>
          <p:cNvSpPr txBox="1"/>
          <p:nvPr/>
        </p:nvSpPr>
        <p:spPr>
          <a:xfrm>
            <a:off x="3741338" y="4208804"/>
            <a:ext cx="1235304" cy="400110"/>
          </a:xfrm>
          <a:prstGeom prst="rect">
            <a:avLst/>
          </a:prstGeom>
          <a:noFill/>
        </p:spPr>
        <p:txBody>
          <a:bodyPr wrap="square" rtlCol="0">
            <a:spAutoFit/>
          </a:bodyPr>
          <a:lstStyle/>
          <a:p>
            <a:pPr lvl="0">
              <a:defRPr/>
            </a:pPr>
            <a:r>
              <a:rPr lang="en-US" sz="1000" dirty="0">
                <a:solidFill>
                  <a:prstClr val="black"/>
                </a:solidFill>
              </a:rPr>
              <a:t>Request model master data</a:t>
            </a:r>
          </a:p>
        </p:txBody>
      </p:sp>
      <p:sp>
        <p:nvSpPr>
          <p:cNvPr id="42" name="Rectangle 41"/>
          <p:cNvSpPr/>
          <p:nvPr/>
        </p:nvSpPr>
        <p:spPr>
          <a:xfrm>
            <a:off x="1736504" y="1017871"/>
            <a:ext cx="943276" cy="44276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3072285" y="1017871"/>
            <a:ext cx="943276" cy="44276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ectangle 43"/>
          <p:cNvSpPr/>
          <p:nvPr/>
        </p:nvSpPr>
        <p:spPr>
          <a:xfrm>
            <a:off x="6578267" y="1017869"/>
            <a:ext cx="805094" cy="442762"/>
          </a:xfrm>
          <a:prstGeom prst="rect">
            <a:avLst/>
          </a:prstGeom>
          <a:solidFill>
            <a:schemeClr val="tx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prstClr val="white"/>
                </a:solidFill>
                <a:latin typeface="Calibri"/>
              </a:rPr>
              <a:t>NML AWS</a:t>
            </a:r>
            <a:endParaRPr kumimoji="1" lang="en-IN"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45" name="TextBox 44"/>
          <p:cNvSpPr txBox="1"/>
          <p:nvPr/>
        </p:nvSpPr>
        <p:spPr>
          <a:xfrm>
            <a:off x="1912869" y="1017871"/>
            <a:ext cx="649936"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latin typeface="Calibri"/>
                <a:ea typeface="+mn-ea"/>
              </a:rPr>
              <a:t>YANA DMS</a:t>
            </a:r>
            <a:endParaRPr kumimoji="1" lang="en-IN" sz="1200" b="0" i="0" u="none" strike="noStrike" kern="1200" cap="none" spc="0" normalizeH="0" baseline="0" noProof="0" dirty="0">
              <a:ln>
                <a:noFill/>
              </a:ln>
              <a:solidFill>
                <a:prstClr val="black"/>
              </a:solidFill>
              <a:effectLst/>
              <a:uLnTx/>
              <a:uFillTx/>
              <a:latin typeface="Calibri"/>
              <a:ea typeface="+mn-ea"/>
              <a:cs typeface="+mn-cs"/>
            </a:endParaRPr>
          </a:p>
        </p:txBody>
      </p:sp>
      <p:sp>
        <p:nvSpPr>
          <p:cNvPr id="46" name="TextBox 45"/>
          <p:cNvSpPr txBox="1"/>
          <p:nvPr/>
        </p:nvSpPr>
        <p:spPr>
          <a:xfrm>
            <a:off x="3072285" y="1100752"/>
            <a:ext cx="849616"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0" i="0" u="none" strike="noStrike" kern="1200" cap="none" spc="0" normalizeH="0" baseline="0" noProof="0" dirty="0">
                <a:ln>
                  <a:noFill/>
                </a:ln>
                <a:solidFill>
                  <a:prstClr val="black"/>
                </a:solidFill>
                <a:effectLst/>
                <a:uLnTx/>
                <a:uFillTx/>
                <a:latin typeface="Calibri"/>
                <a:ea typeface="+mn-ea"/>
                <a:cs typeface="+mn-cs"/>
              </a:rPr>
              <a:t>NE APIGEE</a:t>
            </a:r>
            <a:endParaRPr kumimoji="1" lang="en-IN" sz="12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47" name="Straight Connector 46"/>
          <p:cNvCxnSpPr/>
          <p:nvPr/>
        </p:nvCxnSpPr>
        <p:spPr>
          <a:xfrm>
            <a:off x="2406347" y="2114116"/>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p:nvPr/>
        </p:nvCxnSpPr>
        <p:spPr>
          <a:xfrm flipH="1" flipV="1">
            <a:off x="2127142" y="1460636"/>
            <a:ext cx="7934" cy="451995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49" name="Straight Connector 48"/>
          <p:cNvCxnSpPr/>
          <p:nvPr/>
        </p:nvCxnSpPr>
        <p:spPr>
          <a:xfrm flipH="1" flipV="1">
            <a:off x="3542761" y="1460634"/>
            <a:ext cx="6365" cy="4519959"/>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50" name="Straight Connector 49"/>
          <p:cNvCxnSpPr/>
          <p:nvPr/>
        </p:nvCxnSpPr>
        <p:spPr>
          <a:xfrm flipH="1" flipV="1">
            <a:off x="6979652" y="1460631"/>
            <a:ext cx="12582" cy="438540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1" name="Rounded Rectangle 50"/>
          <p:cNvSpPr/>
          <p:nvPr/>
        </p:nvSpPr>
        <p:spPr>
          <a:xfrm>
            <a:off x="1969738" y="1895919"/>
            <a:ext cx="292364" cy="88959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52" name="Rounded Rectangle 51"/>
          <p:cNvSpPr/>
          <p:nvPr/>
        </p:nvSpPr>
        <p:spPr>
          <a:xfrm>
            <a:off x="3405860" y="1966354"/>
            <a:ext cx="272616" cy="710493"/>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 name="Straight Arrow Connector 52"/>
          <p:cNvCxnSpPr/>
          <p:nvPr/>
        </p:nvCxnSpPr>
        <p:spPr>
          <a:xfrm>
            <a:off x="2280266" y="2063686"/>
            <a:ext cx="1109371"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4" name="Straight Arrow Connector 53"/>
          <p:cNvCxnSpPr/>
          <p:nvPr/>
        </p:nvCxnSpPr>
        <p:spPr>
          <a:xfrm flipV="1">
            <a:off x="2328970" y="3736803"/>
            <a:ext cx="1054862" cy="3538"/>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5" name="Straight Arrow Connector 54"/>
          <p:cNvCxnSpPr/>
          <p:nvPr/>
        </p:nvCxnSpPr>
        <p:spPr>
          <a:xfrm flipH="1" flipV="1">
            <a:off x="2297527" y="5621806"/>
            <a:ext cx="1158705" cy="168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2353965" y="1857500"/>
            <a:ext cx="999872" cy="400110"/>
          </a:xfrm>
          <a:prstGeom prst="rect">
            <a:avLst/>
          </a:prstGeom>
          <a:noFill/>
        </p:spPr>
        <p:txBody>
          <a:bodyPr wrap="square" rtlCol="0">
            <a:spAutoFit/>
          </a:bodyPr>
          <a:lstStyle/>
          <a:p>
            <a:pPr lvl="0">
              <a:defRPr/>
            </a:pPr>
            <a:r>
              <a:rPr lang="en-US" sz="1000" dirty="0">
                <a:solidFill>
                  <a:prstClr val="black"/>
                </a:solidFill>
              </a:rPr>
              <a:t>Apigee</a:t>
            </a:r>
          </a:p>
          <a:p>
            <a:pPr lvl="0">
              <a:defRPr/>
            </a:pPr>
            <a:r>
              <a:rPr lang="en-US" sz="1000" dirty="0">
                <a:solidFill>
                  <a:prstClr val="black"/>
                </a:solidFill>
              </a:rPr>
              <a:t>Credentials</a:t>
            </a:r>
            <a:endParaRPr lang="en-IN" sz="1000" dirty="0">
              <a:solidFill>
                <a:prstClr val="black"/>
              </a:solidFill>
            </a:endParaRPr>
          </a:p>
        </p:txBody>
      </p:sp>
      <p:sp>
        <p:nvSpPr>
          <p:cNvPr id="57" name="TextBox 56"/>
          <p:cNvSpPr txBox="1"/>
          <p:nvPr/>
        </p:nvSpPr>
        <p:spPr>
          <a:xfrm>
            <a:off x="4172461" y="3651329"/>
            <a:ext cx="221859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Validate </a:t>
            </a:r>
            <a:r>
              <a:rPr kumimoji="1" lang="en-US" sz="1000" b="0" i="0" u="none" strike="noStrike" kern="1200" cap="none" spc="0" normalizeH="0" baseline="0" noProof="0" dirty="0" err="1">
                <a:ln>
                  <a:noFill/>
                </a:ln>
                <a:solidFill>
                  <a:prstClr val="black"/>
                </a:solidFill>
                <a:effectLst/>
                <a:uLnTx/>
                <a:uFillTx/>
                <a:latin typeface="Calibri"/>
                <a:ea typeface="+mn-ea"/>
                <a:cs typeface="+mn-cs"/>
              </a:rPr>
              <a:t>Tokenc</a:t>
            </a:r>
            <a:endParaRPr kumimoji="1" lang="en-IN"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58" name="Straight Arrow Connector 57"/>
          <p:cNvCxnSpPr/>
          <p:nvPr/>
        </p:nvCxnSpPr>
        <p:spPr>
          <a:xfrm flipH="1" flipV="1">
            <a:off x="2255660" y="2577922"/>
            <a:ext cx="1140342" cy="1226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2311341" y="2559620"/>
            <a:ext cx="106020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Token</a:t>
            </a:r>
          </a:p>
        </p:txBody>
      </p:sp>
      <p:sp>
        <p:nvSpPr>
          <p:cNvPr id="60" name="TextBox 59"/>
          <p:cNvSpPr txBox="1"/>
          <p:nvPr/>
        </p:nvSpPr>
        <p:spPr>
          <a:xfrm>
            <a:off x="2519124" y="5096611"/>
            <a:ext cx="99987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Return model master</a:t>
            </a:r>
            <a:endParaRPr kumimoji="1" lang="en-IN" sz="1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1" name="TextBox 60"/>
          <p:cNvSpPr txBox="1"/>
          <p:nvPr/>
        </p:nvSpPr>
        <p:spPr>
          <a:xfrm>
            <a:off x="2369114" y="3387081"/>
            <a:ext cx="1151514" cy="55399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Request parts order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+Token</a:t>
            </a:r>
            <a:endParaRPr kumimoji="1" lang="en-IN" sz="1000" b="0" i="0" u="none" strike="noStrike" kern="1200" cap="none" spc="0" normalizeH="0" baseline="0" noProof="0" dirty="0">
              <a:ln>
                <a:noFill/>
              </a:ln>
              <a:solidFill>
                <a:prstClr val="black"/>
              </a:solidFill>
              <a:effectLst/>
              <a:uLnTx/>
              <a:uFillTx/>
              <a:latin typeface="Calibri"/>
              <a:ea typeface="+mn-ea"/>
              <a:cs typeface="+mn-cs"/>
            </a:endParaRPr>
          </a:p>
        </p:txBody>
      </p:sp>
      <p:sp>
        <p:nvSpPr>
          <p:cNvPr id="62" name="Rounded Rectangle 61"/>
          <p:cNvSpPr/>
          <p:nvPr/>
        </p:nvSpPr>
        <p:spPr>
          <a:xfrm>
            <a:off x="6850186" y="4151023"/>
            <a:ext cx="313033" cy="144785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Oval 62"/>
          <p:cNvSpPr/>
          <p:nvPr/>
        </p:nvSpPr>
        <p:spPr>
          <a:xfrm>
            <a:off x="6909791" y="5974071"/>
            <a:ext cx="139719" cy="16195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4" name="Rounded Rectangle 63"/>
          <p:cNvSpPr/>
          <p:nvPr/>
        </p:nvSpPr>
        <p:spPr>
          <a:xfrm>
            <a:off x="2022507" y="1621521"/>
            <a:ext cx="5371692" cy="195247"/>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65" name="TextBox 64"/>
          <p:cNvSpPr txBox="1"/>
          <p:nvPr/>
        </p:nvSpPr>
        <p:spPr>
          <a:xfrm>
            <a:off x="3982107" y="1599619"/>
            <a:ext cx="2027233" cy="2833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1" i="0" u="none" strike="noStrike" kern="1200" cap="none" spc="0" normalizeH="0" baseline="0" noProof="0" dirty="0">
                <a:ln>
                  <a:noFill/>
                </a:ln>
                <a:solidFill>
                  <a:srgbClr val="F79646">
                    <a:lumMod val="75000"/>
                  </a:srgbClr>
                </a:solidFill>
                <a:effectLst/>
                <a:uLnTx/>
                <a:uFillTx/>
                <a:latin typeface="Calibri"/>
                <a:ea typeface="+mn-ea"/>
                <a:cs typeface="+mn-cs"/>
              </a:rPr>
              <a:t>Authentication Flow</a:t>
            </a:r>
            <a:endParaRPr kumimoji="1" lang="en-IN" sz="12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66" name="Rounded Rectangle 65"/>
          <p:cNvSpPr/>
          <p:nvPr/>
        </p:nvSpPr>
        <p:spPr>
          <a:xfrm>
            <a:off x="1977962" y="3420401"/>
            <a:ext cx="325707" cy="248961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Rounded Rectangle 66"/>
          <p:cNvSpPr/>
          <p:nvPr/>
        </p:nvSpPr>
        <p:spPr>
          <a:xfrm>
            <a:off x="2022508" y="2901620"/>
            <a:ext cx="5360853" cy="301011"/>
          </a:xfrm>
          <a:prstGeom prst="roundRect">
            <a:avLst/>
          </a:prstGeom>
          <a:ln/>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sysClr val="windowText" lastClr="000000"/>
              </a:solidFill>
              <a:effectLst/>
              <a:uLnTx/>
              <a:uFillTx/>
              <a:latin typeface="Calibri"/>
              <a:ea typeface="+mn-ea"/>
              <a:cs typeface="+mn-cs"/>
            </a:endParaRPr>
          </a:p>
        </p:txBody>
      </p:sp>
      <p:sp>
        <p:nvSpPr>
          <p:cNvPr id="68" name="Rounded Rectangle 67"/>
          <p:cNvSpPr/>
          <p:nvPr/>
        </p:nvSpPr>
        <p:spPr>
          <a:xfrm>
            <a:off x="3383832" y="3513839"/>
            <a:ext cx="274484" cy="2332199"/>
          </a:xfrm>
          <a:prstGeom prst="round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Oval 68"/>
          <p:cNvSpPr/>
          <p:nvPr/>
        </p:nvSpPr>
        <p:spPr>
          <a:xfrm>
            <a:off x="2083188" y="5997154"/>
            <a:ext cx="139719" cy="16195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sp>
        <p:nvSpPr>
          <p:cNvPr id="70" name="Oval 69"/>
          <p:cNvSpPr/>
          <p:nvPr/>
        </p:nvSpPr>
        <p:spPr>
          <a:xfrm>
            <a:off x="3492563" y="6023417"/>
            <a:ext cx="139719" cy="161954"/>
          </a:xfrm>
          <a:prstGeom prst="ellipse">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IN"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1" name="Straight Arrow Connector 70"/>
          <p:cNvCxnSpPr/>
          <p:nvPr/>
        </p:nvCxnSpPr>
        <p:spPr>
          <a:xfrm flipH="1" flipV="1">
            <a:off x="3655583" y="5440278"/>
            <a:ext cx="3214879" cy="156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3838840" y="4988329"/>
            <a:ext cx="999872"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b="0" i="0" u="none" strike="noStrike" kern="1200" cap="none" spc="0" normalizeH="0" baseline="0" noProof="0" dirty="0">
                <a:ln>
                  <a:noFill/>
                </a:ln>
                <a:solidFill>
                  <a:prstClr val="black"/>
                </a:solidFill>
                <a:effectLst/>
                <a:uLnTx/>
                <a:uFillTx/>
                <a:latin typeface="Calibri"/>
                <a:ea typeface="+mn-ea"/>
                <a:cs typeface="+mn-cs"/>
              </a:rPr>
              <a:t>Return</a:t>
            </a:r>
            <a:r>
              <a:rPr kumimoji="1" lang="en-US" sz="1000" b="0" i="0" u="none" strike="noStrike" kern="1200" cap="none" spc="0" normalizeH="0" noProof="0" dirty="0">
                <a:ln>
                  <a:noFill/>
                </a:ln>
                <a:solidFill>
                  <a:prstClr val="black"/>
                </a:solidFill>
                <a:effectLst/>
                <a:uLnTx/>
                <a:uFillTx/>
                <a:latin typeface="Calibri"/>
                <a:ea typeface="+mn-ea"/>
                <a:cs typeface="+mn-cs"/>
              </a:rPr>
              <a:t> model master</a:t>
            </a:r>
            <a:endParaRPr kumimoji="1" lang="en-IN" sz="1000" b="0" i="0" u="none" strike="noStrike" kern="1200" cap="none" spc="0" normalizeH="0" baseline="0" noProof="0" dirty="0">
              <a:ln>
                <a:noFill/>
              </a:ln>
              <a:solidFill>
                <a:prstClr val="black"/>
              </a:solidFill>
              <a:effectLst/>
              <a:uLnTx/>
              <a:uFillTx/>
              <a:latin typeface="Calibri"/>
              <a:ea typeface="+mn-ea"/>
              <a:cs typeface="+mn-cs"/>
            </a:endParaRPr>
          </a:p>
        </p:txBody>
      </p:sp>
      <p:cxnSp>
        <p:nvCxnSpPr>
          <p:cNvPr id="73" name="Straight Arrow Connector 72"/>
          <p:cNvCxnSpPr/>
          <p:nvPr/>
        </p:nvCxnSpPr>
        <p:spPr>
          <a:xfrm>
            <a:off x="3660400" y="4407201"/>
            <a:ext cx="318978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4180373" y="2932216"/>
            <a:ext cx="2027233" cy="28331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200" b="1" i="0" u="none" strike="noStrike" kern="1200" cap="none" spc="0" normalizeH="0" baseline="0" noProof="0" dirty="0">
                <a:ln>
                  <a:noFill/>
                </a:ln>
                <a:solidFill>
                  <a:srgbClr val="F79646">
                    <a:lumMod val="75000"/>
                  </a:srgbClr>
                </a:solidFill>
                <a:effectLst/>
                <a:uLnTx/>
                <a:uFillTx/>
                <a:latin typeface="Calibri"/>
                <a:ea typeface="+mn-ea"/>
                <a:cs typeface="+mn-cs"/>
              </a:rPr>
              <a:t>Vehicle Model Master Flow</a:t>
            </a:r>
            <a:endParaRPr kumimoji="1" lang="en-IN" sz="1200" b="1" i="0" u="none" strike="noStrike" kern="1200" cap="none" spc="0" normalizeH="0" baseline="0" noProof="0" dirty="0">
              <a:ln>
                <a:noFill/>
              </a:ln>
              <a:solidFill>
                <a:srgbClr val="F79646">
                  <a:lumMod val="75000"/>
                </a:srgbClr>
              </a:solidFill>
              <a:effectLst/>
              <a:uLnTx/>
              <a:uFillTx/>
              <a:latin typeface="Calibri"/>
              <a:ea typeface="+mn-ea"/>
              <a:cs typeface="+mn-cs"/>
            </a:endParaRPr>
          </a:p>
        </p:txBody>
      </p:sp>
      <p:sp>
        <p:nvSpPr>
          <p:cNvPr id="75" name="Flèche courbée vers la gauche 12"/>
          <p:cNvSpPr/>
          <p:nvPr/>
        </p:nvSpPr>
        <p:spPr>
          <a:xfrm>
            <a:off x="3741338" y="3567026"/>
            <a:ext cx="396385" cy="527941"/>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4817672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b="1" dirty="0"/>
              <a:t>Data Classification</a:t>
            </a:r>
            <a:endParaRPr lang="en-IN" sz="2585" dirty="0">
              <a:latin typeface="NissanAG-Bold" pitchFamily="50" charset="0"/>
              <a:ea typeface="NissanAG-Bold" pitchFamily="50" charset="0"/>
              <a:cs typeface="Verdana" pitchFamily="34" charset="0"/>
              <a:sym typeface="Verdana" panose="020B0604030504040204"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118004826"/>
              </p:ext>
            </p:extLst>
          </p:nvPr>
        </p:nvGraphicFramePr>
        <p:xfrm>
          <a:off x="599770" y="1268362"/>
          <a:ext cx="11080953" cy="5321854"/>
        </p:xfrm>
        <a:graphic>
          <a:graphicData uri="http://schemas.openxmlformats.org/drawingml/2006/table">
            <a:tbl>
              <a:tblPr firstRow="1" bandRow="1">
                <a:tableStyleId>{5C22544A-7EE6-4342-B048-85BDC9FD1C3A}</a:tableStyleId>
              </a:tblPr>
              <a:tblGrid>
                <a:gridCol w="2270016">
                  <a:extLst>
                    <a:ext uri="{9D8B030D-6E8A-4147-A177-3AD203B41FA5}">
                      <a16:colId xmlns:a16="http://schemas.microsoft.com/office/drawing/2014/main" val="170970035"/>
                    </a:ext>
                  </a:extLst>
                </a:gridCol>
                <a:gridCol w="2157780">
                  <a:extLst>
                    <a:ext uri="{9D8B030D-6E8A-4147-A177-3AD203B41FA5}">
                      <a16:colId xmlns:a16="http://schemas.microsoft.com/office/drawing/2014/main" val="69431112"/>
                    </a:ext>
                  </a:extLst>
                </a:gridCol>
                <a:gridCol w="3056856">
                  <a:extLst>
                    <a:ext uri="{9D8B030D-6E8A-4147-A177-3AD203B41FA5}">
                      <a16:colId xmlns:a16="http://schemas.microsoft.com/office/drawing/2014/main" val="2212264482"/>
                    </a:ext>
                  </a:extLst>
                </a:gridCol>
                <a:gridCol w="3596301">
                  <a:extLst>
                    <a:ext uri="{9D8B030D-6E8A-4147-A177-3AD203B41FA5}">
                      <a16:colId xmlns:a16="http://schemas.microsoft.com/office/drawing/2014/main" val="372099441"/>
                    </a:ext>
                  </a:extLst>
                </a:gridCol>
              </a:tblGrid>
              <a:tr h="374494">
                <a:tc>
                  <a:txBody>
                    <a:bodyPr/>
                    <a:lstStyle/>
                    <a:p>
                      <a:endParaRPr lang="en-GB" sz="1600" dirty="0">
                        <a:latin typeface="+mj-lt"/>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dirty="0">
                          <a:solidFill>
                            <a:schemeClr val="bg1"/>
                          </a:solidFill>
                          <a:latin typeface="+mj-lt"/>
                          <a:ea typeface="+mn-ea"/>
                          <a:cs typeface="+mn-cs"/>
                        </a:rPr>
                        <a:t>Scope of Users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mj-lt"/>
                          <a:ea typeface="+mn-ea"/>
                          <a:cs typeface="+mn-cs"/>
                        </a:rPr>
                        <a:t>Impact when disclosed</a:t>
                      </a:r>
                      <a:endParaRPr lang="en-US" sz="1200" b="1" dirty="0">
                        <a:solidFill>
                          <a:schemeClr val="bg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tc>
                  <a:txBody>
                    <a:bodyPr/>
                    <a:lstStyle/>
                    <a:p>
                      <a:pPr algn="ctr"/>
                      <a:r>
                        <a:rPr lang="en-US" sz="1200" b="1" dirty="0">
                          <a:solidFill>
                            <a:schemeClr val="bg1"/>
                          </a:solidFill>
                          <a:latin typeface="+mj-lt"/>
                          <a:ea typeface="+mn-ea"/>
                          <a:cs typeface="+mn-cs"/>
                        </a:rPr>
                        <a:t>Example</a:t>
                      </a:r>
                      <a:endParaRPr lang="en-GB" sz="1200" b="1" dirty="0">
                        <a:solidFill>
                          <a:schemeClr val="bg1"/>
                        </a:solidFill>
                        <a:latin typeface="+mj-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extLst>
                  <a:ext uri="{0D108BD9-81ED-4DB2-BD59-A6C34878D82A}">
                    <a16:rowId xmlns:a16="http://schemas.microsoft.com/office/drawing/2014/main" val="2060177037"/>
                  </a:ext>
                </a:extLst>
              </a:tr>
              <a:tr h="1293707">
                <a:tc>
                  <a:txBody>
                    <a:bodyPr/>
                    <a:lstStyle/>
                    <a:p>
                      <a:endParaRPr lang="en-GB" sz="16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305497"/>
                    </a:solidFill>
                  </a:tcPr>
                </a:tc>
                <a:tc>
                  <a:txBody>
                    <a:bodyPr/>
                    <a:lstStyle/>
                    <a:p>
                      <a:r>
                        <a:rPr lang="en-US" sz="1000" b="0" kern="1200" dirty="0">
                          <a:solidFill>
                            <a:srgbClr val="666666"/>
                          </a:solidFill>
                          <a:latin typeface="+mj-lt"/>
                          <a:ea typeface="+mn-ea"/>
                          <a:cs typeface="+mn-cs"/>
                        </a:rPr>
                        <a:t>Access restricted to a small number of authorized persons</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r>
                        <a:rPr lang="en-US" sz="1000" b="0" kern="1200" dirty="0">
                          <a:solidFill>
                            <a:srgbClr val="666666"/>
                          </a:solidFill>
                          <a:latin typeface="+mj-lt"/>
                          <a:ea typeface="+mn-ea"/>
                          <a:cs typeface="+mn-cs"/>
                        </a:rPr>
                        <a:t>Risk of major loss or crisis, which may affect the financial result, the share value, the competitiveness or the legal liability</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marL="171450" indent="-171450">
                        <a:buFont typeface="Arial" panose="020B0604020202020204" pitchFamily="34" charset="0"/>
                        <a:buChar char="•"/>
                      </a:pPr>
                      <a:r>
                        <a:rPr lang="en-US" sz="1000" b="0" kern="1200" dirty="0">
                          <a:solidFill>
                            <a:srgbClr val="666666"/>
                          </a:solidFill>
                          <a:latin typeface="+mj-lt"/>
                          <a:ea typeface="+mn-ea"/>
                          <a:cs typeface="+mn-cs"/>
                        </a:rPr>
                        <a:t>Strategic decisions of the Executive Committee</a:t>
                      </a:r>
                    </a:p>
                    <a:p>
                      <a:pPr marL="171450" indent="-171450">
                        <a:buFont typeface="Arial" panose="020B0604020202020204" pitchFamily="34" charset="0"/>
                        <a:buChar char="•"/>
                      </a:pPr>
                      <a:r>
                        <a:rPr lang="en-US" sz="1000" b="0" kern="1200" dirty="0">
                          <a:solidFill>
                            <a:srgbClr val="666666"/>
                          </a:solidFill>
                          <a:latin typeface="+mj-lt"/>
                          <a:ea typeface="+mn-ea"/>
                          <a:cs typeface="+mn-cs"/>
                        </a:rPr>
                        <a:t>Financial information liable to insider dealing</a:t>
                      </a:r>
                    </a:p>
                    <a:p>
                      <a:pPr marL="171450" indent="-171450">
                        <a:buFont typeface="Arial" panose="020B0604020202020204" pitchFamily="34" charset="0"/>
                        <a:buChar char="•"/>
                      </a:pPr>
                      <a:r>
                        <a:rPr lang="en-US" sz="1000" b="0" kern="1200" dirty="0">
                          <a:solidFill>
                            <a:srgbClr val="666666"/>
                          </a:solidFill>
                          <a:latin typeface="+mj-lt"/>
                          <a:ea typeface="+mn-ea"/>
                          <a:cs typeface="+mn-cs"/>
                        </a:rPr>
                        <a:t>Information regarding establishment of a new company, alliance, etc. prior to announcement</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extLst>
                  <a:ext uri="{0D108BD9-81ED-4DB2-BD59-A6C34878D82A}">
                    <a16:rowId xmlns:a16="http://schemas.microsoft.com/office/drawing/2014/main" val="3591025740"/>
                  </a:ext>
                </a:extLst>
              </a:tr>
              <a:tr h="1293707">
                <a:tc>
                  <a:txBody>
                    <a:bodyPr/>
                    <a:lstStyle/>
                    <a:p>
                      <a:endParaRPr lang="en-GB" sz="16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tc>
                  <a:txBody>
                    <a:bodyPr/>
                    <a:lstStyle/>
                    <a:p>
                      <a:r>
                        <a:rPr lang="en-US" sz="1000" b="0" kern="1200" dirty="0">
                          <a:solidFill>
                            <a:srgbClr val="666666"/>
                          </a:solidFill>
                          <a:latin typeface="+mj-lt"/>
                          <a:ea typeface="+mn-ea"/>
                          <a:cs typeface="+mn-cs"/>
                        </a:rPr>
                        <a:t>Access restricted to named individuals who require use of the information</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tc>
                  <a:txBody>
                    <a:bodyPr/>
                    <a:lstStyle/>
                    <a:p>
                      <a:r>
                        <a:rPr lang="en-US" sz="1000" b="0" kern="1200" dirty="0">
                          <a:solidFill>
                            <a:srgbClr val="666666"/>
                          </a:solidFill>
                          <a:latin typeface="+mj-lt"/>
                          <a:ea typeface="+mn-ea"/>
                          <a:cs typeface="+mn-cs"/>
                        </a:rPr>
                        <a:t>Risk of significant loss for the company, due to commercial disadvantage or image crisis</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tc>
                  <a:txBody>
                    <a:bodyPr/>
                    <a:lstStyle/>
                    <a:p>
                      <a:pPr marL="171450" indent="-171450">
                        <a:buFont typeface="Arial" panose="020B0604020202020204" pitchFamily="34" charset="0"/>
                        <a:buChar char="•"/>
                      </a:pPr>
                      <a:r>
                        <a:rPr lang="en-US" sz="1000" b="0" kern="1200" dirty="0">
                          <a:solidFill>
                            <a:srgbClr val="666666"/>
                          </a:solidFill>
                          <a:latin typeface="+mj-lt"/>
                          <a:ea typeface="+mn-ea"/>
                          <a:cs typeface="+mn-cs"/>
                        </a:rPr>
                        <a:t>Full picture of automotive projects</a:t>
                      </a:r>
                    </a:p>
                    <a:p>
                      <a:pPr marL="171450" indent="-171450">
                        <a:buFont typeface="Arial" panose="020B0604020202020204" pitchFamily="34" charset="0"/>
                        <a:buChar char="•"/>
                      </a:pPr>
                      <a:r>
                        <a:rPr lang="en-US" sz="1000" b="0" kern="1200" dirty="0">
                          <a:solidFill>
                            <a:srgbClr val="666666"/>
                          </a:solidFill>
                          <a:latin typeface="+mj-lt"/>
                          <a:ea typeface="+mn-ea"/>
                          <a:cs typeface="+mn-cs"/>
                        </a:rPr>
                        <a:t>Advanced technological innovation</a:t>
                      </a:r>
                    </a:p>
                    <a:p>
                      <a:pPr marL="171450" indent="-171450">
                        <a:buFont typeface="Arial" panose="020B0604020202020204" pitchFamily="34" charset="0"/>
                        <a:buChar char="•"/>
                      </a:pPr>
                      <a:r>
                        <a:rPr lang="en-US" sz="1000" b="0" kern="1200" dirty="0">
                          <a:solidFill>
                            <a:srgbClr val="666666"/>
                          </a:solidFill>
                          <a:latin typeface="+mj-lt"/>
                          <a:ea typeface="+mn-ea"/>
                          <a:cs typeface="+mn-cs"/>
                        </a:rPr>
                        <a:t>Information which bears major competitive advantage</a:t>
                      </a:r>
                    </a:p>
                    <a:p>
                      <a:pPr marL="171450" indent="-171450">
                        <a:buFont typeface="Arial" panose="020B0604020202020204" pitchFamily="34" charset="0"/>
                        <a:buChar char="•"/>
                      </a:pPr>
                      <a:r>
                        <a:rPr lang="en-US" sz="1000" b="0" kern="1200" dirty="0">
                          <a:solidFill>
                            <a:srgbClr val="666666"/>
                          </a:solidFill>
                          <a:latin typeface="+mj-lt"/>
                          <a:ea typeface="+mn-ea"/>
                          <a:cs typeface="+mn-cs"/>
                        </a:rPr>
                        <a:t>Important commercial negotiations (i.e. with suppliers)</a:t>
                      </a:r>
                    </a:p>
                    <a:p>
                      <a:pPr marL="171450" indent="-171450">
                        <a:buFont typeface="Arial" panose="020B0604020202020204" pitchFamily="34" charset="0"/>
                        <a:buChar char="•"/>
                      </a:pPr>
                      <a:r>
                        <a:rPr lang="en-US" sz="1000" b="0" kern="1200" dirty="0">
                          <a:solidFill>
                            <a:srgbClr val="666666"/>
                          </a:solidFill>
                          <a:latin typeface="+mj-lt"/>
                          <a:ea typeface="+mn-ea"/>
                          <a:cs typeface="+mn-cs"/>
                        </a:rPr>
                        <a:t>Mass customer database</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extLst>
                  <a:ext uri="{0D108BD9-81ED-4DB2-BD59-A6C34878D82A}">
                    <a16:rowId xmlns:a16="http://schemas.microsoft.com/office/drawing/2014/main" val="4027529764"/>
                  </a:ext>
                </a:extLst>
              </a:tr>
              <a:tr h="1463932">
                <a:tc>
                  <a:txBody>
                    <a:bodyPr/>
                    <a:lstStyle/>
                    <a:p>
                      <a:endParaRPr lang="en-GB" sz="16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tc>
                  <a:txBody>
                    <a:bodyPr/>
                    <a:lstStyle/>
                    <a:p>
                      <a:r>
                        <a:rPr lang="en-US" sz="1000" b="0" kern="1200" dirty="0">
                          <a:solidFill>
                            <a:srgbClr val="666666"/>
                          </a:solidFill>
                          <a:latin typeface="+mj-lt"/>
                          <a:ea typeface="+mn-ea"/>
                          <a:cs typeface="+mn-cs"/>
                        </a:rPr>
                        <a:t>Access restricted to a limited group (e.g.</a:t>
                      </a:r>
                      <a:r>
                        <a:rPr lang="en-US" sz="1000" b="0" kern="1200" baseline="0" dirty="0">
                          <a:solidFill>
                            <a:srgbClr val="666666"/>
                          </a:solidFill>
                          <a:latin typeface="+mj-lt"/>
                          <a:ea typeface="+mn-ea"/>
                          <a:cs typeface="+mn-cs"/>
                        </a:rPr>
                        <a:t> </a:t>
                      </a:r>
                      <a:r>
                        <a:rPr lang="en-US" sz="1000" b="0" kern="1200" dirty="0">
                          <a:solidFill>
                            <a:srgbClr val="666666"/>
                          </a:solidFill>
                          <a:latin typeface="+mj-lt"/>
                          <a:ea typeface="+mn-ea"/>
                          <a:cs typeface="+mn-cs"/>
                        </a:rPr>
                        <a:t>department, functional area, project)</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r>
                        <a:rPr lang="en-US" sz="1000" b="0" kern="1200" dirty="0">
                          <a:solidFill>
                            <a:srgbClr val="666666"/>
                          </a:solidFill>
                          <a:latin typeface="+mj-lt"/>
                          <a:ea typeface="+mn-ea"/>
                          <a:cs typeface="+mn-cs"/>
                        </a:rPr>
                        <a:t>Risk of real loss, disadvantage, confusion to the company</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tc>
                  <a:txBody>
                    <a:bodyPr/>
                    <a:lstStyle/>
                    <a:p>
                      <a:pPr marL="171450" indent="-171450">
                        <a:buFont typeface="Arial" panose="020B0604020202020204" pitchFamily="34" charset="0"/>
                        <a:buChar char="•"/>
                      </a:pPr>
                      <a:r>
                        <a:rPr lang="en-US" sz="1000" b="0" kern="1200" dirty="0">
                          <a:solidFill>
                            <a:srgbClr val="666666"/>
                          </a:solidFill>
                          <a:latin typeface="+mj-lt"/>
                          <a:ea typeface="+mn-ea"/>
                          <a:cs typeface="+mn-cs"/>
                        </a:rPr>
                        <a:t>Partial information on automotive projects</a:t>
                      </a:r>
                    </a:p>
                    <a:p>
                      <a:pPr marL="171450" indent="-171450">
                        <a:buFont typeface="Arial" panose="020B0604020202020204" pitchFamily="34" charset="0"/>
                        <a:buChar char="•"/>
                      </a:pPr>
                      <a:r>
                        <a:rPr lang="en-US" sz="1000" b="0" kern="1200" dirty="0">
                          <a:solidFill>
                            <a:srgbClr val="666666"/>
                          </a:solidFill>
                          <a:latin typeface="+mj-lt"/>
                          <a:ea typeface="+mn-ea"/>
                          <a:cs typeface="+mn-cs"/>
                        </a:rPr>
                        <a:t>Forecasting short term commercial operations</a:t>
                      </a:r>
                    </a:p>
                    <a:p>
                      <a:pPr marL="171450" indent="-171450">
                        <a:buFont typeface="Arial" panose="020B0604020202020204" pitchFamily="34" charset="0"/>
                        <a:buChar char="•"/>
                      </a:pPr>
                      <a:r>
                        <a:rPr lang="en-US" sz="1000" b="0" kern="1200" dirty="0">
                          <a:solidFill>
                            <a:srgbClr val="666666"/>
                          </a:solidFill>
                          <a:latin typeface="+mj-lt"/>
                          <a:ea typeface="+mn-ea"/>
                          <a:cs typeface="+mn-cs"/>
                        </a:rPr>
                        <a:t>Operational department guidelines</a:t>
                      </a:r>
                    </a:p>
                    <a:p>
                      <a:pPr marL="171450" indent="-171450">
                        <a:buFont typeface="Arial" panose="020B0604020202020204" pitchFamily="34" charset="0"/>
                        <a:buChar char="•"/>
                      </a:pPr>
                      <a:r>
                        <a:rPr kumimoji="1" lang="en-US" sz="1000" b="0" kern="1200" dirty="0">
                          <a:solidFill>
                            <a:srgbClr val="666666"/>
                          </a:solidFill>
                          <a:latin typeface="+mj-lt"/>
                          <a:ea typeface="+mn-ea"/>
                          <a:cs typeface="+mn-cs"/>
                        </a:rPr>
                        <a:t>Day to day commercial transactions/negotiations</a:t>
                      </a:r>
                    </a:p>
                    <a:p>
                      <a:pPr marL="171450" indent="-171450">
                        <a:buFont typeface="Arial" panose="020B0604020202020204" pitchFamily="34" charset="0"/>
                        <a:buChar char="•"/>
                      </a:pPr>
                      <a:r>
                        <a:rPr lang="en-US" sz="1000" b="0" kern="1200" dirty="0">
                          <a:solidFill>
                            <a:srgbClr val="666666"/>
                          </a:solidFill>
                          <a:latin typeface="+mj-lt"/>
                          <a:ea typeface="+mn-ea"/>
                          <a:cs typeface="+mn-cs"/>
                        </a:rPr>
                        <a:t>Limited personal data</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0D0D0"/>
                    </a:solidFill>
                  </a:tcPr>
                </a:tc>
                <a:extLst>
                  <a:ext uri="{0D108BD9-81ED-4DB2-BD59-A6C34878D82A}">
                    <a16:rowId xmlns:a16="http://schemas.microsoft.com/office/drawing/2014/main" val="1733733562"/>
                  </a:ext>
                </a:extLst>
              </a:tr>
              <a:tr h="896014">
                <a:tc>
                  <a:txBody>
                    <a:bodyPr/>
                    <a:lstStyle/>
                    <a:p>
                      <a:endParaRPr lang="en-GB" sz="1600" dirty="0">
                        <a:latin typeface="+mj-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05497"/>
                    </a:solidFill>
                  </a:tcPr>
                </a:tc>
                <a:tc>
                  <a:txBody>
                    <a:bodyPr/>
                    <a:lstStyle/>
                    <a:p>
                      <a:r>
                        <a:rPr lang="en-US" sz="1000" b="0" kern="1200" dirty="0">
                          <a:solidFill>
                            <a:srgbClr val="666666"/>
                          </a:solidFill>
                          <a:latin typeface="+mj-lt"/>
                          <a:ea typeface="+mn-ea"/>
                          <a:cs typeface="+mn-cs"/>
                        </a:rPr>
                        <a:t>Any person with resident status on a site or access to the Intranet</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tc>
                  <a:txBody>
                    <a:bodyPr/>
                    <a:lstStyle/>
                    <a:p>
                      <a:r>
                        <a:rPr lang="en-US" sz="1000" b="0" kern="1200" dirty="0">
                          <a:solidFill>
                            <a:srgbClr val="666666"/>
                          </a:solidFill>
                          <a:latin typeface="+mj-lt"/>
                          <a:ea typeface="+mn-ea"/>
                          <a:cs typeface="+mn-cs"/>
                        </a:rPr>
                        <a:t>Limited impact to the company,  could affect the company’s external communication</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tc>
                  <a:txBody>
                    <a:bodyPr/>
                    <a:lstStyle/>
                    <a:p>
                      <a:pPr marL="171450" indent="-171450">
                        <a:buFont typeface="Arial" panose="020B0604020202020204" pitchFamily="34" charset="0"/>
                        <a:buChar char="•"/>
                      </a:pPr>
                      <a:r>
                        <a:rPr lang="en-US" sz="1000" b="0" kern="1200" dirty="0">
                          <a:solidFill>
                            <a:srgbClr val="666666"/>
                          </a:solidFill>
                          <a:latin typeface="+mj-lt"/>
                          <a:ea typeface="+mn-ea"/>
                          <a:cs typeface="+mn-cs"/>
                        </a:rPr>
                        <a:t>General procedures</a:t>
                      </a:r>
                    </a:p>
                    <a:p>
                      <a:pPr marL="171450" indent="-171450">
                        <a:buFont typeface="Arial" panose="020B0604020202020204" pitchFamily="34" charset="0"/>
                        <a:buChar char="•"/>
                      </a:pPr>
                      <a:r>
                        <a:rPr lang="en-US" sz="1000" b="0" kern="1200" dirty="0">
                          <a:solidFill>
                            <a:srgbClr val="666666"/>
                          </a:solidFill>
                          <a:latin typeface="+mj-lt"/>
                          <a:ea typeface="+mn-ea"/>
                          <a:cs typeface="+mn-cs"/>
                        </a:rPr>
                        <a:t>In-house news bulletins</a:t>
                      </a:r>
                      <a:endParaRPr lang="en-GB" sz="1000" b="0" kern="1200" dirty="0">
                        <a:solidFill>
                          <a:srgbClr val="666666"/>
                        </a:solidFill>
                        <a:latin typeface="+mj-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BEBEB"/>
                    </a:solidFill>
                  </a:tcPr>
                </a:tc>
                <a:extLst>
                  <a:ext uri="{0D108BD9-81ED-4DB2-BD59-A6C34878D82A}">
                    <a16:rowId xmlns:a16="http://schemas.microsoft.com/office/drawing/2014/main" val="674334968"/>
                  </a:ext>
                </a:extLst>
              </a:tr>
            </a:tbl>
          </a:graphicData>
        </a:graphic>
      </p:graphicFrame>
      <p:sp>
        <p:nvSpPr>
          <p:cNvPr id="6" name="Alliance_Labeling">
            <a:extLst>
              <a:ext uri="{FF2B5EF4-FFF2-40B4-BE49-F238E27FC236}">
                <a16:creationId xmlns:a16="http://schemas.microsoft.com/office/drawing/2014/main" id="{BA351918-2248-4A47-9491-2E87E6CAA6C0}"/>
              </a:ext>
            </a:extLst>
          </p:cNvPr>
          <p:cNvSpPr txBox="1">
            <a:spLocks/>
          </p:cNvSpPr>
          <p:nvPr/>
        </p:nvSpPr>
        <p:spPr>
          <a:xfrm>
            <a:off x="932686" y="2362336"/>
            <a:ext cx="1548000" cy="216000"/>
          </a:xfrm>
          <a:prstGeom prst="rect">
            <a:avLst/>
          </a:prstGeom>
          <a:solidFill>
            <a:srgbClr val="FFFFFF"/>
          </a:solidFill>
          <a:ln w="28575" cmpd="sng">
            <a:solidFill>
              <a:srgbClr val="CC0928"/>
            </a:solidFill>
          </a:ln>
        </p:spPr>
        <p:txBody>
          <a:bodyPr vert="horz" wrap="square" lIns="72000" tIns="36000" rIns="72000" bIns="36000" rtlCol="0" anchor="ctr">
            <a:spAutoFit/>
          </a:bodyPr>
          <a:lstStyle/>
          <a:p>
            <a:pPr algn="ctr">
              <a:defRPr/>
            </a:pPr>
            <a:r>
              <a:rPr kumimoji="1" lang="en-US" altLang="ja-JP" sz="1000" b="1" dirty="0">
                <a:solidFill>
                  <a:srgbClr val="CC0928"/>
                </a:solidFill>
                <a:latin typeface="Arial"/>
              </a:rPr>
              <a:t>Nissan Secret A</a:t>
            </a:r>
            <a:endParaRPr kumimoji="1" lang="ja-JP" altLang="en-US" sz="1000" b="1" dirty="0">
              <a:solidFill>
                <a:srgbClr val="CC0928"/>
              </a:solidFill>
              <a:latin typeface="Arial"/>
            </a:endParaRPr>
          </a:p>
        </p:txBody>
      </p:sp>
      <p:sp>
        <p:nvSpPr>
          <p:cNvPr id="7" name="Alliance_Labeling">
            <a:extLst>
              <a:ext uri="{FF2B5EF4-FFF2-40B4-BE49-F238E27FC236}">
                <a16:creationId xmlns:a16="http://schemas.microsoft.com/office/drawing/2014/main" id="{8AABBAC1-A275-40E8-B5C5-1E8338D6D986}"/>
              </a:ext>
            </a:extLst>
          </p:cNvPr>
          <p:cNvSpPr txBox="1">
            <a:spLocks/>
          </p:cNvSpPr>
          <p:nvPr/>
        </p:nvSpPr>
        <p:spPr>
          <a:xfrm>
            <a:off x="932686" y="3613316"/>
            <a:ext cx="1548000" cy="216000"/>
          </a:xfrm>
          <a:prstGeom prst="rect">
            <a:avLst/>
          </a:prstGeom>
          <a:solidFill>
            <a:srgbClr val="FFFFFF"/>
          </a:solidFill>
          <a:ln w="28575" cmpd="sng">
            <a:solidFill>
              <a:srgbClr val="CC0928"/>
            </a:solidFill>
          </a:ln>
        </p:spPr>
        <p:txBody>
          <a:bodyPr vert="horz" wrap="square" lIns="72000" tIns="36000" rIns="72000" bIns="36000" rtlCol="0" anchor="ctr">
            <a:spAutoFit/>
          </a:bodyPr>
          <a:lstStyle>
            <a:defPPr>
              <a:defRPr lang="fr-FR"/>
            </a:defPPr>
            <a:lvl1pPr marR="0" lvl="0" indent="0" algn="ctr" fontAlgn="auto">
              <a:lnSpc>
                <a:spcPct val="100000"/>
              </a:lnSpc>
              <a:spcBef>
                <a:spcPts val="0"/>
              </a:spcBef>
              <a:spcAft>
                <a:spcPts val="0"/>
              </a:spcAft>
              <a:buClrTx/>
              <a:buSzTx/>
              <a:buFontTx/>
              <a:buNone/>
              <a:tabLst/>
              <a:defRPr kumimoji="1" sz="1050" b="1" i="0" u="none" strike="noStrike" cap="none" spc="0" normalizeH="0" baseline="0">
                <a:ln>
                  <a:noFill/>
                </a:ln>
                <a:solidFill>
                  <a:srgbClr val="CC0928"/>
                </a:solidFill>
                <a:effectLst/>
                <a:uLnTx/>
                <a:uFillTx/>
                <a:latin typeface="Arial"/>
                <a:ea typeface="ＭＳ Ｐゴシック" panose="020B0600070205080204" pitchFamily="34" charset="-128"/>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000" b="1" i="0" u="none" strike="noStrike" kern="0" cap="none" spc="0" normalizeH="0" baseline="0" noProof="0" dirty="0">
                <a:ln>
                  <a:noFill/>
                </a:ln>
                <a:solidFill>
                  <a:srgbClr val="CC0928"/>
                </a:solidFill>
                <a:effectLst/>
                <a:uLnTx/>
                <a:uFillTx/>
                <a:latin typeface="Arial"/>
                <a:ea typeface="ＭＳ Ｐゴシック" panose="020B0600070205080204" pitchFamily="34" charset="-128"/>
              </a:rPr>
              <a:t>Nissan Restricted B</a:t>
            </a:r>
            <a:endParaRPr kumimoji="1" lang="ja-JP" altLang="en-US" sz="1000" b="1" i="0" u="none" strike="noStrike" kern="0" cap="none" spc="0" normalizeH="0" baseline="0" noProof="0" dirty="0">
              <a:ln>
                <a:noFill/>
              </a:ln>
              <a:solidFill>
                <a:srgbClr val="CC0928"/>
              </a:solidFill>
              <a:effectLst/>
              <a:uLnTx/>
              <a:uFillTx/>
              <a:latin typeface="Arial"/>
              <a:ea typeface="ＭＳ Ｐゴシック" panose="020B0600070205080204" pitchFamily="34" charset="-128"/>
            </a:endParaRPr>
          </a:p>
        </p:txBody>
      </p:sp>
      <p:sp>
        <p:nvSpPr>
          <p:cNvPr id="8" name="Alliance_Labeling">
            <a:extLst>
              <a:ext uri="{FF2B5EF4-FFF2-40B4-BE49-F238E27FC236}">
                <a16:creationId xmlns:a16="http://schemas.microsoft.com/office/drawing/2014/main" id="{9170DAF1-1625-415E-8B25-3A7275FB4109}"/>
              </a:ext>
            </a:extLst>
          </p:cNvPr>
          <p:cNvSpPr txBox="1">
            <a:spLocks/>
          </p:cNvSpPr>
          <p:nvPr/>
        </p:nvSpPr>
        <p:spPr>
          <a:xfrm>
            <a:off x="932686" y="4824101"/>
            <a:ext cx="1548000" cy="216000"/>
          </a:xfrm>
          <a:prstGeom prst="rect">
            <a:avLst/>
          </a:prstGeom>
          <a:solidFill>
            <a:srgbClr val="FFFFFF"/>
          </a:solidFill>
          <a:ln w="28575" cmpd="sng">
            <a:solidFill>
              <a:srgbClr val="000000"/>
            </a:solidFill>
          </a:ln>
        </p:spPr>
        <p:txBody>
          <a:bodyPr vert="horz" wrap="square" lIns="72000" tIns="36000" rIns="72000" bIns="36000" rtlCol="0" anchor="ctr">
            <a:spAutoFit/>
          </a:bodyPr>
          <a:lstStyle/>
          <a:p>
            <a:pPr algn="ctr">
              <a:defRPr/>
            </a:pPr>
            <a:r>
              <a:rPr kumimoji="1" lang="en-US" altLang="ja-JP" sz="1000" b="1" dirty="0">
                <a:solidFill>
                  <a:srgbClr val="000000"/>
                </a:solidFill>
                <a:latin typeface="Arial"/>
              </a:rPr>
              <a:t>Nissan Confidential C</a:t>
            </a:r>
            <a:endParaRPr kumimoji="1" lang="ja-JP" altLang="en-US" sz="1000" b="1" dirty="0">
              <a:solidFill>
                <a:srgbClr val="000000"/>
              </a:solidFill>
              <a:latin typeface="Arial"/>
            </a:endParaRPr>
          </a:p>
        </p:txBody>
      </p:sp>
      <p:sp>
        <p:nvSpPr>
          <p:cNvPr id="9" name="Alliance_Labeling">
            <a:extLst>
              <a:ext uri="{FF2B5EF4-FFF2-40B4-BE49-F238E27FC236}">
                <a16:creationId xmlns:a16="http://schemas.microsoft.com/office/drawing/2014/main" id="{E5E49660-D317-425C-BA13-9B4288A38717}"/>
              </a:ext>
            </a:extLst>
          </p:cNvPr>
          <p:cNvSpPr txBox="1">
            <a:spLocks/>
          </p:cNvSpPr>
          <p:nvPr/>
        </p:nvSpPr>
        <p:spPr>
          <a:xfrm>
            <a:off x="932686" y="6034886"/>
            <a:ext cx="1548000" cy="216000"/>
          </a:xfrm>
          <a:prstGeom prst="rect">
            <a:avLst/>
          </a:prstGeom>
          <a:solidFill>
            <a:srgbClr val="FFFFFF"/>
          </a:solidFill>
          <a:ln w="28575" cmpd="sng">
            <a:solidFill>
              <a:srgbClr val="000000"/>
            </a:solidFill>
          </a:ln>
        </p:spPr>
        <p:txBody>
          <a:bodyPr vert="horz" wrap="square" lIns="72000" tIns="36000" rIns="72000" bIns="36000" rtlCol="0" anchor="ctr">
            <a:spAutoFit/>
          </a:bodyPr>
          <a:lstStyle/>
          <a:p>
            <a:pPr algn="ctr">
              <a:spcBef>
                <a:spcPct val="0"/>
              </a:spcBef>
              <a:spcAft>
                <a:spcPct val="0"/>
              </a:spcAft>
              <a:defRPr/>
            </a:pPr>
            <a:r>
              <a:rPr kumimoji="1" lang="en-US" altLang="ja-JP" sz="1000" b="1" dirty="0">
                <a:solidFill>
                  <a:srgbClr val="000000"/>
                </a:solidFill>
                <a:latin typeface="Arial"/>
              </a:rPr>
              <a:t>Nissan Internal</a:t>
            </a:r>
            <a:endParaRPr kumimoji="1" lang="ja-JP" altLang="en-US" sz="1000" b="1" dirty="0">
              <a:solidFill>
                <a:srgbClr val="000000"/>
              </a:solidFill>
              <a:latin typeface="Arial"/>
            </a:endParaRPr>
          </a:p>
        </p:txBody>
      </p:sp>
      <p:sp>
        <p:nvSpPr>
          <p:cNvPr id="10" name="正方形/長方形 1"/>
          <p:cNvSpPr/>
          <p:nvPr/>
        </p:nvSpPr>
        <p:spPr>
          <a:xfrm>
            <a:off x="455236" y="799430"/>
            <a:ext cx="11648274" cy="461665"/>
          </a:xfrm>
          <a:prstGeom prst="rect">
            <a:avLst/>
          </a:prstGeom>
        </p:spPr>
        <p:txBody>
          <a:bodyPr wrap="square">
            <a:spAutoFit/>
          </a:bodyPr>
          <a:lstStyle/>
          <a:p>
            <a:r>
              <a:rPr lang="en-US" altLang="ja-JP" sz="1200" dirty="0">
                <a:solidFill>
                  <a:srgbClr val="666666"/>
                </a:solidFill>
              </a:rPr>
              <a:t>Company information is classified by 4 levels according to the confidentiality and  importance of the information. Data handled in DDI platform is Nissan Restricted B involves PII data.</a:t>
            </a:r>
          </a:p>
        </p:txBody>
      </p:sp>
      <p:sp>
        <p:nvSpPr>
          <p:cNvPr id="11" name="Ellipse 2"/>
          <p:cNvSpPr/>
          <p:nvPr/>
        </p:nvSpPr>
        <p:spPr>
          <a:xfrm>
            <a:off x="205194" y="2747726"/>
            <a:ext cx="12148358" cy="1641360"/>
          </a:xfrm>
          <a:prstGeom prst="ellipse">
            <a:avLst/>
          </a:prstGeom>
          <a:noFill/>
          <a:ln w="762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856911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privacy</a:t>
            </a:r>
            <a:endParaRPr lang="en-IN" dirty="0"/>
          </a:p>
        </p:txBody>
      </p:sp>
      <p:sp>
        <p:nvSpPr>
          <p:cNvPr id="3" name="Text Placeholder 2"/>
          <p:cNvSpPr>
            <a:spLocks noGrp="1"/>
          </p:cNvSpPr>
          <p:nvPr>
            <p:ph type="body" sz="quarter" idx="10"/>
          </p:nvPr>
        </p:nvSpPr>
        <p:spPr>
          <a:xfrm>
            <a:off x="147484" y="1111045"/>
            <a:ext cx="11857703" cy="4552335"/>
          </a:xfrm>
        </p:spPr>
        <p:txBody>
          <a:bodyPr/>
          <a:lstStyle/>
          <a:p>
            <a:r>
              <a:rPr lang="en-US" sz="2000" dirty="0">
                <a:latin typeface="Arial" charset="0"/>
                <a:ea typeface="ＭＳ Ｐゴシック" charset="-128"/>
              </a:rPr>
              <a:t>Will the system contain Personal Identifiable Information (PII)? </a:t>
            </a:r>
            <a:r>
              <a:rPr lang="en-US" sz="2000" dirty="0" smtClean="0">
                <a:solidFill>
                  <a:srgbClr val="00B050"/>
                </a:solidFill>
                <a:latin typeface="Arial" charset="0"/>
                <a:ea typeface="ＭＳ Ｐゴシック" charset="-128"/>
              </a:rPr>
              <a:t>YES</a:t>
            </a:r>
            <a:endParaRPr lang="en-US" sz="2000" dirty="0">
              <a:solidFill>
                <a:schemeClr val="tx2"/>
              </a:solidFill>
              <a:latin typeface="Arial" charset="0"/>
              <a:ea typeface="ＭＳ Ｐゴシック" charset="-128"/>
            </a:endParaRPr>
          </a:p>
          <a:p>
            <a:r>
              <a:rPr lang="en-US" sz="2000" dirty="0">
                <a:latin typeface="Arial" charset="0"/>
                <a:ea typeface="ＭＳ Ｐゴシック" charset="-128"/>
              </a:rPr>
              <a:t>Will financial information be recorded or accessible? </a:t>
            </a:r>
            <a:r>
              <a:rPr lang="en-US" sz="2000" dirty="0">
                <a:solidFill>
                  <a:srgbClr val="00B050"/>
                </a:solidFill>
                <a:latin typeface="Arial" charset="0"/>
                <a:ea typeface="ＭＳ Ｐゴシック" charset="-128"/>
              </a:rPr>
              <a:t>YES, for vehicle , parts orders contains financial information like bill to address, shipping address, price details etc.</a:t>
            </a:r>
          </a:p>
          <a:p>
            <a:r>
              <a:rPr lang="en-US" sz="2000" dirty="0">
                <a:latin typeface="Arial" charset="0"/>
                <a:ea typeface="ＭＳ Ｐゴシック" charset="-128"/>
              </a:rPr>
              <a:t>Would Nissan confidential or proprietary information be accessible? </a:t>
            </a:r>
            <a:r>
              <a:rPr lang="en-US" sz="2000" dirty="0">
                <a:solidFill>
                  <a:srgbClr val="00B050"/>
                </a:solidFill>
                <a:latin typeface="Arial" charset="0"/>
                <a:ea typeface="ＭＳ Ｐゴシック" charset="-128"/>
              </a:rPr>
              <a:t>YES, vehicle details are available.</a:t>
            </a:r>
          </a:p>
          <a:p>
            <a:r>
              <a:rPr lang="en-US" sz="2000" dirty="0">
                <a:latin typeface="Arial" charset="0"/>
                <a:ea typeface="ＭＳ Ｐゴシック" charset="-128"/>
              </a:rPr>
              <a:t>Would information be consumed from other Nissan services which already have authentication requirements established? </a:t>
            </a:r>
            <a:r>
              <a:rPr lang="en-US" sz="2000" dirty="0">
                <a:solidFill>
                  <a:srgbClr val="00B050"/>
                </a:solidFill>
                <a:latin typeface="Arial" charset="0"/>
                <a:ea typeface="ＭＳ Ｐゴシック" charset="-128"/>
              </a:rPr>
              <a:t>Yes</a:t>
            </a:r>
          </a:p>
          <a:p>
            <a:r>
              <a:rPr lang="en-US" sz="2000" dirty="0">
                <a:latin typeface="Arial" charset="0"/>
                <a:ea typeface="ＭＳ Ｐゴシック" charset="-128"/>
              </a:rPr>
              <a:t>Aurora DB is encrypted at rest</a:t>
            </a:r>
          </a:p>
          <a:p>
            <a:r>
              <a:rPr lang="en-US" sz="2000" dirty="0">
                <a:latin typeface="Arial" charset="0"/>
                <a:ea typeface="ＭＳ Ｐゴシック" charset="-128"/>
              </a:rPr>
              <a:t>Data retention on S3 and Aurora DB will be 7 days and purged afterwards</a:t>
            </a:r>
          </a:p>
          <a:p>
            <a:endParaRPr lang="en-IN" dirty="0"/>
          </a:p>
        </p:txBody>
      </p:sp>
    </p:spTree>
    <p:extLst>
      <p:ext uri="{BB962C8B-B14F-4D97-AF65-F5344CB8AC3E}">
        <p14:creationId xmlns:p14="http://schemas.microsoft.com/office/powerpoint/2010/main" val="20208583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タイトル 28">
            <a:extLst>
              <a:ext uri="{FF2B5EF4-FFF2-40B4-BE49-F238E27FC236}">
                <a16:creationId xmlns:a16="http://schemas.microsoft.com/office/drawing/2014/main" id="{C996F0D3-AC84-4B07-86E8-FA04FD953746}"/>
              </a:ext>
            </a:extLst>
          </p:cNvPr>
          <p:cNvSpPr txBox="1">
            <a:spLocks/>
          </p:cNvSpPr>
          <p:nvPr/>
        </p:nvSpPr>
        <p:spPr>
          <a:xfrm>
            <a:off x="1649029" y="248643"/>
            <a:ext cx="6742936" cy="358047"/>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kumimoji="1" lang="en-US" sz="2400" kern="1200" baseline="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sz="2585" dirty="0">
                <a:solidFill>
                  <a:schemeClr val="tx1"/>
                </a:solidFill>
                <a:latin typeface="NissanAG-Bold" pitchFamily="50" charset="0"/>
                <a:ea typeface="NissanAG-Bold" pitchFamily="50" charset="0"/>
              </a:rPr>
              <a:t>Application Architecture – Technical Stack</a:t>
            </a:r>
            <a:endParaRPr lang="ja-JP" altLang="en-US" sz="2585" dirty="0">
              <a:solidFill>
                <a:schemeClr val="tx1"/>
              </a:solidFill>
              <a:latin typeface="NissanAG-Bold" pitchFamily="50" charset="0"/>
              <a:ea typeface="NissanAG-Bold" pitchFamily="50" charset="0"/>
            </a:endParaRPr>
          </a:p>
        </p:txBody>
      </p:sp>
      <p:graphicFrame>
        <p:nvGraphicFramePr>
          <p:cNvPr id="6" name="Table 5"/>
          <p:cNvGraphicFramePr>
            <a:graphicFrameLocks noGrp="1"/>
          </p:cNvGraphicFramePr>
          <p:nvPr>
            <p:extLst>
              <p:ext uri="{D42A27DB-BD31-4B8C-83A1-F6EECF244321}">
                <p14:modId xmlns:p14="http://schemas.microsoft.com/office/powerpoint/2010/main" val="468989120"/>
              </p:ext>
            </p:extLst>
          </p:nvPr>
        </p:nvGraphicFramePr>
        <p:xfrm>
          <a:off x="285135" y="943896"/>
          <a:ext cx="10274710" cy="4698282"/>
        </p:xfrm>
        <a:graphic>
          <a:graphicData uri="http://schemas.openxmlformats.org/drawingml/2006/table">
            <a:tbl>
              <a:tblPr>
                <a:tableStyleId>{5C22544A-7EE6-4342-B048-85BDC9FD1C3A}</a:tableStyleId>
              </a:tblPr>
              <a:tblGrid>
                <a:gridCol w="2829508">
                  <a:extLst>
                    <a:ext uri="{9D8B030D-6E8A-4147-A177-3AD203B41FA5}">
                      <a16:colId xmlns:a16="http://schemas.microsoft.com/office/drawing/2014/main" val="2393797456"/>
                    </a:ext>
                  </a:extLst>
                </a:gridCol>
                <a:gridCol w="2295818">
                  <a:extLst>
                    <a:ext uri="{9D8B030D-6E8A-4147-A177-3AD203B41FA5}">
                      <a16:colId xmlns:a16="http://schemas.microsoft.com/office/drawing/2014/main" val="4162176044"/>
                    </a:ext>
                  </a:extLst>
                </a:gridCol>
                <a:gridCol w="1973125">
                  <a:extLst>
                    <a:ext uri="{9D8B030D-6E8A-4147-A177-3AD203B41FA5}">
                      <a16:colId xmlns:a16="http://schemas.microsoft.com/office/drawing/2014/main" val="3781004338"/>
                    </a:ext>
                  </a:extLst>
                </a:gridCol>
                <a:gridCol w="1116922">
                  <a:extLst>
                    <a:ext uri="{9D8B030D-6E8A-4147-A177-3AD203B41FA5}">
                      <a16:colId xmlns:a16="http://schemas.microsoft.com/office/drawing/2014/main" val="3525869026"/>
                    </a:ext>
                  </a:extLst>
                </a:gridCol>
                <a:gridCol w="2059337">
                  <a:extLst>
                    <a:ext uri="{9D8B030D-6E8A-4147-A177-3AD203B41FA5}">
                      <a16:colId xmlns:a16="http://schemas.microsoft.com/office/drawing/2014/main" val="3133535565"/>
                    </a:ext>
                  </a:extLst>
                </a:gridCol>
              </a:tblGrid>
              <a:tr h="284283">
                <a:tc rowSpan="2">
                  <a:txBody>
                    <a:bodyPr/>
                    <a:lstStyle/>
                    <a:p>
                      <a:pPr algn="l" fontAlgn="ctr"/>
                      <a:r>
                        <a:rPr lang="en-IN" sz="1050" b="1" u="none" strike="noStrike" dirty="0">
                          <a:ln>
                            <a:noFill/>
                          </a:ln>
                          <a:solidFill>
                            <a:schemeClr val="bg1"/>
                          </a:solidFill>
                          <a:effectLst/>
                        </a:rPr>
                        <a:t>IT Services</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rgbClr val="558ED5"/>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rowSpan="2">
                  <a:txBody>
                    <a:bodyPr/>
                    <a:lstStyle/>
                    <a:p>
                      <a:pPr algn="l" fontAlgn="ctr"/>
                      <a:r>
                        <a:rPr lang="en-IN" sz="1050" b="1" u="none" strike="noStrike" dirty="0">
                          <a:ln>
                            <a:noFill/>
                          </a:ln>
                          <a:solidFill>
                            <a:schemeClr val="bg1"/>
                          </a:solidFill>
                          <a:effectLst/>
                        </a:rPr>
                        <a:t>Sub Category</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a:txBody>
                    <a:bodyPr/>
                    <a:lstStyle/>
                    <a:p>
                      <a:pPr algn="l" fontAlgn="b"/>
                      <a:r>
                        <a:rPr lang="en-IN" sz="1000" b="1" u="none" strike="noStrike" dirty="0">
                          <a:ln>
                            <a:noFill/>
                          </a:ln>
                          <a:solidFill>
                            <a:schemeClr val="bg1"/>
                          </a:solidFill>
                          <a:effectLst/>
                        </a:rPr>
                        <a:t> </a:t>
                      </a:r>
                      <a:endParaRPr lang="en-IN" sz="1000" b="1" i="0" u="none" strike="noStrike" dirty="0">
                        <a:ln>
                          <a:noFill/>
                        </a:ln>
                        <a:solidFill>
                          <a:schemeClr val="bg1"/>
                        </a:solidFill>
                        <a:effectLst/>
                        <a:latin typeface="Calibri" panose="020F0502020204030204" pitchFamily="34" charset="0"/>
                      </a:endParaRPr>
                    </a:p>
                  </a:txBody>
                  <a:tcPr marL="108000" marR="108000" marT="36000" marB="36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gridSpan="2">
                  <a:txBody>
                    <a:bodyPr/>
                    <a:lstStyle/>
                    <a:p>
                      <a:pPr algn="ctr" fontAlgn="b"/>
                      <a:endParaRPr lang="en-IN" sz="1000" b="1" i="0" u="none" strike="noStrike" dirty="0">
                        <a:ln>
                          <a:noFill/>
                        </a:ln>
                        <a:solidFill>
                          <a:schemeClr val="bg1"/>
                        </a:solidFill>
                        <a:effectLst/>
                        <a:latin typeface="Calibri" panose="020F0502020204030204" pitchFamily="34" charset="0"/>
                      </a:endParaRPr>
                    </a:p>
                  </a:txBody>
                  <a:tcPr marL="108000" marR="108000" marT="36000" marB="36000" anchor="b">
                    <a:lnL w="12700" cap="flat" cmpd="sng" algn="ctr">
                      <a:solidFill>
                        <a:schemeClr val="bg1"/>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58ED5"/>
                    </a:solidFill>
                  </a:tcPr>
                </a:tc>
                <a:tc hMerge="1">
                  <a:txBody>
                    <a:bodyPr/>
                    <a:lstStyle/>
                    <a:p>
                      <a:endParaRPr lang="en-IN"/>
                    </a:p>
                  </a:txBody>
                  <a:tcPr/>
                </a:tc>
                <a:extLst>
                  <a:ext uri="{0D108BD9-81ED-4DB2-BD59-A6C34878D82A}">
                    <a16:rowId xmlns:a16="http://schemas.microsoft.com/office/drawing/2014/main" val="3025232221"/>
                  </a:ext>
                </a:extLst>
              </a:tr>
              <a:tr h="318564">
                <a:tc vMerge="1">
                  <a:txBody>
                    <a:bodyPr/>
                    <a:lstStyle/>
                    <a:p>
                      <a:endParaRPr lang="en-IN"/>
                    </a:p>
                  </a:txBody>
                  <a:tcPr/>
                </a:tc>
                <a:tc vMerge="1">
                  <a:txBody>
                    <a:bodyPr/>
                    <a:lstStyle/>
                    <a:p>
                      <a:endParaRPr lang="en-IN"/>
                    </a:p>
                  </a:txBody>
                  <a:tcPr/>
                </a:tc>
                <a:tc>
                  <a:txBody>
                    <a:bodyPr/>
                    <a:lstStyle/>
                    <a:p>
                      <a:pPr algn="l" fontAlgn="b"/>
                      <a:r>
                        <a:rPr lang="en-IN" sz="1050" b="1" u="none" strike="noStrike" dirty="0">
                          <a:ln>
                            <a:noFill/>
                          </a:ln>
                          <a:solidFill>
                            <a:schemeClr val="bg1"/>
                          </a:solidFill>
                          <a:effectLst/>
                        </a:rPr>
                        <a:t>Type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a:txBody>
                    <a:bodyPr/>
                    <a:lstStyle/>
                    <a:p>
                      <a:pPr algn="l" fontAlgn="b"/>
                      <a:r>
                        <a:rPr lang="en-IN" sz="1050" b="1" u="none" strike="noStrike" dirty="0">
                          <a:ln>
                            <a:noFill/>
                          </a:ln>
                          <a:solidFill>
                            <a:schemeClr val="bg1"/>
                          </a:solidFill>
                          <a:effectLst/>
                        </a:rPr>
                        <a:t>Make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558ED5"/>
                    </a:solidFill>
                  </a:tcPr>
                </a:tc>
                <a:tc>
                  <a:txBody>
                    <a:bodyPr/>
                    <a:lstStyle/>
                    <a:p>
                      <a:pPr algn="l" fontAlgn="b"/>
                      <a:r>
                        <a:rPr lang="en-IN" sz="1050" b="1" u="none" strike="noStrike" dirty="0">
                          <a:ln>
                            <a:noFill/>
                          </a:ln>
                          <a:solidFill>
                            <a:schemeClr val="bg1"/>
                          </a:solidFill>
                          <a:effectLst/>
                        </a:rPr>
                        <a:t>Package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558ED5"/>
                    </a:solidFill>
                  </a:tcPr>
                </a:tc>
                <a:extLst>
                  <a:ext uri="{0D108BD9-81ED-4DB2-BD59-A6C34878D82A}">
                    <a16:rowId xmlns:a16="http://schemas.microsoft.com/office/drawing/2014/main" val="1468100111"/>
                  </a:ext>
                </a:extLst>
              </a:tr>
              <a:tr h="295738">
                <a:tc rowSpan="7">
                  <a:txBody>
                    <a:bodyPr/>
                    <a:lstStyle/>
                    <a:p>
                      <a:pPr algn="l" fontAlgn="ctr"/>
                      <a:r>
                        <a:rPr lang="en-IN" sz="1000" b="1" u="none" strike="noStrike" dirty="0">
                          <a:ln>
                            <a:noFill/>
                          </a:ln>
                          <a:effectLst/>
                        </a:rPr>
                        <a:t>AS-</a:t>
                      </a:r>
                      <a:r>
                        <a:rPr lang="en-IN" sz="1000" b="1" u="none" strike="noStrike" baseline="0" dirty="0">
                          <a:ln>
                            <a:noFill/>
                          </a:ln>
                          <a:effectLst/>
                        </a:rPr>
                        <a:t>Orchestration</a:t>
                      </a: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rowSpan="7">
                  <a:txBody>
                    <a:bodyPr/>
                    <a:lstStyle/>
                    <a:p>
                      <a:pPr algn="l" fontAlgn="ctr"/>
                      <a:r>
                        <a:rPr lang="en-IN" sz="1000" b="1" u="none" strike="noStrike" dirty="0">
                          <a:ln>
                            <a:noFill/>
                          </a:ln>
                          <a:effectLst/>
                        </a:rPr>
                        <a:t>Platform</a:t>
                      </a: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Platform Name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AWS ECS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Fargate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2040190099"/>
                  </a:ext>
                </a:extLst>
              </a:tr>
              <a:tr h="295738">
                <a:tc vMerge="1">
                  <a:txBody>
                    <a:bodyPr/>
                    <a:lstStyle/>
                    <a:p>
                      <a:endParaRPr lang="en-IN"/>
                    </a:p>
                  </a:txBody>
                  <a:tcPr/>
                </a:tc>
                <a:tc vMerge="1">
                  <a:txBody>
                    <a:bodyPr/>
                    <a:lstStyle/>
                    <a:p>
                      <a:endParaRPr lang="en-IN"/>
                    </a:p>
                  </a:txBody>
                  <a:tcPr/>
                </a:tc>
                <a:tc>
                  <a:txBody>
                    <a:bodyPr/>
                    <a:lstStyle/>
                    <a:p>
                      <a:pPr algn="l" fontAlgn="b"/>
                      <a:r>
                        <a:rPr lang="en-IN" sz="1000" u="none" strike="noStrike" dirty="0">
                          <a:ln>
                            <a:noFill/>
                          </a:ln>
                          <a:effectLst/>
                        </a:rPr>
                        <a:t>Runtime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Java, 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it-IT" sz="1000" u="none" strike="noStrike" dirty="0">
                          <a:ln>
                            <a:noFill/>
                          </a:ln>
                          <a:effectLst/>
                        </a:rPr>
                        <a:t>Java </a:t>
                      </a:r>
                      <a:r>
                        <a:rPr lang="it-IT" sz="1000" u="none" strike="noStrike" dirty="0" smtClean="0">
                          <a:ln>
                            <a:noFill/>
                          </a:ln>
                          <a:effectLst/>
                        </a:rPr>
                        <a:t>11 (AWS corretto)</a:t>
                      </a:r>
                      <a:endParaRPr lang="it-IT"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4058732861"/>
                  </a:ext>
                </a:extLst>
              </a:tr>
              <a:tr h="386139">
                <a:tc vMerge="1">
                  <a:txBody>
                    <a:bodyPr/>
                    <a:lstStyle/>
                    <a:p>
                      <a:endParaRPr lang="en-IN"/>
                    </a:p>
                  </a:txBody>
                  <a:tcPr/>
                </a:tc>
                <a:tc vMerge="1">
                  <a:txBody>
                    <a:bodyPr/>
                    <a:lstStyle/>
                    <a:p>
                      <a:endParaRPr lang="en-IN"/>
                    </a:p>
                  </a:txBody>
                  <a:tcPr/>
                </a:tc>
                <a:tc>
                  <a:txBody>
                    <a:bodyPr/>
                    <a:lstStyle/>
                    <a:p>
                      <a:pPr algn="l" fontAlgn="b"/>
                      <a:r>
                        <a:rPr lang="en-US" sz="1000" b="0" i="0" u="none" strike="noStrike" dirty="0">
                          <a:ln>
                            <a:noFill/>
                          </a:ln>
                          <a:solidFill>
                            <a:schemeClr val="dk1"/>
                          </a:solidFill>
                          <a:effectLst/>
                          <a:latin typeface="+mn-lt"/>
                        </a:rPr>
                        <a:t>Middleware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Pivotal OSS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smtClean="0">
                          <a:ln>
                            <a:noFill/>
                          </a:ln>
                          <a:solidFill>
                            <a:schemeClr val="tx1"/>
                          </a:solidFill>
                          <a:effectLst/>
                        </a:rPr>
                        <a:t> </a:t>
                      </a:r>
                      <a:r>
                        <a:rPr lang="en-IN" sz="1000" u="none" strike="noStrike" dirty="0">
                          <a:ln>
                            <a:noFill/>
                          </a:ln>
                          <a:solidFill>
                            <a:schemeClr val="tx1"/>
                          </a:solidFill>
                          <a:effectLst/>
                        </a:rPr>
                        <a:t>Spring Framework 5</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586606947"/>
                  </a:ext>
                </a:extLst>
              </a:tr>
              <a:tr h="295738">
                <a:tc vMerge="1">
                  <a:txBody>
                    <a:bodyPr/>
                    <a:lstStyle/>
                    <a:p>
                      <a:endParaRPr lang="en-IN"/>
                    </a:p>
                  </a:txBody>
                  <a:tcPr/>
                </a:tc>
                <a:tc vMerge="1">
                  <a:txBody>
                    <a:bodyPr/>
                    <a:lstStyle/>
                    <a:p>
                      <a:endParaRPr lang="en-IN"/>
                    </a:p>
                  </a:txBody>
                  <a:tcPr/>
                </a:tc>
                <a:tc>
                  <a:txBody>
                    <a:bodyPr/>
                    <a:lstStyle/>
                    <a:p>
                      <a:pPr algn="l" fontAlgn="b"/>
                      <a:r>
                        <a:rPr lang="en-IN" sz="1000" u="none" strike="noStrike" dirty="0">
                          <a:ln>
                            <a:noFill/>
                          </a:ln>
                          <a:effectLst/>
                        </a:rPr>
                        <a:t>Lang</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Java</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solidFill>
                            <a:schemeClr val="tx1"/>
                          </a:solidFill>
                          <a:effectLst/>
                        </a:rPr>
                        <a:t>Java </a:t>
                      </a:r>
                      <a:r>
                        <a:rPr lang="en-IN" sz="1000" u="none" strike="noStrike" dirty="0" smtClean="0">
                          <a:ln>
                            <a:noFill/>
                          </a:ln>
                          <a:solidFill>
                            <a:schemeClr val="tx1"/>
                          </a:solidFill>
                          <a:effectLst/>
                        </a:rPr>
                        <a:t>11 </a:t>
                      </a:r>
                      <a:r>
                        <a:rPr lang="it-IT" sz="1000" u="none" strike="noStrike" dirty="0" smtClean="0">
                          <a:ln>
                            <a:noFill/>
                          </a:ln>
                          <a:effectLst/>
                        </a:rPr>
                        <a:t>(AWS corretto)</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3999234050"/>
                  </a:ext>
                </a:extLst>
              </a:tr>
              <a:tr h="295738">
                <a:tc vMerge="1">
                  <a:txBody>
                    <a:bodyPr/>
                    <a:lstStyle/>
                    <a:p>
                      <a:endParaRPr lang="en-IN"/>
                    </a:p>
                  </a:txBody>
                  <a:tcPr/>
                </a:tc>
                <a:tc vMerge="1">
                  <a:txBody>
                    <a:bodyPr/>
                    <a:lstStyle/>
                    <a:p>
                      <a:endParaRPr lang="en-IN"/>
                    </a:p>
                  </a:txBody>
                  <a:tcPr/>
                </a:tc>
                <a:tc>
                  <a:txBody>
                    <a:bodyPr/>
                    <a:lstStyle/>
                    <a:p>
                      <a:pPr algn="l" fontAlgn="b"/>
                      <a:r>
                        <a:rPr lang="en-US" sz="1000" b="0" i="0" u="none" strike="noStrike" dirty="0">
                          <a:ln>
                            <a:noFill/>
                          </a:ln>
                          <a:solidFill>
                            <a:srgbClr val="000000"/>
                          </a:solidFill>
                          <a:effectLst/>
                          <a:latin typeface="Calibri" panose="020F0502020204030204" pitchFamily="34" charset="0"/>
                        </a:rPr>
                        <a:t>File Transfer</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rgbClr val="000000"/>
                          </a:solidFill>
                          <a:effectLst/>
                          <a:latin typeface="Calibri" panose="020F0502020204030204" pitchFamily="34" charset="0"/>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chemeClr val="tx1"/>
                          </a:solidFill>
                          <a:effectLst/>
                          <a:latin typeface="Calibri" panose="020F0502020204030204" pitchFamily="34" charset="0"/>
                        </a:rPr>
                        <a:t>S3</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1002322180"/>
                  </a:ext>
                </a:extLst>
              </a:tr>
              <a:tr h="295738">
                <a:tc vMerge="1">
                  <a:txBody>
                    <a:bodyPr/>
                    <a:lstStyle/>
                    <a:p>
                      <a:endParaRPr lang="en-IN"/>
                    </a:p>
                  </a:txBody>
                  <a:tcPr/>
                </a:tc>
                <a:tc vMerge="1">
                  <a:txBody>
                    <a:bodyPr/>
                    <a:lstStyle/>
                    <a:p>
                      <a:endParaRPr lang="en-IN"/>
                    </a:p>
                  </a:txBody>
                  <a:tcPr/>
                </a:tc>
                <a:tc>
                  <a:txBody>
                    <a:bodyPr/>
                    <a:lstStyle/>
                    <a:p>
                      <a:pPr algn="l" fontAlgn="b"/>
                      <a:r>
                        <a:rPr lang="en-US" sz="1000" b="0" i="0" u="none" strike="noStrike" dirty="0">
                          <a:ln>
                            <a:noFill/>
                          </a:ln>
                          <a:solidFill>
                            <a:schemeClr val="dk1"/>
                          </a:solidFill>
                          <a:effectLst/>
                          <a:latin typeface="+mn-lt"/>
                        </a:rPr>
                        <a:t>Database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solidFill>
                            <a:schemeClr val="tx1"/>
                          </a:solidFill>
                          <a:effectLst/>
                        </a:rPr>
                        <a:t>Aurora PostgreSQL</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2225728365"/>
                  </a:ext>
                </a:extLst>
              </a:tr>
              <a:tr h="751916">
                <a:tc vMerge="1">
                  <a:txBody>
                    <a:bodyPr/>
                    <a:lstStyle/>
                    <a:p>
                      <a:endParaRPr lang="en-IN"/>
                    </a:p>
                  </a:txBody>
                  <a:tcPr/>
                </a:tc>
                <a:tc vMerge="1">
                  <a:txBody>
                    <a:bodyPr/>
                    <a:lstStyle/>
                    <a:p>
                      <a:endParaRPr lang="en-IN"/>
                    </a:p>
                  </a:txBody>
                  <a:tcPr/>
                </a:tc>
                <a:tc>
                  <a:txBody>
                    <a:bodyPr/>
                    <a:lstStyle/>
                    <a:p>
                      <a:pPr algn="l" fontAlgn="b"/>
                      <a:r>
                        <a:rPr lang="en-US" sz="1000" b="0" i="0" u="none" strike="noStrike" dirty="0">
                          <a:ln>
                            <a:noFill/>
                          </a:ln>
                          <a:solidFill>
                            <a:schemeClr val="dk1"/>
                          </a:solidFill>
                          <a:effectLst/>
                          <a:latin typeface="+mn-lt"/>
                        </a:rPr>
                        <a:t>Data Backup</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solidFill>
                            <a:schemeClr val="tx1"/>
                          </a:solidFill>
                          <a:effectLst/>
                        </a:rPr>
                        <a:t>S3</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1667999730"/>
                  </a:ext>
                </a:extLst>
              </a:tr>
              <a:tr h="295738">
                <a:tc rowSpan="5">
                  <a:txBody>
                    <a:bodyPr/>
                    <a:lstStyle/>
                    <a:p>
                      <a:pPr algn="l" fontAlgn="ctr"/>
                      <a:r>
                        <a:rPr kumimoji="1" lang="en-IN" sz="1000" b="1" i="0" u="none" strike="noStrike" kern="1200" dirty="0">
                          <a:ln>
                            <a:noFill/>
                          </a:ln>
                          <a:solidFill>
                            <a:schemeClr val="dk1"/>
                          </a:solidFill>
                          <a:effectLst/>
                          <a:latin typeface="+mn-lt"/>
                          <a:ea typeface="+mn-ea"/>
                          <a:cs typeface="+mn-cs"/>
                        </a:rPr>
                        <a:t>Other</a:t>
                      </a: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lang="en-US" sz="1000" b="1" dirty="0"/>
                        <a:t>Network Infrastructure</a:t>
                      </a:r>
                      <a:endParaRPr lang="en-IN" sz="1000" b="1" dirty="0"/>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Load Balancer</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ln>
                            <a:noFill/>
                          </a:ln>
                          <a:solidFill>
                            <a:schemeClr val="tx1"/>
                          </a:solidFill>
                          <a:effectLst/>
                          <a:latin typeface="+mn-lt"/>
                        </a:rPr>
                        <a:t>ALB</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956306309"/>
                  </a:ext>
                </a:extLst>
              </a:tr>
              <a:tr h="295738">
                <a:tc vMerge="1">
                  <a:txBody>
                    <a:bodyPr/>
                    <a:lstStyle/>
                    <a:p>
                      <a:endParaRPr lang="en-IN"/>
                    </a:p>
                  </a:txBody>
                  <a:tcPr/>
                </a:tc>
                <a:tc>
                  <a:txBody>
                    <a:bodyPr/>
                    <a:lstStyle/>
                    <a:p>
                      <a:r>
                        <a:rPr lang="en-US" sz="1000" b="1" dirty="0"/>
                        <a:t>Docker</a:t>
                      </a:r>
                      <a:r>
                        <a:rPr lang="en-US" sz="1000" b="1" baseline="0" dirty="0"/>
                        <a:t> Container Registry</a:t>
                      </a:r>
                      <a:endParaRPr lang="en-IN" sz="1000" b="1" dirty="0"/>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rgbClr val="000000"/>
                          </a:solidFill>
                          <a:effectLst/>
                          <a:latin typeface="Calibri" panose="020F0502020204030204" pitchFamily="34" charset="0"/>
                        </a:rPr>
                        <a:t>Repository</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rgbClr val="000000"/>
                          </a:solidFill>
                          <a:effectLst/>
                          <a:latin typeface="Calibri" panose="020F0502020204030204" pitchFamily="34" charset="0"/>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chemeClr val="tx1"/>
                          </a:solidFill>
                          <a:effectLst/>
                          <a:latin typeface="Calibri" panose="020F0502020204030204" pitchFamily="34" charset="0"/>
                        </a:rPr>
                        <a:t>ECS</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3831712840"/>
                  </a:ext>
                </a:extLst>
              </a:tr>
              <a:tr h="295738">
                <a:tc vMerge="1">
                  <a:txBody>
                    <a:bodyPr/>
                    <a:lstStyle/>
                    <a:p>
                      <a:endParaRPr lang="en-IN"/>
                    </a:p>
                  </a:txBody>
                  <a:tcPr/>
                </a:tc>
                <a:tc>
                  <a:txBody>
                    <a:bodyPr/>
                    <a:lstStyle/>
                    <a:p>
                      <a:pPr algn="l" fontAlgn="b"/>
                      <a:r>
                        <a:rPr lang="en-IN" sz="1000" b="1" u="none" strike="noStrike" dirty="0">
                          <a:ln>
                            <a:noFill/>
                          </a:ln>
                          <a:effectLst/>
                        </a:rPr>
                        <a:t>Monitoring</a:t>
                      </a: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Monitoring</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a:ln>
                            <a:noFill/>
                          </a:ln>
                          <a:effectLst/>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IN" sz="1000" u="none" strike="noStrike" dirty="0" err="1">
                          <a:ln>
                            <a:noFill/>
                          </a:ln>
                          <a:solidFill>
                            <a:schemeClr val="tx1"/>
                          </a:solidFill>
                          <a:effectLst/>
                        </a:rPr>
                        <a:t>CloudWatch</a:t>
                      </a:r>
                      <a:r>
                        <a:rPr lang="en-IN" sz="1000" u="none" strike="noStrike" dirty="0">
                          <a:ln>
                            <a:noFill/>
                          </a:ln>
                          <a:solidFill>
                            <a:schemeClr val="tx1"/>
                          </a:solidFill>
                          <a:effectLst/>
                        </a:rPr>
                        <a:t>,</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2855781703"/>
                  </a:ext>
                </a:extLst>
              </a:tr>
              <a:tr h="295738">
                <a:tc vMerge="1">
                  <a:txBody>
                    <a:bodyPr/>
                    <a:lstStyle/>
                    <a:p>
                      <a:pPr algn="l" fontAlgn="ct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1" i="0" u="none" strike="noStrike" dirty="0">
                          <a:ln>
                            <a:noFill/>
                          </a:ln>
                          <a:solidFill>
                            <a:schemeClr val="dk1"/>
                          </a:solidFill>
                          <a:effectLst/>
                          <a:latin typeface="+mn-lt"/>
                        </a:rPr>
                        <a:t>Environment Security</a:t>
                      </a: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ln>
                            <a:noFill/>
                          </a:ln>
                          <a:effectLst/>
                        </a:rPr>
                        <a:t>Key Management</a:t>
                      </a:r>
                      <a:endParaRPr lang="en-IN" sz="1000" u="none" strike="noStrike" dirty="0">
                        <a:ln>
                          <a:noFill/>
                        </a:ln>
                        <a:effectLst/>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rgbClr val="000000"/>
                          </a:solidFill>
                          <a:effectLst/>
                          <a:latin typeface="Calibri" panose="020F0502020204030204" pitchFamily="34" charset="0"/>
                        </a:rPr>
                        <a:t>AWS</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smtClean="0">
                          <a:ln>
                            <a:noFill/>
                          </a:ln>
                          <a:solidFill>
                            <a:schemeClr val="tx1"/>
                          </a:solidFill>
                          <a:effectLst/>
                          <a:latin typeface="Calibri" panose="020F0502020204030204" pitchFamily="34" charset="0"/>
                        </a:rPr>
                        <a:t> </a:t>
                      </a:r>
                      <a:r>
                        <a:rPr lang="en-US" sz="1000" b="0" i="0" u="none" strike="noStrike" dirty="0">
                          <a:ln>
                            <a:noFill/>
                          </a:ln>
                          <a:solidFill>
                            <a:schemeClr val="tx1"/>
                          </a:solidFill>
                          <a:effectLst/>
                          <a:latin typeface="Calibri" panose="020F0502020204030204" pitchFamily="34" charset="0"/>
                        </a:rPr>
                        <a:t>Secrets Manager</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3753025905"/>
                  </a:ext>
                </a:extLst>
              </a:tr>
              <a:tr h="295738">
                <a:tc vMerge="1">
                  <a:txBody>
                    <a:bodyPr/>
                    <a:lstStyle/>
                    <a:p>
                      <a:pPr algn="l" fontAlgn="ct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1" lang="en-US" sz="1000" b="1" i="0" u="none" strike="noStrike" kern="1200" dirty="0">
                          <a:ln>
                            <a:noFill/>
                          </a:ln>
                          <a:solidFill>
                            <a:schemeClr val="dk1"/>
                          </a:solidFill>
                          <a:effectLst/>
                          <a:latin typeface="+mn-lt"/>
                          <a:ea typeface="+mn-ea"/>
                          <a:cs typeface="+mn-cs"/>
                        </a:rPr>
                        <a:t>Service</a:t>
                      </a:r>
                      <a:endParaRPr kumimoji="1" lang="en-IN" sz="1000" b="1" i="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u="none" strike="noStrike" dirty="0">
                          <a:ln>
                            <a:noFill/>
                          </a:ln>
                          <a:effectLst/>
                        </a:rPr>
                        <a:t>Email Service</a:t>
                      </a:r>
                      <a:endParaRPr lang="en-IN" sz="1000" u="none" strike="noStrike" dirty="0">
                        <a:ln>
                          <a:noFill/>
                        </a:ln>
                        <a:effectLst/>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r>
                        <a:rPr lang="en-US" sz="1000" b="0" i="0" u="none" strike="noStrike" dirty="0">
                          <a:ln>
                            <a:noFill/>
                          </a:ln>
                          <a:solidFill>
                            <a:srgbClr val="000000"/>
                          </a:solidFill>
                          <a:effectLst/>
                          <a:latin typeface="Calibri" panose="020F0502020204030204" pitchFamily="34" charset="0"/>
                        </a:rPr>
                        <a:t>On-Premise</a:t>
                      </a:r>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000" b="0" i="0" u="none" strike="noStrike" dirty="0">
                          <a:ln>
                            <a:noFill/>
                          </a:ln>
                          <a:solidFill>
                            <a:schemeClr val="tx1"/>
                          </a:solidFill>
                          <a:effectLst/>
                          <a:latin typeface="Calibri" panose="020F0502020204030204" pitchFamily="34" charset="0"/>
                        </a:rPr>
                        <a:t>SMTP server</a:t>
                      </a: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4037440238"/>
                  </a:ext>
                </a:extLst>
              </a:tr>
            </a:tbl>
          </a:graphicData>
        </a:graphic>
      </p:graphicFrame>
    </p:spTree>
    <p:extLst>
      <p:ext uri="{BB962C8B-B14F-4D97-AF65-F5344CB8AC3E}">
        <p14:creationId xmlns:p14="http://schemas.microsoft.com/office/powerpoint/2010/main" val="24509100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23334" y="877112"/>
            <a:ext cx="10972799" cy="400110"/>
          </a:xfrm>
          <a:prstGeom prst="rect">
            <a:avLst/>
          </a:prstGeom>
        </p:spPr>
        <p:txBody>
          <a:bodyPr wrap="square">
            <a:spAutoFit/>
          </a:bodyPr>
          <a:lstStyle/>
          <a:p>
            <a:pPr lvl="1" fontAlgn="base">
              <a:spcBef>
                <a:spcPct val="20000"/>
              </a:spcBef>
              <a:spcAft>
                <a:spcPct val="0"/>
              </a:spcAft>
              <a:buClr>
                <a:schemeClr val="tx1"/>
              </a:buClr>
            </a:pPr>
            <a:endParaRPr lang="en-US" altLang="ja-JP" dirty="0"/>
          </a:p>
        </p:txBody>
      </p:sp>
      <p:graphicFrame>
        <p:nvGraphicFramePr>
          <p:cNvPr id="9" name="Table 8"/>
          <p:cNvGraphicFramePr>
            <a:graphicFrameLocks noGrp="1"/>
          </p:cNvGraphicFramePr>
          <p:nvPr>
            <p:extLst>
              <p:ext uri="{D42A27DB-BD31-4B8C-83A1-F6EECF244321}">
                <p14:modId xmlns:p14="http://schemas.microsoft.com/office/powerpoint/2010/main" val="2807407218"/>
              </p:ext>
            </p:extLst>
          </p:nvPr>
        </p:nvGraphicFramePr>
        <p:xfrm>
          <a:off x="285135" y="943896"/>
          <a:ext cx="10274710" cy="3415493"/>
        </p:xfrm>
        <a:graphic>
          <a:graphicData uri="http://schemas.openxmlformats.org/drawingml/2006/table">
            <a:tbl>
              <a:tblPr>
                <a:tableStyleId>{5C22544A-7EE6-4342-B048-85BDC9FD1C3A}</a:tableStyleId>
              </a:tblPr>
              <a:tblGrid>
                <a:gridCol w="2829508">
                  <a:extLst>
                    <a:ext uri="{9D8B030D-6E8A-4147-A177-3AD203B41FA5}">
                      <a16:colId xmlns:a16="http://schemas.microsoft.com/office/drawing/2014/main" val="2393797456"/>
                    </a:ext>
                  </a:extLst>
                </a:gridCol>
                <a:gridCol w="2295818">
                  <a:extLst>
                    <a:ext uri="{9D8B030D-6E8A-4147-A177-3AD203B41FA5}">
                      <a16:colId xmlns:a16="http://schemas.microsoft.com/office/drawing/2014/main" val="4162176044"/>
                    </a:ext>
                  </a:extLst>
                </a:gridCol>
                <a:gridCol w="1973125">
                  <a:extLst>
                    <a:ext uri="{9D8B030D-6E8A-4147-A177-3AD203B41FA5}">
                      <a16:colId xmlns:a16="http://schemas.microsoft.com/office/drawing/2014/main" val="3781004338"/>
                    </a:ext>
                  </a:extLst>
                </a:gridCol>
                <a:gridCol w="1116922">
                  <a:extLst>
                    <a:ext uri="{9D8B030D-6E8A-4147-A177-3AD203B41FA5}">
                      <a16:colId xmlns:a16="http://schemas.microsoft.com/office/drawing/2014/main" val="3525869026"/>
                    </a:ext>
                  </a:extLst>
                </a:gridCol>
                <a:gridCol w="2059337">
                  <a:extLst>
                    <a:ext uri="{9D8B030D-6E8A-4147-A177-3AD203B41FA5}">
                      <a16:colId xmlns:a16="http://schemas.microsoft.com/office/drawing/2014/main" val="3133535565"/>
                    </a:ext>
                  </a:extLst>
                </a:gridCol>
              </a:tblGrid>
              <a:tr h="284283">
                <a:tc rowSpan="2">
                  <a:txBody>
                    <a:bodyPr/>
                    <a:lstStyle/>
                    <a:p>
                      <a:pPr algn="l" fontAlgn="ctr"/>
                      <a:r>
                        <a:rPr lang="en-IN" sz="1050" b="1" u="none" strike="noStrike" dirty="0">
                          <a:ln>
                            <a:noFill/>
                          </a:ln>
                          <a:solidFill>
                            <a:schemeClr val="bg1"/>
                          </a:solidFill>
                          <a:effectLst/>
                        </a:rPr>
                        <a:t>IT Services</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rgbClr val="558ED5"/>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rowSpan="2">
                  <a:txBody>
                    <a:bodyPr/>
                    <a:lstStyle/>
                    <a:p>
                      <a:pPr algn="l" fontAlgn="ctr"/>
                      <a:r>
                        <a:rPr lang="en-IN" sz="1050" b="1" u="none" strike="noStrike" dirty="0">
                          <a:ln>
                            <a:noFill/>
                          </a:ln>
                          <a:solidFill>
                            <a:schemeClr val="bg1"/>
                          </a:solidFill>
                          <a:effectLst/>
                        </a:rPr>
                        <a:t>Sub Category</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a:txBody>
                    <a:bodyPr/>
                    <a:lstStyle/>
                    <a:p>
                      <a:pPr algn="l" fontAlgn="b"/>
                      <a:r>
                        <a:rPr lang="en-IN" sz="1000" b="1" u="none" strike="noStrike" dirty="0">
                          <a:ln>
                            <a:noFill/>
                          </a:ln>
                          <a:solidFill>
                            <a:schemeClr val="bg1"/>
                          </a:solidFill>
                          <a:effectLst/>
                        </a:rPr>
                        <a:t> </a:t>
                      </a:r>
                      <a:endParaRPr lang="en-IN" sz="1000" b="1" i="0" u="none" strike="noStrike" dirty="0">
                        <a:ln>
                          <a:noFill/>
                        </a:ln>
                        <a:solidFill>
                          <a:schemeClr val="bg1"/>
                        </a:solidFill>
                        <a:effectLst/>
                        <a:latin typeface="Calibri" panose="020F0502020204030204" pitchFamily="34" charset="0"/>
                      </a:endParaRPr>
                    </a:p>
                  </a:txBody>
                  <a:tcPr marL="108000" marR="108000" marT="36000" marB="36000" anchor="b">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2">
                        <a:lumMod val="60000"/>
                        <a:lumOff val="40000"/>
                      </a:schemeClr>
                    </a:solidFill>
                  </a:tcPr>
                </a:tc>
                <a:tc gridSpan="2">
                  <a:txBody>
                    <a:bodyPr/>
                    <a:lstStyle/>
                    <a:p>
                      <a:pPr algn="ctr" fontAlgn="b"/>
                      <a:endParaRPr lang="en-IN" sz="1000" b="1" i="0" u="none" strike="noStrike" dirty="0">
                        <a:ln>
                          <a:noFill/>
                        </a:ln>
                        <a:solidFill>
                          <a:schemeClr val="bg1"/>
                        </a:solidFill>
                        <a:effectLst/>
                        <a:latin typeface="Calibri" panose="020F0502020204030204" pitchFamily="34" charset="0"/>
                      </a:endParaRPr>
                    </a:p>
                  </a:txBody>
                  <a:tcPr marL="108000" marR="108000" marT="36000" marB="36000" anchor="b">
                    <a:lnL w="12700" cap="flat" cmpd="sng" algn="ctr">
                      <a:solidFill>
                        <a:schemeClr val="bg1"/>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558ED5"/>
                    </a:solidFill>
                  </a:tcPr>
                </a:tc>
                <a:tc hMerge="1">
                  <a:txBody>
                    <a:bodyPr/>
                    <a:lstStyle/>
                    <a:p>
                      <a:endParaRPr lang="en-IN"/>
                    </a:p>
                  </a:txBody>
                  <a:tcPr/>
                </a:tc>
                <a:extLst>
                  <a:ext uri="{0D108BD9-81ED-4DB2-BD59-A6C34878D82A}">
                    <a16:rowId xmlns:a16="http://schemas.microsoft.com/office/drawing/2014/main" val="3025232221"/>
                  </a:ext>
                </a:extLst>
              </a:tr>
              <a:tr h="318564">
                <a:tc vMerge="1">
                  <a:txBody>
                    <a:bodyPr/>
                    <a:lstStyle/>
                    <a:p>
                      <a:endParaRPr lang="en-IN"/>
                    </a:p>
                  </a:txBody>
                  <a:tcPr/>
                </a:tc>
                <a:tc vMerge="1">
                  <a:txBody>
                    <a:bodyPr/>
                    <a:lstStyle/>
                    <a:p>
                      <a:endParaRPr lang="en-IN"/>
                    </a:p>
                  </a:txBody>
                  <a:tcPr/>
                </a:tc>
                <a:tc>
                  <a:txBody>
                    <a:bodyPr/>
                    <a:lstStyle/>
                    <a:p>
                      <a:pPr algn="l" fontAlgn="b"/>
                      <a:r>
                        <a:rPr lang="en-IN" sz="1050" b="1" u="none" strike="noStrike" dirty="0">
                          <a:ln>
                            <a:noFill/>
                          </a:ln>
                          <a:solidFill>
                            <a:schemeClr val="bg1"/>
                          </a:solidFill>
                          <a:effectLst/>
                        </a:rPr>
                        <a:t>Type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chemeClr val="tx2">
                        <a:lumMod val="60000"/>
                        <a:lumOff val="40000"/>
                      </a:schemeClr>
                    </a:solidFill>
                  </a:tcPr>
                </a:tc>
                <a:tc>
                  <a:txBody>
                    <a:bodyPr/>
                    <a:lstStyle/>
                    <a:p>
                      <a:pPr algn="l" fontAlgn="b"/>
                      <a:r>
                        <a:rPr lang="en-IN" sz="1050" b="1" u="none" strike="noStrike" dirty="0">
                          <a:ln>
                            <a:noFill/>
                          </a:ln>
                          <a:solidFill>
                            <a:schemeClr val="bg1"/>
                          </a:solidFill>
                          <a:effectLst/>
                        </a:rPr>
                        <a:t>Make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558ED5"/>
                    </a:solidFill>
                  </a:tcPr>
                </a:tc>
                <a:tc>
                  <a:txBody>
                    <a:bodyPr/>
                    <a:lstStyle/>
                    <a:p>
                      <a:pPr algn="l" fontAlgn="b"/>
                      <a:r>
                        <a:rPr lang="en-IN" sz="1050" b="1" u="none" strike="noStrike" dirty="0">
                          <a:ln>
                            <a:noFill/>
                          </a:ln>
                          <a:solidFill>
                            <a:schemeClr val="bg1"/>
                          </a:solidFill>
                          <a:effectLst/>
                        </a:rPr>
                        <a:t>Package</a:t>
                      </a:r>
                      <a:endParaRPr lang="en-IN" sz="1050" b="1" i="0" u="none" strike="noStrike" dirty="0">
                        <a:ln>
                          <a:noFill/>
                        </a:ln>
                        <a:solidFill>
                          <a:schemeClr val="bg1"/>
                        </a:solidFill>
                        <a:effectLst/>
                        <a:latin typeface="Calibri" panose="020F0502020204030204" pitchFamily="34" charset="0"/>
                      </a:endParaRPr>
                    </a:p>
                  </a:txBody>
                  <a:tcPr marL="45720" marR="45720" anchor="ctr">
                    <a:lnL w="12700" cap="flat" cmpd="sng" algn="ctr">
                      <a:solidFill>
                        <a:schemeClr val="bg1"/>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558ED5"/>
                    </a:solidFill>
                  </a:tcPr>
                </a:tc>
                <a:extLst>
                  <a:ext uri="{0D108BD9-81ED-4DB2-BD59-A6C34878D82A}">
                    <a16:rowId xmlns:a16="http://schemas.microsoft.com/office/drawing/2014/main" val="1468100111"/>
                  </a:ext>
                </a:extLst>
              </a:tr>
              <a:tr h="295738">
                <a:tc rowSpan="2">
                  <a:txBody>
                    <a:bodyPr/>
                    <a:lstStyle/>
                    <a:p>
                      <a:pPr algn="l" fontAlgn="ctr"/>
                      <a:r>
                        <a:rPr lang="en-IN" sz="1000" b="1" u="none" strike="noStrike" dirty="0">
                          <a:ln>
                            <a:noFill/>
                          </a:ln>
                          <a:effectLst/>
                        </a:rPr>
                        <a:t>Other</a:t>
                      </a: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kumimoji="1" lang="en-US" sz="1000" u="none" strike="noStrike" kern="1200" dirty="0">
                          <a:ln>
                            <a:noFill/>
                          </a:ln>
                          <a:solidFill>
                            <a:schemeClr val="dk1"/>
                          </a:solidFill>
                          <a:effectLst/>
                          <a:latin typeface="+mn-lt"/>
                          <a:ea typeface="+mn-ea"/>
                          <a:cs typeface="+mn-cs"/>
                        </a:rPr>
                        <a:t>SFTP</a:t>
                      </a:r>
                      <a:r>
                        <a:rPr kumimoji="1" lang="en-US" sz="1800" b="1" kern="1200" dirty="0">
                          <a:solidFill>
                            <a:schemeClr val="dk1"/>
                          </a:solidFill>
                          <a:effectLst/>
                          <a:latin typeface="+mn-lt"/>
                          <a:ea typeface="+mn-ea"/>
                          <a:cs typeface="+mn-cs"/>
                        </a:rPr>
                        <a:t> </a:t>
                      </a:r>
                      <a:r>
                        <a:rPr kumimoji="1" lang="en-US" sz="1000" u="none" strike="noStrike" kern="1200" dirty="0">
                          <a:ln>
                            <a:noFill/>
                          </a:ln>
                          <a:solidFill>
                            <a:schemeClr val="dk1"/>
                          </a:solidFill>
                          <a:effectLst/>
                          <a:latin typeface="+mn-lt"/>
                          <a:ea typeface="+mn-ea"/>
                          <a:cs typeface="+mn-cs"/>
                        </a:rPr>
                        <a:t>Server</a:t>
                      </a:r>
                      <a:endParaRPr kumimoji="1" lang="en-IN" sz="100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kumimoji="1" lang="en-US" sz="1000" u="none" strike="noStrike" kern="1200" dirty="0">
                          <a:ln>
                            <a:noFill/>
                          </a:ln>
                          <a:solidFill>
                            <a:schemeClr val="dk1"/>
                          </a:solidFill>
                          <a:effectLst/>
                          <a:latin typeface="+mn-lt"/>
                          <a:ea typeface="+mn-ea"/>
                          <a:cs typeface="+mn-cs"/>
                        </a:rPr>
                        <a:t>QA Environment</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User Name: NGSRFTP27</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SFTP Folder Name: NGSRFTP27</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ESB_HOST= sfxgw201.qa.jp.nissan.biz</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IP address: 150.63.222.2</a:t>
                      </a:r>
                      <a:endParaRPr kumimoji="1" lang="en-IN" sz="1000" u="none" strike="noStrike" kern="1200" dirty="0">
                        <a:ln>
                          <a:noFill/>
                        </a:ln>
                        <a:solidFill>
                          <a:schemeClr val="dk1"/>
                        </a:solidFill>
                        <a:effectLst/>
                        <a:latin typeface="+mn-lt"/>
                        <a:ea typeface="+mn-ea"/>
                        <a:cs typeface="+mn-cs"/>
                      </a:endParaRPr>
                    </a:p>
                    <a:p>
                      <a:pPr algn="l" fontAlgn="b"/>
                      <a:endParaRPr kumimoji="1" lang="en-IN" sz="100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956306309"/>
                  </a:ext>
                </a:extLst>
              </a:tr>
              <a:tr h="535708">
                <a:tc vMerge="1">
                  <a:txBody>
                    <a:bodyPr/>
                    <a:lstStyle/>
                    <a:p>
                      <a:endParaRPr lang="en-IN"/>
                    </a:p>
                  </a:txBody>
                  <a:tcPr/>
                </a:tc>
                <a:tc>
                  <a:txBody>
                    <a:bodyPr/>
                    <a:lstStyle/>
                    <a:p>
                      <a:endParaRPr lang="en-IN" sz="1000" b="1" dirty="0"/>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kumimoji="1" lang="en-US" sz="1000" u="none" strike="noStrike" kern="1200" dirty="0">
                          <a:ln>
                            <a:noFill/>
                          </a:ln>
                          <a:solidFill>
                            <a:schemeClr val="dk1"/>
                          </a:solidFill>
                          <a:effectLst/>
                          <a:latin typeface="+mn-lt"/>
                          <a:ea typeface="+mn-ea"/>
                          <a:cs typeface="+mn-cs"/>
                        </a:rPr>
                        <a:t>PROD Environment</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User Name: NGSRFTP27</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SFTP Folder Name: NGSRFTP27</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ESB_HOST= sfxgw101.jp.nissan.biz</a:t>
                      </a:r>
                      <a:endParaRPr kumimoji="1" lang="en-IN" sz="1000" u="none" strike="noStrike" kern="1200" dirty="0">
                        <a:ln>
                          <a:noFill/>
                        </a:ln>
                        <a:solidFill>
                          <a:schemeClr val="dk1"/>
                        </a:solidFill>
                        <a:effectLst/>
                        <a:latin typeface="+mn-lt"/>
                        <a:ea typeface="+mn-ea"/>
                        <a:cs typeface="+mn-cs"/>
                      </a:endParaRPr>
                    </a:p>
                    <a:p>
                      <a:r>
                        <a:rPr kumimoji="1" lang="en-US" sz="1000" u="none" strike="noStrike" kern="1200" dirty="0">
                          <a:ln>
                            <a:noFill/>
                          </a:ln>
                          <a:solidFill>
                            <a:schemeClr val="dk1"/>
                          </a:solidFill>
                          <a:effectLst/>
                          <a:latin typeface="+mn-lt"/>
                          <a:ea typeface="+mn-ea"/>
                          <a:cs typeface="+mn-cs"/>
                        </a:rPr>
                        <a:t>IP address: 150.63.222.1</a:t>
                      </a:r>
                      <a:endParaRPr kumimoji="1" lang="en-IN" sz="100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3831712840"/>
                  </a:ext>
                </a:extLst>
              </a:tr>
              <a:tr h="535708">
                <a:tc>
                  <a:txBody>
                    <a:bodyPr/>
                    <a:lstStyle/>
                    <a:p>
                      <a:pPr algn="l" fontAlgn="ct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lang="en-US" sz="1000" b="1" dirty="0" smtClean="0"/>
                        <a:t>NIMS </a:t>
                      </a:r>
                      <a:endParaRPr lang="en-IN" sz="1000" b="1" dirty="0"/>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r>
                        <a:rPr kumimoji="1" lang="en-IN" sz="1000" u="none" strike="noStrike" kern="1200" dirty="0" smtClean="0">
                          <a:ln>
                            <a:noFill/>
                          </a:ln>
                          <a:solidFill>
                            <a:schemeClr val="dk1"/>
                          </a:solidFill>
                          <a:effectLst/>
                          <a:latin typeface="+mn-lt"/>
                          <a:ea typeface="+mn-ea"/>
                          <a:cs typeface="+mn-cs"/>
                        </a:rPr>
                        <a:t>119.92.205.222 for PROD &amp; QA</a:t>
                      </a:r>
                      <a:endParaRPr kumimoji="1" lang="en-IN" sz="100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915972583"/>
                  </a:ext>
                </a:extLst>
              </a:tr>
              <a:tr h="295738">
                <a:tc>
                  <a:txBody>
                    <a:bodyPr/>
                    <a:lstStyle/>
                    <a:p>
                      <a:pPr algn="l" fontAlgn="ctr"/>
                      <a:endParaRPr lang="en-IN" sz="1000" b="1"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kumimoji="1" lang="en-IN" sz="1000" u="none" strike="noStrike" kern="1200" dirty="0">
                        <a:ln>
                          <a:noFill/>
                        </a:ln>
                        <a:solidFill>
                          <a:schemeClr val="dk1"/>
                        </a:solidFill>
                        <a:effectLst/>
                        <a:latin typeface="+mn-lt"/>
                        <a:ea typeface="+mn-ea"/>
                        <a:cs typeface="+mn-cs"/>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1000" u="none" strike="noStrike" dirty="0">
                        <a:ln>
                          <a:noFill/>
                        </a:ln>
                        <a:effectLst/>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algn="l" fontAlgn="b"/>
                      <a:endParaRPr lang="en-IN" sz="1000" b="0" i="0" u="none" strike="noStrike" dirty="0">
                        <a:ln>
                          <a:noFill/>
                        </a:ln>
                        <a:solidFill>
                          <a:srgbClr val="000000"/>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lang="en-IN" sz="1000" b="0" i="0" u="none" strike="noStrike" dirty="0">
                        <a:ln>
                          <a:noFill/>
                        </a:ln>
                        <a:solidFill>
                          <a:schemeClr val="tx1"/>
                        </a:solidFill>
                        <a:effectLst/>
                        <a:latin typeface="Calibri" panose="020F0502020204030204" pitchFamily="34" charset="0"/>
                      </a:endParaRPr>
                    </a:p>
                  </a:txBody>
                  <a:tcPr marL="36000" marR="0" marT="0" marB="0" anchor="ctr">
                    <a:lnL w="12700" cap="flat" cmpd="sng" algn="ctr">
                      <a:solidFill>
                        <a:srgbClr val="558ED5"/>
                      </a:solidFill>
                      <a:prstDash val="solid"/>
                      <a:round/>
                      <a:headEnd type="none" w="med" len="med"/>
                      <a:tailEnd type="none" w="med" len="med"/>
                    </a:lnL>
                    <a:lnR w="12700" cap="flat" cmpd="sng" algn="ctr">
                      <a:solidFill>
                        <a:srgbClr val="558ED5"/>
                      </a:solidFill>
                      <a:prstDash val="solid"/>
                      <a:round/>
                      <a:headEnd type="none" w="med" len="med"/>
                      <a:tailEnd type="none" w="med" len="med"/>
                    </a:lnR>
                    <a:lnT w="12700" cap="flat" cmpd="sng" algn="ctr">
                      <a:solidFill>
                        <a:srgbClr val="558ED5"/>
                      </a:solidFill>
                      <a:prstDash val="solid"/>
                      <a:round/>
                      <a:headEnd type="none" w="med" len="med"/>
                      <a:tailEnd type="none" w="med" len="med"/>
                    </a:lnT>
                    <a:lnB w="12700" cap="flat" cmpd="sng" algn="ctr">
                      <a:solidFill>
                        <a:srgbClr val="558ED5"/>
                      </a:solidFill>
                      <a:prstDash val="solid"/>
                      <a:round/>
                      <a:headEnd type="none" w="med" len="med"/>
                      <a:tailEnd type="none" w="med" len="med"/>
                    </a:lnB>
                    <a:solidFill>
                      <a:srgbClr val="EAEFF3"/>
                    </a:solidFill>
                  </a:tcPr>
                </a:tc>
                <a:extLst>
                  <a:ext uri="{0D108BD9-81ED-4DB2-BD59-A6C34878D82A}">
                    <a16:rowId xmlns:a16="http://schemas.microsoft.com/office/drawing/2014/main" val="3753025905"/>
                  </a:ext>
                </a:extLst>
              </a:tr>
            </a:tbl>
          </a:graphicData>
        </a:graphic>
      </p:graphicFrame>
      <p:sp>
        <p:nvSpPr>
          <p:cNvPr id="10" name="タイトル 28">
            <a:extLst>
              <a:ext uri="{FF2B5EF4-FFF2-40B4-BE49-F238E27FC236}">
                <a16:creationId xmlns:a16="http://schemas.microsoft.com/office/drawing/2014/main" id="{C996F0D3-AC84-4B07-86E8-FA04FD953746}"/>
              </a:ext>
            </a:extLst>
          </p:cNvPr>
          <p:cNvSpPr txBox="1">
            <a:spLocks noGrp="1"/>
          </p:cNvSpPr>
          <p:nvPr>
            <p:ph type="title"/>
          </p:nvPr>
        </p:nvSpPr>
        <p:spPr>
          <a:xfrm>
            <a:off x="502921" y="122239"/>
            <a:ext cx="7112460" cy="358047"/>
          </a:xfrm>
          <a:prstGeom prst="rect">
            <a:avLst/>
          </a:prstGeom>
        </p:spPr>
        <p:txBody>
          <a:bodyPr vert="horz" wrap="none" lIns="0" tIns="0" rIns="0" bIns="0" rtlCol="0" anchor="t">
            <a:spAutoFit/>
          </a:bodyPr>
          <a:lstStyle>
            <a:lvl1pPr algn="l" defTabSz="914400" rtl="0" eaLnBrk="1" latinLnBrk="0" hangingPunct="1">
              <a:lnSpc>
                <a:spcPct val="90000"/>
              </a:lnSpc>
              <a:spcBef>
                <a:spcPct val="0"/>
              </a:spcBef>
              <a:buNone/>
              <a:defRPr kumimoji="1" lang="en-US" sz="2400" kern="1200" baseline="0">
                <a:solidFill>
                  <a:schemeClr val="tx2"/>
                </a:solidFill>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defRPr>
            </a:lvl1pPr>
          </a:lstStyle>
          <a:p>
            <a:r>
              <a:rPr lang="en-US" sz="2585" dirty="0">
                <a:solidFill>
                  <a:schemeClr val="tx1"/>
                </a:solidFill>
                <a:latin typeface="NissanAG-Bold" pitchFamily="50" charset="0"/>
                <a:ea typeface="NissanAG-Bold" pitchFamily="50" charset="0"/>
              </a:rPr>
              <a:t>Application Architecture – Technical Stack contd.</a:t>
            </a:r>
            <a:endParaRPr lang="ja-JP" altLang="en-US" sz="2585" dirty="0">
              <a:solidFill>
                <a:schemeClr val="tx1"/>
              </a:solidFill>
              <a:latin typeface="NissanAG-Bold" pitchFamily="50" charset="0"/>
              <a:ea typeface="NissanAG-Bold" pitchFamily="50" charset="0"/>
            </a:endParaRPr>
          </a:p>
        </p:txBody>
      </p:sp>
    </p:spTree>
    <p:extLst>
      <p:ext uri="{BB962C8B-B14F-4D97-AF65-F5344CB8AC3E}">
        <p14:creationId xmlns:p14="http://schemas.microsoft.com/office/powerpoint/2010/main" val="27496838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0997" y="-108726"/>
            <a:ext cx="9814561" cy="669925"/>
          </a:xfrm>
        </p:spPr>
        <p:txBody>
          <a:bodyPr/>
          <a:lstStyle/>
          <a:p>
            <a:r>
              <a:rPr lang="en-US" sz="2585" dirty="0">
                <a:latin typeface="NissanAG-Bold" pitchFamily="50" charset="0"/>
                <a:ea typeface="NissanAG-Bold" pitchFamily="50" charset="0"/>
                <a:cs typeface="Verdana" panose="020B0604030504040204" pitchFamily="34" charset="0"/>
                <a:sym typeface="Verdana" panose="020B0604030504040204" pitchFamily="34" charset="0"/>
              </a:rPr>
              <a:t>Architectural Risks &amp; Mitigation</a:t>
            </a:r>
          </a:p>
        </p:txBody>
      </p:sp>
      <p:sp>
        <p:nvSpPr>
          <p:cNvPr id="3" name="TextBox 2"/>
          <p:cNvSpPr txBox="1"/>
          <p:nvPr/>
        </p:nvSpPr>
        <p:spPr>
          <a:xfrm>
            <a:off x="200997" y="561199"/>
            <a:ext cx="11617377" cy="5078313"/>
          </a:xfrm>
          <a:prstGeom prst="rect">
            <a:avLst/>
          </a:prstGeom>
          <a:noFill/>
        </p:spPr>
        <p:txBody>
          <a:bodyPr wrap="square" rtlCol="0">
            <a:spAutoFit/>
          </a:bodyPr>
          <a:lstStyle/>
          <a:p>
            <a:r>
              <a:rPr lang="en-US" b="1" dirty="0"/>
              <a:t>Service unavailability</a:t>
            </a:r>
          </a:p>
          <a:p>
            <a:pPr marL="285750" indent="-285750">
              <a:buFont typeface="Arial" panose="020B0604020202020204" pitchFamily="34" charset="0"/>
              <a:buChar char="•"/>
            </a:pPr>
            <a:r>
              <a:rPr lang="en-US" dirty="0"/>
              <a:t>In case of a disaster on AWS hosted components (real-time front-end), the recovery strategy is to re-create a new environment in a different AWS AZ or Region using the </a:t>
            </a:r>
            <a:r>
              <a:rPr lang="en-US" dirty="0" smtClean="0"/>
              <a:t>Cloud Formation </a:t>
            </a:r>
            <a:r>
              <a:rPr lang="en-US" dirty="0"/>
              <a:t>templates and restore data from the backups.</a:t>
            </a:r>
          </a:p>
          <a:p>
            <a:pPr marL="285750" indent="-285750">
              <a:buFont typeface="Arial" panose="020B0604020202020204" pitchFamily="34" charset="0"/>
              <a:buChar char="•"/>
            </a:pPr>
            <a:r>
              <a:rPr lang="en-US" dirty="0"/>
              <a:t>Non-AWS hosted components are used for non real-time. A delay should be acceptable for recovery.</a:t>
            </a:r>
          </a:p>
          <a:p>
            <a:r>
              <a:rPr lang="en-US" b="1" dirty="0"/>
              <a:t>Scalability</a:t>
            </a:r>
          </a:p>
          <a:p>
            <a:pPr marL="285750" indent="-285750">
              <a:buFont typeface="Arial" panose="020B0604020202020204" pitchFamily="34" charset="0"/>
              <a:buChar char="•"/>
            </a:pPr>
            <a:r>
              <a:rPr lang="en-US" dirty="0"/>
              <a:t>Front-end and DDI : AWS </a:t>
            </a:r>
            <a:r>
              <a:rPr lang="en-US" dirty="0" smtClean="0"/>
              <a:t>Server less </a:t>
            </a:r>
            <a:r>
              <a:rPr lang="en-US" dirty="0"/>
              <a:t>architecture enable dynamic scale-up component by component. Micro Service pattern implementation for application instance scaling.</a:t>
            </a:r>
          </a:p>
          <a:p>
            <a:r>
              <a:rPr lang="en-US" b="1" dirty="0"/>
              <a:t>Data consistency</a:t>
            </a:r>
          </a:p>
          <a:p>
            <a:pPr marL="285750" indent="-285750">
              <a:buFont typeface="Arial" panose="020B0604020202020204" pitchFamily="34" charset="0"/>
              <a:buChar char="•"/>
            </a:pPr>
            <a:r>
              <a:rPr lang="en-US" dirty="0"/>
              <a:t>AWS DDI : Master slave pattern for DB replication via AWS Multi-AZ deployment</a:t>
            </a:r>
          </a:p>
          <a:p>
            <a:pPr marL="285750" indent="-285750">
              <a:buFont typeface="Arial" panose="020B0604020202020204" pitchFamily="34" charset="0"/>
              <a:buChar char="•"/>
            </a:pPr>
            <a:r>
              <a:rPr lang="en-US" b="1" dirty="0"/>
              <a:t>Application Security </a:t>
            </a:r>
            <a:r>
              <a:rPr lang="en-US" sz="2400" dirty="0"/>
              <a:t>– </a:t>
            </a:r>
            <a:r>
              <a:rPr lang="en-US" dirty="0"/>
              <a:t>No new component exposed to internet. Existing Apigee will act as internet facing entry point</a:t>
            </a:r>
          </a:p>
          <a:p>
            <a:r>
              <a:rPr lang="en-US" b="1" dirty="0"/>
              <a:t>Monitoring solution</a:t>
            </a:r>
          </a:p>
          <a:p>
            <a:pPr marL="285750" indent="-285750">
              <a:buFont typeface="Arial" panose="020B0604020202020204" pitchFamily="34" charset="0"/>
              <a:buChar char="•"/>
            </a:pPr>
            <a:r>
              <a:rPr lang="en-US" dirty="0"/>
              <a:t>AWS : Cloud watch will be used</a:t>
            </a:r>
          </a:p>
          <a:p>
            <a:pPr marL="285750" indent="-285750">
              <a:buFont typeface="Arial" panose="020B0604020202020204" pitchFamily="34" charset="0"/>
              <a:buChar char="•"/>
            </a:pPr>
            <a:r>
              <a:rPr lang="en-US" dirty="0"/>
              <a:t>NIMS: existing monitoring solutions will be reused</a:t>
            </a:r>
          </a:p>
        </p:txBody>
      </p:sp>
    </p:spTree>
    <p:extLst>
      <p:ext uri="{BB962C8B-B14F-4D97-AF65-F5344CB8AC3E}">
        <p14:creationId xmlns:p14="http://schemas.microsoft.com/office/powerpoint/2010/main" val="42884277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7759" y="344932"/>
            <a:ext cx="9814561" cy="669925"/>
          </a:xfrm>
        </p:spPr>
        <p:txBody>
          <a:bodyPr/>
          <a:lstStyle/>
          <a:p>
            <a:r>
              <a:rPr lang="en-US" altLang="ja-JP" sz="2585" dirty="0">
                <a:latin typeface="NissanAG-Bold" pitchFamily="50" charset="0"/>
                <a:ea typeface="NissanAG-Bold" pitchFamily="50" charset="0"/>
                <a:cs typeface="Verdana" panose="020B0604030504040204" pitchFamily="34" charset="0"/>
              </a:rPr>
              <a:t>Non-Functional Requirements</a:t>
            </a:r>
            <a:endParaRPr lang="en-US" sz="2585" dirty="0">
              <a:latin typeface="NissanAG-Bold" pitchFamily="50" charset="0"/>
              <a:ea typeface="NissanAG-Bold" pitchFamily="50" charset="0"/>
              <a:cs typeface="Verdana" panose="020B0604030504040204" pitchFamily="34" charset="0"/>
            </a:endParaRPr>
          </a:p>
        </p:txBody>
      </p:sp>
      <p:sp>
        <p:nvSpPr>
          <p:cNvPr id="4" name="TextBox 3"/>
          <p:cNvSpPr txBox="1"/>
          <p:nvPr/>
        </p:nvSpPr>
        <p:spPr>
          <a:xfrm>
            <a:off x="786582" y="1091381"/>
            <a:ext cx="9602746" cy="3908762"/>
          </a:xfrm>
          <a:prstGeom prst="rect">
            <a:avLst/>
          </a:prstGeom>
          <a:noFill/>
        </p:spPr>
        <p:txBody>
          <a:bodyPr wrap="square" rtlCol="0">
            <a:spAutoFit/>
          </a:bodyPr>
          <a:lstStyle/>
          <a:p>
            <a:r>
              <a:rPr lang="fr-FR" sz="1600" b="1" u="sng" dirty="0" smtClean="0">
                <a:latin typeface="Arial" panose="020B0604020202020204" pitchFamily="34" charset="0"/>
                <a:cs typeface="Arial" panose="020B0604020202020204" pitchFamily="34" charset="0"/>
              </a:rPr>
              <a:t>For AWS </a:t>
            </a:r>
            <a:r>
              <a:rPr lang="fr-FR" sz="1600" b="1" u="sng" dirty="0" err="1" smtClean="0">
                <a:latin typeface="Arial" panose="020B0604020202020204" pitchFamily="34" charset="0"/>
                <a:cs typeface="Arial" panose="020B0604020202020204" pitchFamily="34" charset="0"/>
              </a:rPr>
              <a:t>Environment</a:t>
            </a:r>
            <a:endParaRPr lang="fr-FR" sz="1600" b="1" u="sng" dirty="0">
              <a:latin typeface="Arial" panose="020B0604020202020204" pitchFamily="34" charset="0"/>
              <a:cs typeface="Arial" panose="020B0604020202020204" pitchFamily="34" charset="0"/>
            </a:endParaRPr>
          </a:p>
          <a:p>
            <a:endParaRPr lang="en-US" sz="1600" dirty="0">
              <a:latin typeface="Arial" panose="020B0604020202020204" pitchFamily="34" charset="0"/>
              <a:cs typeface="Arial" panose="020B0604020202020204" pitchFamily="34" charset="0"/>
            </a:endParaRPr>
          </a:p>
          <a:p>
            <a:pPr marL="342900" indent="-342900">
              <a:buAutoNum type="arabicPeriod"/>
            </a:pPr>
            <a:r>
              <a:rPr lang="en-US" dirty="0"/>
              <a:t>Availability SLA</a:t>
            </a:r>
          </a:p>
          <a:p>
            <a:pPr marL="800100" lvl="1" indent="-342900">
              <a:buAutoNum type="arabicPeriod"/>
            </a:pPr>
            <a:r>
              <a:rPr lang="en-US" dirty="0"/>
              <a:t>Target – </a:t>
            </a:r>
            <a:r>
              <a:rPr lang="en-US" dirty="0" smtClean="0"/>
              <a:t>99.95%</a:t>
            </a:r>
          </a:p>
          <a:p>
            <a:pPr lvl="1"/>
            <a:endParaRPr lang="en-US" dirty="0" smtClean="0"/>
          </a:p>
          <a:p>
            <a:pPr marL="342900" indent="-342900">
              <a:buAutoNum type="arabicPeriod"/>
            </a:pPr>
            <a:r>
              <a:rPr lang="en-US" dirty="0" smtClean="0"/>
              <a:t>Expected Volumes</a:t>
            </a:r>
          </a:p>
          <a:p>
            <a:pPr marL="800100" lvl="1" indent="-342900">
              <a:buAutoNum type="arabicPeriod"/>
            </a:pPr>
            <a:r>
              <a:rPr lang="en-US" dirty="0" smtClean="0"/>
              <a:t>1 </a:t>
            </a:r>
            <a:r>
              <a:rPr lang="en-US" dirty="0"/>
              <a:t>GB / day </a:t>
            </a:r>
          </a:p>
          <a:p>
            <a:pPr marL="800100" lvl="1" indent="-342900">
              <a:buAutoNum type="arabicPeriod"/>
            </a:pPr>
            <a:r>
              <a:rPr lang="fr-FR" dirty="0"/>
              <a:t>7 days of Storage in s3 &amp; Aurora and purge </a:t>
            </a:r>
            <a:r>
              <a:rPr lang="fr-FR" dirty="0" err="1"/>
              <a:t>afterwards</a:t>
            </a:r>
            <a:r>
              <a:rPr lang="fr-FR" dirty="0" smtClean="0"/>
              <a:t>.</a:t>
            </a:r>
          </a:p>
          <a:p>
            <a:pPr marL="800100" lvl="1" indent="-342900">
              <a:buAutoNum type="arabicPeriod"/>
            </a:pPr>
            <a:r>
              <a:rPr lang="fr-FR" dirty="0" smtClean="0"/>
              <a:t> 1k </a:t>
            </a:r>
            <a:r>
              <a:rPr lang="fr-FR" dirty="0"/>
              <a:t>requests/</a:t>
            </a:r>
            <a:r>
              <a:rPr lang="fr-FR" dirty="0" err="1"/>
              <a:t>day</a:t>
            </a:r>
            <a:r>
              <a:rPr lang="fr-FR" dirty="0"/>
              <a:t> </a:t>
            </a:r>
            <a:r>
              <a:rPr lang="fr-FR" dirty="0" err="1"/>
              <a:t>after</a:t>
            </a:r>
            <a:r>
              <a:rPr lang="fr-FR" dirty="0"/>
              <a:t> 6 </a:t>
            </a:r>
            <a:r>
              <a:rPr lang="fr-FR" dirty="0" err="1"/>
              <a:t>months</a:t>
            </a:r>
            <a:r>
              <a:rPr lang="fr-FR" dirty="0"/>
              <a:t>.</a:t>
            </a:r>
          </a:p>
          <a:p>
            <a:pPr marL="800100" lvl="1" indent="-342900">
              <a:buAutoNum type="arabicPeriod"/>
            </a:pPr>
            <a:r>
              <a:rPr lang="en-US" dirty="0"/>
              <a:t>Disaster Recovery Strategy – Single region, Multi-AZ Deployment</a:t>
            </a:r>
          </a:p>
          <a:p>
            <a:pPr marL="800100" lvl="1" indent="-342900">
              <a:buAutoNum type="arabicPeriod"/>
            </a:pPr>
            <a:r>
              <a:rPr lang="en-US" dirty="0"/>
              <a:t>Recovery Point Objective  – 5 Minutes</a:t>
            </a:r>
          </a:p>
          <a:p>
            <a:pPr marL="800100" lvl="1" indent="-342900">
              <a:buAutoNum type="arabicPeriod"/>
            </a:pPr>
            <a:r>
              <a:rPr lang="en-US" dirty="0"/>
              <a:t>Recovery Time Objective – 5 Hours</a:t>
            </a:r>
          </a:p>
          <a:p>
            <a:pPr marL="342900" indent="-342900">
              <a:buAutoNum type="arabicPeriod"/>
            </a:pP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228646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Points from ERB</a:t>
            </a:r>
            <a:endParaRPr lang="en-IN" dirty="0"/>
          </a:p>
        </p:txBody>
      </p:sp>
      <p:sp>
        <p:nvSpPr>
          <p:cNvPr id="3" name="Text Placeholder 2"/>
          <p:cNvSpPr>
            <a:spLocks noGrp="1"/>
          </p:cNvSpPr>
          <p:nvPr>
            <p:ph type="body" sz="quarter" idx="10"/>
          </p:nvPr>
        </p:nvSpPr>
        <p:spPr>
          <a:xfrm>
            <a:off x="502920" y="854128"/>
            <a:ext cx="10429907" cy="4703392"/>
          </a:xfrm>
        </p:spPr>
        <p:txBody>
          <a:bodyPr/>
          <a:lstStyle/>
          <a:p>
            <a:r>
              <a:rPr lang="en-US" dirty="0" smtClean="0"/>
              <a:t>1</a:t>
            </a:r>
            <a:r>
              <a:rPr lang="en-US" b="1" dirty="0" smtClean="0"/>
              <a:t>. </a:t>
            </a:r>
            <a:r>
              <a:rPr lang="en-US" b="1" u="sng" dirty="0" smtClean="0"/>
              <a:t>Align with Global ERB stakeholders(</a:t>
            </a:r>
            <a:r>
              <a:rPr lang="en-US" b="1" u="sng" dirty="0"/>
              <a:t>Arnold </a:t>
            </a:r>
            <a:r>
              <a:rPr lang="en-US" b="1" u="sng" dirty="0" err="1"/>
              <a:t>Hahamyan</a:t>
            </a:r>
            <a:r>
              <a:rPr lang="en-US" b="1" u="sng" dirty="0"/>
              <a:t> &amp; Rob </a:t>
            </a:r>
            <a:r>
              <a:rPr lang="en-US" b="1" u="sng" dirty="0" smtClean="0"/>
              <a:t>Pearson) on the usage of </a:t>
            </a:r>
            <a:r>
              <a:rPr lang="en-US" b="1" u="sng" dirty="0" err="1" smtClean="0"/>
              <a:t>Apigee</a:t>
            </a:r>
            <a:r>
              <a:rPr lang="en-US" b="1" u="sng" dirty="0" smtClean="0"/>
              <a:t> for Dealer/DMS API’s. :</a:t>
            </a:r>
          </a:p>
          <a:p>
            <a:r>
              <a:rPr lang="en-US" dirty="0"/>
              <a:t> </a:t>
            </a:r>
            <a:r>
              <a:rPr lang="en-US" dirty="0" smtClean="0"/>
              <a:t>    Project Teams Response : Captured an email confirmation from Arnold &amp; Rob if DMS is not managed by Nissan. DMS system has to be treated as third party and need to use </a:t>
            </a:r>
            <a:r>
              <a:rPr lang="en-US" dirty="0" err="1" smtClean="0"/>
              <a:t>Apigee</a:t>
            </a:r>
            <a:r>
              <a:rPr lang="en-US" dirty="0" smtClean="0"/>
              <a:t>. </a:t>
            </a:r>
          </a:p>
          <a:p>
            <a:r>
              <a:rPr lang="en-US" dirty="0" smtClean="0"/>
              <a:t>In Philippines Yana DMS is </a:t>
            </a:r>
            <a:r>
              <a:rPr lang="en-US" b="1" u="sng" dirty="0" smtClean="0">
                <a:solidFill>
                  <a:srgbClr val="7030A0"/>
                </a:solidFill>
              </a:rPr>
              <a:t>not managed </a:t>
            </a:r>
            <a:r>
              <a:rPr lang="en-US" dirty="0" smtClean="0"/>
              <a:t>by Nissan Philippines so </a:t>
            </a:r>
            <a:r>
              <a:rPr lang="en-US" dirty="0" err="1" smtClean="0"/>
              <a:t>Apigee</a:t>
            </a:r>
            <a:r>
              <a:rPr lang="en-US" dirty="0" smtClean="0"/>
              <a:t> has to be used for integration . Please find the attached email’s from Arnold &amp; Rob</a:t>
            </a:r>
          </a:p>
          <a:p>
            <a:endParaRPr lang="en-US" dirty="0" smtClean="0"/>
          </a:p>
          <a:p>
            <a:pPr marL="285750" indent="-285750">
              <a:buFont typeface="Wingdings" panose="05000000000000000000" pitchFamily="2" charset="2"/>
              <a:buChar char="Ø"/>
            </a:pPr>
            <a:endParaRPr lang="en-US" dirty="0"/>
          </a:p>
          <a:p>
            <a:pPr marL="285750" indent="-285750">
              <a:buFont typeface="Wingdings" panose="05000000000000000000" pitchFamily="2" charset="2"/>
              <a:buChar char="Ø"/>
            </a:pPr>
            <a:endParaRPr lang="en-IN" dirty="0"/>
          </a:p>
        </p:txBody>
      </p:sp>
      <p:graphicFrame>
        <p:nvGraphicFramePr>
          <p:cNvPr id="4" name="Object 3"/>
          <p:cNvGraphicFramePr>
            <a:graphicFrameLocks noChangeAspect="1"/>
          </p:cNvGraphicFramePr>
          <p:nvPr>
            <p:extLst>
              <p:ext uri="{D42A27DB-BD31-4B8C-83A1-F6EECF244321}">
                <p14:modId xmlns:p14="http://schemas.microsoft.com/office/powerpoint/2010/main" val="2866265390"/>
              </p:ext>
            </p:extLst>
          </p:nvPr>
        </p:nvGraphicFramePr>
        <p:xfrm>
          <a:off x="1290955" y="3098800"/>
          <a:ext cx="2437765" cy="1269999"/>
        </p:xfrm>
        <a:graphic>
          <a:graphicData uri="http://schemas.openxmlformats.org/presentationml/2006/ole">
            <mc:AlternateContent xmlns:mc="http://schemas.openxmlformats.org/markup-compatibility/2006">
              <mc:Choice xmlns:v="urn:schemas-microsoft-com:vml" Requires="v">
                <p:oleObj spid="_x0000_s1040" name="Packager Shell Object" showAsIcon="1" r:id="rId3" imgW="2214000" imgH="456480" progId="Package">
                  <p:embed/>
                </p:oleObj>
              </mc:Choice>
              <mc:Fallback>
                <p:oleObj name="Packager Shell Object" showAsIcon="1" r:id="rId3" imgW="2214000" imgH="456480" progId="Package">
                  <p:embed/>
                  <p:pic>
                    <p:nvPicPr>
                      <p:cNvPr id="0" name=""/>
                      <p:cNvPicPr/>
                      <p:nvPr/>
                    </p:nvPicPr>
                    <p:blipFill>
                      <a:blip r:embed="rId4"/>
                      <a:stretch>
                        <a:fillRect/>
                      </a:stretch>
                    </p:blipFill>
                    <p:spPr>
                      <a:xfrm>
                        <a:off x="1290955" y="3098800"/>
                        <a:ext cx="2437765" cy="1269999"/>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2980529680"/>
              </p:ext>
            </p:extLst>
          </p:nvPr>
        </p:nvGraphicFramePr>
        <p:xfrm>
          <a:off x="5019040" y="3123602"/>
          <a:ext cx="2646045" cy="1245197"/>
        </p:xfrm>
        <a:graphic>
          <a:graphicData uri="http://schemas.openxmlformats.org/presentationml/2006/ole">
            <mc:AlternateContent xmlns:mc="http://schemas.openxmlformats.org/markup-compatibility/2006">
              <mc:Choice xmlns:v="urn:schemas-microsoft-com:vml" Requires="v">
                <p:oleObj spid="_x0000_s1041" name="Packager Shell Object" showAsIcon="1" r:id="rId5" imgW="2483280" imgH="456480" progId="Package">
                  <p:embed/>
                </p:oleObj>
              </mc:Choice>
              <mc:Fallback>
                <p:oleObj name="Packager Shell Object" showAsIcon="1" r:id="rId5" imgW="2483280" imgH="456480" progId="Package">
                  <p:embed/>
                  <p:pic>
                    <p:nvPicPr>
                      <p:cNvPr id="0" name=""/>
                      <p:cNvPicPr/>
                      <p:nvPr/>
                    </p:nvPicPr>
                    <p:blipFill>
                      <a:blip r:embed="rId6"/>
                      <a:stretch>
                        <a:fillRect/>
                      </a:stretch>
                    </p:blipFill>
                    <p:spPr>
                      <a:xfrm>
                        <a:off x="5019040" y="3123602"/>
                        <a:ext cx="2646045" cy="1245197"/>
                      </a:xfrm>
                      <a:prstGeom prst="rect">
                        <a:avLst/>
                      </a:prstGeom>
                    </p:spPr>
                  </p:pic>
                </p:oleObj>
              </mc:Fallback>
            </mc:AlternateContent>
          </a:graphicData>
        </a:graphic>
      </p:graphicFrame>
    </p:spTree>
    <p:extLst>
      <p:ext uri="{BB962C8B-B14F-4D97-AF65-F5344CB8AC3E}">
        <p14:creationId xmlns:p14="http://schemas.microsoft.com/office/powerpoint/2010/main" val="16547487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3"/>
          <p:cNvSpPr txBox="1">
            <a:spLocks/>
          </p:cNvSpPr>
          <p:nvPr/>
        </p:nvSpPr>
        <p:spPr>
          <a:xfrm>
            <a:off x="3681833" y="1226345"/>
            <a:ext cx="5268736" cy="9702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fontAlgn="auto">
              <a:spcAft>
                <a:spcPts val="0"/>
              </a:spcAft>
            </a:pPr>
            <a:endParaRPr lang="ja-JP" altLang="en-US" dirty="0"/>
          </a:p>
        </p:txBody>
      </p:sp>
      <p:sp>
        <p:nvSpPr>
          <p:cNvPr id="3" name="テキスト プレースホルダー 3"/>
          <p:cNvSpPr txBox="1">
            <a:spLocks/>
          </p:cNvSpPr>
          <p:nvPr/>
        </p:nvSpPr>
        <p:spPr>
          <a:xfrm>
            <a:off x="5249187" y="1742056"/>
            <a:ext cx="2866113" cy="97024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fontAlgn="auto">
              <a:spcAft>
                <a:spcPts val="0"/>
              </a:spcAft>
              <a:buNone/>
            </a:pPr>
            <a:r>
              <a:rPr lang="en-US" altLang="ja-JP" dirty="0"/>
              <a:t>Thank you</a:t>
            </a:r>
            <a:endParaRPr lang="ja-JP" altLang="en-US" dirty="0"/>
          </a:p>
        </p:txBody>
      </p:sp>
    </p:spTree>
    <p:extLst>
      <p:ext uri="{BB962C8B-B14F-4D97-AF65-F5344CB8AC3E}">
        <p14:creationId xmlns:p14="http://schemas.microsoft.com/office/powerpoint/2010/main" val="4179461841"/>
      </p:ext>
    </p:extLst>
  </p:cSld>
  <p:clrMapOvr>
    <a:masterClrMapping/>
  </p:clrMapOvr>
  <p:timing>
    <p:tnLst>
      <p:par>
        <p:cTn id="1" dur="indefinite" restart="never" nodeType="tmRoot"/>
      </p:par>
    </p:tnLst>
  </p:timing>
</p:sld>
</file>

<file path=ppt/theme/theme1.xml><?xml version="1.0" encoding="utf-8"?>
<a:theme xmlns:a="http://schemas.openxmlformats.org/drawingml/2006/main" name="1. Cover Slide">
  <a:themeElements>
    <a:clrScheme name="Corporate Color">
      <a:dk1>
        <a:srgbClr val="000000"/>
      </a:dk1>
      <a:lt1>
        <a:srgbClr val="FFFFFF"/>
      </a:lt1>
      <a:dk2>
        <a:srgbClr val="003F66"/>
      </a:dk2>
      <a:lt2>
        <a:srgbClr val="5795BB"/>
      </a:lt2>
      <a:accent1>
        <a:srgbClr val="000000"/>
      </a:accent1>
      <a:accent2>
        <a:srgbClr val="003F66"/>
      </a:accent2>
      <a:accent3>
        <a:srgbClr val="5795BB"/>
      </a:accent3>
      <a:accent4>
        <a:srgbClr val="999999"/>
      </a:accent4>
      <a:accent5>
        <a:srgbClr val="666666"/>
      </a:accent5>
      <a:accent6>
        <a:srgbClr val="4C4C4C"/>
      </a:accent6>
      <a:hlink>
        <a:srgbClr val="0070C0"/>
      </a:hlink>
      <a:folHlink>
        <a:srgbClr val="7F7F7F"/>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 Expectatio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 Blank Slide">
  <a:themeElements>
    <a:clrScheme name="Corporate Color">
      <a:dk1>
        <a:srgbClr val="000000"/>
      </a:dk1>
      <a:lt1>
        <a:srgbClr val="FFFFFF"/>
      </a:lt1>
      <a:dk2>
        <a:srgbClr val="003F66"/>
      </a:dk2>
      <a:lt2>
        <a:srgbClr val="5795BB"/>
      </a:lt2>
      <a:accent1>
        <a:srgbClr val="000000"/>
      </a:accent1>
      <a:accent2>
        <a:srgbClr val="003F66"/>
      </a:accent2>
      <a:accent3>
        <a:srgbClr val="5795BB"/>
      </a:accent3>
      <a:accent4>
        <a:srgbClr val="999999"/>
      </a:accent4>
      <a:accent5>
        <a:srgbClr val="666666"/>
      </a:accent5>
      <a:accent6>
        <a:srgbClr val="4C4C4C"/>
      </a:accent6>
      <a:hlink>
        <a:srgbClr val="0070C0"/>
      </a:hlink>
      <a:folHlink>
        <a:srgbClr val="7F7F7F"/>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 Blank Slide with Patter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orporate Font">
      <a:majorFont>
        <a:latin typeface="Nissan Pro Regular"/>
        <a:ea typeface="メイリオ"/>
        <a:cs typeface=""/>
      </a:majorFont>
      <a:minorFont>
        <a:latin typeface="Nissan Pro Regular"/>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item1.xml><?xml version="1.0" encoding="utf-8"?>
<?mso-contentType ?>
<spe:Receivers xmlns:spe="http://schemas.microsoft.com/sharepoint/events">
  <Receiver>
    <Name>Microsoft.Office.RecordsManagement.PolicyFeatures.ExpirationEventReceiver</Name>
    <Synchronization>Synchronous</Synchronization>
    <Type>10001</Type>
    <SequenceNumber>101</SequenceNumber>
    <Assembly>Microsoft.Office.Policy, Version=14.0.0.0,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10002</Type>
    <SequenceNumber>102</SequenceNumber>
    <Assembly>Microsoft.Office.Policy, Version=14.0.0.0,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10004</Type>
    <SequenceNumber>103</SequenceNumber>
    <Assembly>Microsoft.Office.Policy, Version=14.0.0.0,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10006</Type>
    <SequenceNumber>104</SequenceNumber>
    <Assembly>Microsoft.Office.Policy, Version=14.0.0.0, Culture=neutral, PublicKeyToken=71e9bce111e9429c</Assembly>
    <Class>Microsoft.Office.RecordsManagement.Internal.UpdateExpireDate</Class>
    <Data/>
    <Filter/>
  </Receiver>
  <Receiver>
    <Name>Microsoft.Office.RecordsManagement.PolicyFeatures.ExpirationEventReceiver</Name>
    <Synchronization>Synchronous</Synchronization>
    <Type>10009</Type>
    <SequenceNumber>105</SequenceNumber>
    <Assembly>Microsoft.Office.Policy, Version=14.0.0.0, Culture=neutral, PublicKeyToken=71e9bce111e9429c</Assembly>
    <Class>Microsoft.Office.RecordsManagement.Internal.UpdateExpireDate</Class>
    <Data/>
    <Filter/>
  </Receiver>
  <Receiver>
    <Name>Content Type Event Receiver</Name>
    <Synchronization>Asynchronous</Synchronization>
    <Type>10503</Type>
    <SequenceNumber>1000</SequenceNumber>
    <Assembly>RNAlliance.SharePoint.ACP.Layers, Version=1.0.0.0, Culture=neutral, PublicKeyToken=e2530ddecd8f1478</Assembly>
    <Class>RNAlliance.SharePoint.ACP.Layers.Service.BaseCopyEventReceivers</Class>
    <Data/>
    <Filter/>
  </Receiver>
</spe:Receivers>
</file>

<file path=customXml/item2.xml><?xml version="1.0" encoding="utf-8"?>
<p:properties xmlns:p="http://schemas.microsoft.com/office/2006/metadata/properties" xmlns:xsi="http://www.w3.org/2001/XMLSchema-instance" xmlns:pc="http://schemas.microsoft.com/office/infopath/2007/PartnerControls">
  <documentManagement>
    <ACP_Nissan_DocumentType_TaxHT0 xmlns="http://schemas.microsoft.com/sharepoint/v3">
      <Terms xmlns="http://schemas.microsoft.com/office/infopath/2007/PartnerControls"/>
    </ACP_Nissan_DocumentType_TaxHT0>
    <ACP_Nissan_SecurityClassification_TaxHT0 xmlns="http://schemas.microsoft.com/sharepoint/v3">
      <Terms xmlns="http://schemas.microsoft.com/office/infopath/2007/PartnerControls">
        <TermInfo xmlns="http://schemas.microsoft.com/office/infopath/2007/PartnerControls">
          <TermName xmlns="http://schemas.microsoft.com/office/infopath/2007/PartnerControls">CU/NC</TermName>
          <TermId xmlns="http://schemas.microsoft.com/office/infopath/2007/PartnerControls">e41da57d-3dff-4267-98d4-5ef0a8afe73e</TermId>
        </TermInfo>
      </Terms>
    </ACP_Nissan_SecurityClassification_TaxHT0>
    <TaxCatchAll xmlns="152c0564-0d49-45bb-8ba5-6417696b9a04">
      <Value>4</Value>
    </TaxCatchAll>
    <ACP_Nissan_RelevantRegion_TaxHT0 xmlns="http://schemas.microsoft.com/sharepoint/v3">
      <Terms xmlns="http://schemas.microsoft.com/office/infopath/2007/PartnerControls"/>
    </ACP_Nissan_RelevantRegion_TaxHT0>
    <ACP_Nissan_ExpirationDate xmlns="http://schemas.microsoft.com/sharepoint/v3">2017-03-11T15:00:00+00:00</ACP_Nissan_ExpirationDate>
    <ACP_OwnerOrganization_TaxHT0 xmlns="http://schemas.microsoft.com/sharepoint/v3">
      <Terms xmlns="http://schemas.microsoft.com/office/infopath/2007/PartnerControls"/>
    </ACP_OwnerOrganization_TaxHT0>
    <_dlc_ExpireDate xmlns="http://schemas.microsoft.com/sharepoint/v3" xsi:nil="true"/>
    <_dlc_ExpireDateSaved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日産ドキュメント" ma:contentTypeID="0x01010066E3D1BD537B466A9FB4715B858074E90086CBB1B2C534404481B05826C05EBC4F009895465AA9E16A41B49462F1BDC631F8" ma:contentTypeVersion="9" ma:contentTypeDescription="新たな日産ドキュメントを作成する" ma:contentTypeScope="" ma:versionID="6aab274fb81e2d67c78f7f5b68fb7bd7">
  <xsd:schema xmlns:xsd="http://www.w3.org/2001/XMLSchema" xmlns:xs="http://www.w3.org/2001/XMLSchema" xmlns:p="http://schemas.microsoft.com/office/2006/metadata/properties" xmlns:ns1="http://schemas.microsoft.com/sharepoint/v3" xmlns:ns2="152c0564-0d49-45bb-8ba5-6417696b9a04" targetNamespace="http://schemas.microsoft.com/office/2006/metadata/properties" ma:root="true" ma:fieldsID="bda8f631545edb419e11f14b15b63d70" ns1:_="" ns2:_="">
    <xsd:import namespace="http://schemas.microsoft.com/sharepoint/v3"/>
    <xsd:import namespace="152c0564-0d49-45bb-8ba5-6417696b9a04"/>
    <xsd:element name="properties">
      <xsd:complexType>
        <xsd:sequence>
          <xsd:element name="documentManagement">
            <xsd:complexType>
              <xsd:all>
                <xsd:element ref="ns1:ACP_OwnerOrganization_TaxHT0" minOccurs="0"/>
                <xsd:element ref="ns1:ACP_Nissan_SecurityClassification_TaxHT0" minOccurs="0"/>
                <xsd:element ref="ns1:ACP_Nissan_RelevantRegion_TaxHT0" minOccurs="0"/>
                <xsd:element ref="ns1:ACP_Nissan_DocumentType_TaxHT0" minOccurs="0"/>
                <xsd:element ref="ns1:ACP_Nissan_ExpirationDate"/>
                <xsd:element ref="ns1:_dlc_Exempt" minOccurs="0"/>
                <xsd:element ref="ns1:_dlc_ExpireDateSaved" minOccurs="0"/>
                <xsd:element ref="ns1:_dlc_ExpireDate"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CP_OwnerOrganization_TaxHT0" ma:index="9" nillable="true" ma:taxonomy="true" ma:internalName="ACP_OwnerOrganization_TaxHT0" ma:taxonomyFieldName="ACP_OwnerOrganization" ma:displayName="オーナー組織" ma:fieldId="{b2f944ca-d7b4-479f-83be-7a711dbb0010}" ma:sspId="1736571d-8b46-4fd7-b792-14839aa316c5" ma:termSetId="71a8f656-dccb-4916-8370-91b3a5cc5bef" ma:anchorId="00000000-0000-0000-0000-000000000000" ma:open="false" ma:isKeyword="false">
      <xsd:complexType>
        <xsd:sequence>
          <xsd:element ref="pc:Terms" minOccurs="0" maxOccurs="1"/>
        </xsd:sequence>
      </xsd:complexType>
    </xsd:element>
    <xsd:element name="ACP_Nissan_SecurityClassification_TaxHT0" ma:index="11" ma:taxonomy="true" ma:internalName="ACP_Nissan_SecurityClassification_TaxHT0" ma:taxonomyFieldName="ACP_Nissan_SecurityClassification" ma:displayName="セキュリティー種別" ma:default="3;#Nissan Internal|da527d2f-cad3-4246-88d2-b91777f1cb3c" ma:fieldId="{3f3274b0-7775-4066-bfad-38a3b5f1e0ce}" ma:sspId="1736571d-8b46-4fd7-b792-14839aa316c5" ma:termSetId="5d43c407-08a7-4565-bdc7-70bcedf34d31" ma:anchorId="00000000-0000-0000-0000-000000000000" ma:open="false" ma:isKeyword="false">
      <xsd:complexType>
        <xsd:sequence>
          <xsd:element ref="pc:Terms" minOccurs="0" maxOccurs="1"/>
        </xsd:sequence>
      </xsd:complexType>
    </xsd:element>
    <xsd:element name="ACP_Nissan_RelevantRegion_TaxHT0" ma:index="13" nillable="true" ma:taxonomy="true" ma:internalName="ACP_Nissan_RelevantRegion_TaxHT0" ma:taxonomyFieldName="ACP_Nissan_RelevantRegion" ma:displayName="関連する地域" ma:fieldId="{9c01a997-07c2-45e3-8179-7a5d8c8bbf9e}" ma:sspId="1736571d-8b46-4fd7-b792-14839aa316c5" ma:termSetId="6eb6dce7-a04f-46a7-8abb-e66dc4338bc9" ma:anchorId="00000000-0000-0000-0000-000000000000" ma:open="false" ma:isKeyword="false">
      <xsd:complexType>
        <xsd:sequence>
          <xsd:element ref="pc:Terms" minOccurs="0" maxOccurs="1"/>
        </xsd:sequence>
      </xsd:complexType>
    </xsd:element>
    <xsd:element name="ACP_Nissan_DocumentType_TaxHT0" ma:index="15" nillable="true" ma:taxonomy="true" ma:internalName="ACP_Nissan_DocumentType_TaxHT0" ma:taxonomyFieldName="ACP_Nissan_DocumentType" ma:displayName="ドキュメントの種類" ma:fieldId="{fed52740-247d-469f-a8ff-cc6bf7405441}" ma:sspId="1736571d-8b46-4fd7-b792-14839aa316c5" ma:termSetId="f2957656-ccb6-478a-924e-0bebbd447bc5" ma:anchorId="00000000-0000-0000-0000-000000000000" ma:open="false" ma:isKeyword="false">
      <xsd:complexType>
        <xsd:sequence>
          <xsd:element ref="pc:Terms" minOccurs="0" maxOccurs="1"/>
        </xsd:sequence>
      </xsd:complexType>
    </xsd:element>
    <xsd:element name="ACP_Nissan_ExpirationDate" ma:index="16" ma:displayName="期限切れ日" ma:description="期限切れ日" ma:format="DateOnly" ma:internalName="ACP_Nissan_ExpirationDate">
      <xsd:simpleType>
        <xsd:restriction base="dms:DateTime"/>
      </xsd:simpleType>
    </xsd:element>
    <xsd:element name="_dlc_Exempt" ma:index="17" nillable="true" ma:displayName="ポリシー適用除外" ma:hidden="true" ma:internalName="_dlc_Exempt" ma:readOnly="true">
      <xsd:simpleType>
        <xsd:restriction base="dms:Unknown"/>
      </xsd:simpleType>
    </xsd:element>
    <xsd:element name="_dlc_ExpireDateSaved" ma:index="18" nillable="true" ma:displayName="元の有効期限" ma:hidden="true" ma:internalName="_dlc_ExpireDateSaved" ma:readOnly="true">
      <xsd:simpleType>
        <xsd:restriction base="dms:DateTime"/>
      </xsd:simpleType>
    </xsd:element>
    <xsd:element name="_dlc_ExpireDate" ma:index="19" nillable="true" ma:displayName="期日" ma:description="" ma:hidden="true" ma:indexed="true" ma:internalName="_dlc_ExpireDat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52c0564-0d49-45bb-8ba5-6417696b9a04" elementFormDefault="qualified">
    <xsd:import namespace="http://schemas.microsoft.com/office/2006/documentManagement/types"/>
    <xsd:import namespace="http://schemas.microsoft.com/office/infopath/2007/PartnerControls"/>
    <xsd:element name="TaxCatchAll" ma:index="20" nillable="true" ma:displayName="Taxonomy Catch All Column" ma:description="" ma:hidden="true" ma:list="{9c8061ab-0aca-41bc-a5cd-319cbc9c66d9}" ma:internalName="TaxCatchAll" ma:showField="CatchAllData" ma:web="152c0564-0d49-45bb-8ba5-6417696b9a0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LongProperties xmlns="http://schemas.microsoft.com/office/2006/metadata/longProperties"/>
</file>

<file path=customXml/item5.xml><?xml version="1.0" encoding="utf-8"?>
<?mso-contentType ?>
<p:Policy xmlns:p="office.server.policy" id="" local="true">
  <p:Name>Nissan Document</p:Name>
  <p:Description/>
  <p:Statement/>
  <p:PolicyItems>
    <p:PolicyItem featureId="Microsoft.Office.RecordsManagement.PolicyFeatures.Expiration" staticId="0x01010066E3D1BD537B466A9FB4715B858074E90086CBB1B2C534404481B05826C05EBC4F|473777199" UniqueId="b270402c-1f27-47c5-bb87-0b4d65c1d838">
      <p:Name>Retention</p:Name>
      <p:Description>Automatic scheduling of content for processing, and performing a retention action on content that has reached its due date.</p:Description>
      <p:CustomData>
        <Schedules nextStageId="2">
          <Schedule type="Default">
            <stages>
              <data stageId="1">
                <formula id="Microsoft.Office.RecordsManagement.PolicyFeatures.Expiration.Formula.BuiltIn">
                  <number>1</number>
                  <property>ACP_Nissan_ExpirationDate</property>
                  <propertyId>4bc406d5-1b22-49b1-80b3-cf050a9f5d8d</propertyId>
                  <period>days</period>
                </formula>
                <action type="workflow" id="053622c7-a983-4e3a-aa26-b78b6dd68ad1"/>
              </data>
            </stages>
          </Schedule>
        </Schedules>
      </p:CustomData>
    </p:PolicyItem>
  </p:PolicyItems>
</p:Policy>
</file>

<file path=customXml/item6.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3370E2B-8CB6-4D46-8351-04447ECFBADE}">
  <ds:schemaRefs>
    <ds:schemaRef ds:uri="http://schemas.microsoft.com/sharepoint/events"/>
  </ds:schemaRefs>
</ds:datastoreItem>
</file>

<file path=customXml/itemProps2.xml><?xml version="1.0" encoding="utf-8"?>
<ds:datastoreItem xmlns:ds="http://schemas.openxmlformats.org/officeDocument/2006/customXml" ds:itemID="{CEDDF703-E9F5-456C-BB9E-9A3971734E17}">
  <ds:schemaRefs>
    <ds:schemaRef ds:uri="http://schemas.openxmlformats.org/package/2006/metadata/core-properties"/>
    <ds:schemaRef ds:uri="http://schemas.microsoft.com/office/infopath/2007/PartnerControls"/>
    <ds:schemaRef ds:uri="http://purl.org/dc/terms/"/>
    <ds:schemaRef ds:uri="http://schemas.microsoft.com/sharepoint/v3"/>
    <ds:schemaRef ds:uri="http://schemas.microsoft.com/office/2006/documentManagement/types"/>
    <ds:schemaRef ds:uri="152c0564-0d49-45bb-8ba5-6417696b9a04"/>
    <ds:schemaRef ds:uri="http://purl.org/dc/elements/1.1/"/>
    <ds:schemaRef ds:uri="http://schemas.microsoft.com/office/2006/metadata/properties"/>
    <ds:schemaRef ds:uri="http://www.w3.org/XML/1998/namespace"/>
    <ds:schemaRef ds:uri="http://purl.org/dc/dcmitype/"/>
  </ds:schemaRefs>
</ds:datastoreItem>
</file>

<file path=customXml/itemProps3.xml><?xml version="1.0" encoding="utf-8"?>
<ds:datastoreItem xmlns:ds="http://schemas.openxmlformats.org/officeDocument/2006/customXml" ds:itemID="{B35E0C95-83D9-4B55-86EC-61B2200A6F1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52c0564-0d49-45bb-8ba5-6417696b9a0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1FF7788A-C23C-465D-8064-A50C91A5D78E}">
  <ds:schemaRefs>
    <ds:schemaRef ds:uri="http://schemas.microsoft.com/office/2006/metadata/longProperties"/>
  </ds:schemaRefs>
</ds:datastoreItem>
</file>

<file path=customXml/itemProps5.xml><?xml version="1.0" encoding="utf-8"?>
<ds:datastoreItem xmlns:ds="http://schemas.openxmlformats.org/officeDocument/2006/customXml" ds:itemID="{CAFABD48-7CD4-4864-8105-10998DCB48A3}">
  <ds:schemaRefs>
    <ds:schemaRef ds:uri="office.server.policy"/>
  </ds:schemaRefs>
</ds:datastoreItem>
</file>

<file path=customXml/itemProps6.xml><?xml version="1.0" encoding="utf-8"?>
<ds:datastoreItem xmlns:ds="http://schemas.openxmlformats.org/officeDocument/2006/customXml" ds:itemID="{C978CB5E-DCDF-4123-8B1F-4541C3EC9CD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111835</TotalTime>
  <Words>2095</Words>
  <Application>Microsoft Office PowerPoint</Application>
  <PresentationFormat>Widescreen</PresentationFormat>
  <Paragraphs>431</Paragraphs>
  <Slides>21</Slides>
  <Notes>1</Notes>
  <HiddenSlides>0</HiddenSlides>
  <MMClips>0</MMClips>
  <ScaleCrop>false</ScaleCrop>
  <HeadingPairs>
    <vt:vector size="8" baseType="variant">
      <vt:variant>
        <vt:lpstr>Fonts Used</vt:lpstr>
      </vt:variant>
      <vt:variant>
        <vt:i4>15</vt:i4>
      </vt:variant>
      <vt:variant>
        <vt:lpstr>Theme</vt:lpstr>
      </vt:variant>
      <vt:variant>
        <vt:i4>4</vt:i4>
      </vt:variant>
      <vt:variant>
        <vt:lpstr>Embedded OLE Servers</vt:lpstr>
      </vt:variant>
      <vt:variant>
        <vt:i4>1</vt:i4>
      </vt:variant>
      <vt:variant>
        <vt:lpstr>Slide Titles</vt:lpstr>
      </vt:variant>
      <vt:variant>
        <vt:i4>21</vt:i4>
      </vt:variant>
    </vt:vector>
  </HeadingPairs>
  <TitlesOfParts>
    <vt:vector size="41" baseType="lpstr">
      <vt:lpstr>メイリオ</vt:lpstr>
      <vt:lpstr>Meiryo UI</vt:lpstr>
      <vt:lpstr>ＭＳ Ｐゴシック</vt:lpstr>
      <vt:lpstr>ＭＳ Ｐ明朝</vt:lpstr>
      <vt:lpstr>Nissan Brand Regular</vt:lpstr>
      <vt:lpstr>Nissan Pro Bold</vt:lpstr>
      <vt:lpstr>Nissan Pro Regular</vt:lpstr>
      <vt:lpstr>NissanAG-Bold</vt:lpstr>
      <vt:lpstr>NissanAG-Medium</vt:lpstr>
      <vt:lpstr>Arial</vt:lpstr>
      <vt:lpstr>Calibri</vt:lpstr>
      <vt:lpstr>Segoe UI</vt:lpstr>
      <vt:lpstr>Tahoma</vt:lpstr>
      <vt:lpstr>Verdana</vt:lpstr>
      <vt:lpstr>Wingdings</vt:lpstr>
      <vt:lpstr>1. Cover Slide</vt:lpstr>
      <vt:lpstr>2. Expectation</vt:lpstr>
      <vt:lpstr>3. Blank Slide</vt:lpstr>
      <vt:lpstr>4. Blank Slide with Pattern</vt:lpstr>
      <vt:lpstr>Packager Shell Object</vt:lpstr>
      <vt:lpstr>PowerPoint Presentation</vt:lpstr>
      <vt:lpstr>ERB summary</vt:lpstr>
      <vt:lpstr>Index</vt:lpstr>
      <vt:lpstr>Project Background - DDI</vt:lpstr>
      <vt:lpstr>Project Background </vt:lpstr>
      <vt:lpstr>Global DDI Functional Architecture</vt:lpstr>
      <vt:lpstr>PowerPoint Presentation</vt:lpstr>
      <vt:lpstr>System Details</vt:lpstr>
      <vt:lpstr>Project Context in scope</vt:lpstr>
      <vt:lpstr>PowerPoint Presentation</vt:lpstr>
      <vt:lpstr>System Architecture – IF list</vt:lpstr>
      <vt:lpstr>Security &amp; Data privacy</vt:lpstr>
      <vt:lpstr>Authentication Flow between YANA &amp; Apigee</vt:lpstr>
      <vt:lpstr>Data Classification</vt:lpstr>
      <vt:lpstr>Data privacy</vt:lpstr>
      <vt:lpstr>PowerPoint Presentation</vt:lpstr>
      <vt:lpstr>Application Architecture – Technical Stack contd.</vt:lpstr>
      <vt:lpstr>Architectural Risks &amp; Mitigation</vt:lpstr>
      <vt:lpstr>Non-Functional Requirements</vt:lpstr>
      <vt:lpstr>Open Points from ERB</vt:lpstr>
      <vt:lpstr>PowerPoint Presentation</vt:lpstr>
    </vt:vector>
  </TitlesOfParts>
  <Company>INFORMATION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THANASEGARAN, SUBANA</dc:creator>
  <cp:keywords>Alliance;N-C;Nissan Confidential C</cp:keywords>
  <cp:lastModifiedBy>S, ARUN</cp:lastModifiedBy>
  <cp:revision>768</cp:revision>
  <cp:lastPrinted>2020-05-13T04:25:47Z</cp:lastPrinted>
  <dcterms:created xsi:type="dcterms:W3CDTF">2012-03-12T00:47:51Z</dcterms:created>
  <dcterms:modified xsi:type="dcterms:W3CDTF">2021-09-22T06:55:59Z</dcterms:modified>
  <cp:category>N-C</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dlc_ExpireDate">
    <vt:lpwstr>2017-03-13T00:00:00Z</vt:lpwstr>
  </property>
  <property fmtid="{D5CDD505-2E9C-101B-9397-08002B2CF9AE}" pid="3" name="ItemRetentionFormula">
    <vt:lpwstr/>
  </property>
  <property fmtid="{D5CDD505-2E9C-101B-9397-08002B2CF9AE}" pid="4" name="_dlc_policyId">
    <vt:lpwstr>0x01010066E3D1BD537B466A9FB4715B858074E90086CBB1B2C534404481B05826C05EBC4F|473777199</vt:lpwstr>
  </property>
  <property fmtid="{D5CDD505-2E9C-101B-9397-08002B2CF9AE}" pid="5" name="ACP_Nissan_SecurityClassification">
    <vt:lpwstr>4;#CU/NC|e41da57d-3dff-4267-98d4-5ef0a8afe73e</vt:lpwstr>
  </property>
  <property fmtid="{D5CDD505-2E9C-101B-9397-08002B2CF9AE}" pid="6" name="ACP_Nissan_DocumentType">
    <vt:lpwstr/>
  </property>
  <property fmtid="{D5CDD505-2E9C-101B-9397-08002B2CF9AE}" pid="7" name="ACP_OwnerOrganization">
    <vt:lpwstr/>
  </property>
  <property fmtid="{D5CDD505-2E9C-101B-9397-08002B2CF9AE}" pid="8" name="ACP_Nissan_RelevantRegion">
    <vt:lpwstr/>
  </property>
  <property fmtid="{D5CDD505-2E9C-101B-9397-08002B2CF9AE}" pid="9" name="ContentTypeId">
    <vt:lpwstr>0x01010066E3D1BD537B466A9FB4715B858074E90086CBB1B2C534404481B05826C05EBC4F009895465AA9E16A41B49462F1BDC631F8</vt:lpwstr>
  </property>
  <property fmtid="{D5CDD505-2E9C-101B-9397-08002B2CF9AE}" pid="10" name="_dlc_ItemStageId">
    <vt:lpwstr>1</vt:lpwstr>
  </property>
  <property fmtid="{D5CDD505-2E9C-101B-9397-08002B2CF9AE}" pid="11" name="_dlc_LastRun">
    <vt:lpwstr>03/19/2017 01:29:10</vt:lpwstr>
  </property>
  <property fmtid="{D5CDD505-2E9C-101B-9397-08002B2CF9AE}" pid="12" name="_AdHocReviewCycleID">
    <vt:i4>-1768090166</vt:i4>
  </property>
  <property fmtid="{D5CDD505-2E9C-101B-9397-08002B2CF9AE}" pid="13" name="_NewReviewCycle">
    <vt:lpwstr/>
  </property>
  <property fmtid="{D5CDD505-2E9C-101B-9397-08002B2CF9AE}" pid="14" name="_EmailSubject">
    <vt:lpwstr>[Environment Issue] ESB &lt;-&gt; AWS connectivity</vt:lpwstr>
  </property>
  <property fmtid="{D5CDD505-2E9C-101B-9397-08002B2CF9AE}" pid="15" name="_AuthorEmail">
    <vt:lpwstr>arun.s@nissanmotor.com</vt:lpwstr>
  </property>
  <property fmtid="{D5CDD505-2E9C-101B-9397-08002B2CF9AE}" pid="16" name="_AuthorEmailDisplayName">
    <vt:lpwstr>S, ARUN</vt:lpwstr>
  </property>
  <property fmtid="{D5CDD505-2E9C-101B-9397-08002B2CF9AE}" pid="17" name="_PreviousAdHocReviewCycleID">
    <vt:i4>1029756787</vt:i4>
  </property>
</Properties>
</file>